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bold r:id="rId8"/>
    </p:embeddedFont>
    <p:embeddedFont>
      <p:font typeface="Caladea" panose="020B0604020202020204" charset="0"/>
      <p:regular r:id="rId9"/>
    </p:embeddedFont>
    <p:embeddedFont>
      <p:font typeface="Caladea Bold" panose="020B0604020202020204" charset="0"/>
      <p:regular r:id="rId10"/>
    </p:embeddedFont>
    <p:embeddedFont>
      <p:font typeface="Caladea Italics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Futura" panose="020B0604020202020204" charset="0"/>
      <p:regular r:id="rId16"/>
    </p:embeddedFont>
    <p:embeddedFont>
      <p:font typeface="Futura Bold" panose="020B0604020202020204" charset="0"/>
      <p:regular r:id="rId17"/>
    </p:embeddedFont>
    <p:embeddedFont>
      <p:font typeface="Futura Medium" panose="020B0604020202020204" charset="0"/>
      <p:regular r:id="rId18"/>
    </p:embeddedFont>
    <p:embeddedFont>
      <p:font typeface="Garamond" panose="02020404030301010803" pitchFamily="18" charset="0"/>
      <p:regular r:id="rId19"/>
      <p:bold r:id="rId20"/>
      <p:italic r:id="rId21"/>
    </p:embeddedFont>
    <p:embeddedFont>
      <p:font typeface="Garamond Bold" panose="02020804030307010803" pitchFamily="18" charset="0"/>
      <p:bold r:id="rId22"/>
    </p:embeddedFont>
    <p:embeddedFont>
      <p:font typeface="Garamond Bold Italics" panose="020B0604020202020204" charset="0"/>
      <p:regular r:id="rId23"/>
    </p:embeddedFont>
    <p:embeddedFont>
      <p:font typeface="Unna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.pn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17" Type="http://schemas.openxmlformats.org/officeDocument/2006/relationships/image" Target="../media/image24.png"/><Relationship Id="rId2" Type="http://schemas.openxmlformats.org/officeDocument/2006/relationships/image" Target="../media/image11.png"/><Relationship Id="rId16" Type="http://schemas.openxmlformats.org/officeDocument/2006/relationships/image" Target="../media/image23.pn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svg"/><Relationship Id="rId19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16.svg"/><Relationship Id="rId14" Type="http://schemas.openxmlformats.org/officeDocument/2006/relationships/image" Target="../media/image21.svg"/><Relationship Id="rId22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svg"/><Relationship Id="rId7" Type="http://schemas.openxmlformats.org/officeDocument/2006/relationships/image" Target="../media/image2.png"/><Relationship Id="rId12" Type="http://schemas.openxmlformats.org/officeDocument/2006/relationships/image" Target="../media/image38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37.svg"/><Relationship Id="rId5" Type="http://schemas.openxmlformats.org/officeDocument/2006/relationships/image" Target="../media/image33.svg"/><Relationship Id="rId10" Type="http://schemas.openxmlformats.org/officeDocument/2006/relationships/image" Target="../media/image36.svg"/><Relationship Id="rId4" Type="http://schemas.openxmlformats.org/officeDocument/2006/relationships/image" Target="../media/image32.svg"/><Relationship Id="rId9" Type="http://schemas.openxmlformats.org/officeDocument/2006/relationships/image" Target="../media/image3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svg"/><Relationship Id="rId18" Type="http://schemas.openxmlformats.org/officeDocument/2006/relationships/image" Target="../media/image53.svg"/><Relationship Id="rId26" Type="http://schemas.openxmlformats.org/officeDocument/2006/relationships/image" Target="../media/image61.svg"/><Relationship Id="rId3" Type="http://schemas.openxmlformats.org/officeDocument/2006/relationships/image" Target="../media/image40.png"/><Relationship Id="rId21" Type="http://schemas.openxmlformats.org/officeDocument/2006/relationships/image" Target="../media/image56.svg"/><Relationship Id="rId7" Type="http://schemas.openxmlformats.org/officeDocument/2006/relationships/image" Target="../media/image42.svg"/><Relationship Id="rId12" Type="http://schemas.openxmlformats.org/officeDocument/2006/relationships/image" Target="../media/image47.png"/><Relationship Id="rId17" Type="http://schemas.openxmlformats.org/officeDocument/2006/relationships/image" Target="../media/image52.svg"/><Relationship Id="rId25" Type="http://schemas.openxmlformats.org/officeDocument/2006/relationships/image" Target="../media/image60.svg"/><Relationship Id="rId2" Type="http://schemas.openxmlformats.org/officeDocument/2006/relationships/image" Target="../media/image39.png"/><Relationship Id="rId16" Type="http://schemas.openxmlformats.org/officeDocument/2006/relationships/image" Target="../media/image51.svg"/><Relationship Id="rId20" Type="http://schemas.openxmlformats.org/officeDocument/2006/relationships/image" Target="../media/image55.svg"/><Relationship Id="rId29" Type="http://schemas.openxmlformats.org/officeDocument/2006/relationships/image" Target="../media/image6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46.png"/><Relationship Id="rId24" Type="http://schemas.openxmlformats.org/officeDocument/2006/relationships/image" Target="../media/image59.svg"/><Relationship Id="rId32" Type="http://schemas.openxmlformats.org/officeDocument/2006/relationships/image" Target="../media/image67.svg"/><Relationship Id="rId5" Type="http://schemas.openxmlformats.org/officeDocument/2006/relationships/image" Target="../media/image1.png"/><Relationship Id="rId15" Type="http://schemas.openxmlformats.org/officeDocument/2006/relationships/image" Target="../media/image50.png"/><Relationship Id="rId23" Type="http://schemas.openxmlformats.org/officeDocument/2006/relationships/image" Target="../media/image58.svg"/><Relationship Id="rId28" Type="http://schemas.openxmlformats.org/officeDocument/2006/relationships/image" Target="../media/image63.svg"/><Relationship Id="rId10" Type="http://schemas.openxmlformats.org/officeDocument/2006/relationships/image" Target="../media/image45.svg"/><Relationship Id="rId19" Type="http://schemas.openxmlformats.org/officeDocument/2006/relationships/image" Target="../media/image54.svg"/><Relationship Id="rId31" Type="http://schemas.openxmlformats.org/officeDocument/2006/relationships/image" Target="../media/image66.svg"/><Relationship Id="rId4" Type="http://schemas.openxmlformats.org/officeDocument/2006/relationships/image" Target="../media/image41.png"/><Relationship Id="rId9" Type="http://schemas.openxmlformats.org/officeDocument/2006/relationships/image" Target="../media/image44.svg"/><Relationship Id="rId14" Type="http://schemas.openxmlformats.org/officeDocument/2006/relationships/image" Target="../media/image49.svg"/><Relationship Id="rId22" Type="http://schemas.openxmlformats.org/officeDocument/2006/relationships/image" Target="../media/image57.svg"/><Relationship Id="rId27" Type="http://schemas.openxmlformats.org/officeDocument/2006/relationships/image" Target="../media/image62.svg"/><Relationship Id="rId30" Type="http://schemas.openxmlformats.org/officeDocument/2006/relationships/image" Target="../media/image65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svg"/><Relationship Id="rId18" Type="http://schemas.openxmlformats.org/officeDocument/2006/relationships/image" Target="../media/image76.png"/><Relationship Id="rId26" Type="http://schemas.openxmlformats.org/officeDocument/2006/relationships/image" Target="../media/image84.svg"/><Relationship Id="rId39" Type="http://schemas.openxmlformats.org/officeDocument/2006/relationships/hyperlink" Target="https://github.com/Shreyansh303/team_mausam_sih_2026/blob/main/backend/app/services/comfort.py" TargetMode="External"/><Relationship Id="rId21" Type="http://schemas.openxmlformats.org/officeDocument/2006/relationships/image" Target="../media/image79.svg"/><Relationship Id="rId34" Type="http://schemas.openxmlformats.org/officeDocument/2006/relationships/image" Target="../media/image92.png"/><Relationship Id="rId42" Type="http://schemas.openxmlformats.org/officeDocument/2006/relationships/hyperlink" Target="https://github.com/Shreyansh303/team_mausam_sih_2026/blob/main/backend/app/engine/builders/rain_alert.py" TargetMode="External"/><Relationship Id="rId7" Type="http://schemas.openxmlformats.org/officeDocument/2006/relationships/hyperlink" Target="https://github.com/Shreyansh303/team_mausam_sih_2026/tree/main/docs/03_PERSONALIZATION_ENGINE.md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78.svg"/><Relationship Id="rId29" Type="http://schemas.openxmlformats.org/officeDocument/2006/relationships/image" Target="../media/image87.svg"/><Relationship Id="rId41" Type="http://schemas.openxmlformats.org/officeDocument/2006/relationships/hyperlink" Target="https://github.com/Shreyansh303/team_mausam_sih_2026/blob/main/backend/app/engine/builders/uv_index.py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Shreyansh303/team_mausam_sih_2026/tree/main/docs/04_API_CONTRACT.md" TargetMode="External"/><Relationship Id="rId11" Type="http://schemas.openxmlformats.org/officeDocument/2006/relationships/image" Target="../media/image71.svg"/><Relationship Id="rId24" Type="http://schemas.openxmlformats.org/officeDocument/2006/relationships/image" Target="../media/image82.svg"/><Relationship Id="rId32" Type="http://schemas.openxmlformats.org/officeDocument/2006/relationships/image" Target="../media/image90.svg"/><Relationship Id="rId37" Type="http://schemas.openxmlformats.org/officeDocument/2006/relationships/image" Target="../media/image95.png"/><Relationship Id="rId40" Type="http://schemas.openxmlformats.org/officeDocument/2006/relationships/hyperlink" Target="https://github.com/Shreyansh303/team_mausam_sih_2026/blob/main/backend/app/services/marine.py" TargetMode="External"/><Relationship Id="rId5" Type="http://schemas.openxmlformats.org/officeDocument/2006/relationships/hyperlink" Target="https://github.com/Shreyansh303/team_mausam_sih_2026/tree/main/docs/02_CARD_CATALOG.md" TargetMode="External"/><Relationship Id="rId15" Type="http://schemas.openxmlformats.org/officeDocument/2006/relationships/image" Target="../media/image74.svg"/><Relationship Id="rId23" Type="http://schemas.openxmlformats.org/officeDocument/2006/relationships/image" Target="../media/image81.png"/><Relationship Id="rId28" Type="http://schemas.openxmlformats.org/officeDocument/2006/relationships/image" Target="../media/image86.svg"/><Relationship Id="rId36" Type="http://schemas.openxmlformats.org/officeDocument/2006/relationships/image" Target="../media/image94.png"/><Relationship Id="rId10" Type="http://schemas.openxmlformats.org/officeDocument/2006/relationships/image" Target="../media/image70.svg"/><Relationship Id="rId19" Type="http://schemas.openxmlformats.org/officeDocument/2006/relationships/image" Target="../media/image77.png"/><Relationship Id="rId31" Type="http://schemas.openxmlformats.org/officeDocument/2006/relationships/image" Target="../media/image89.svg"/><Relationship Id="rId44" Type="http://schemas.openxmlformats.org/officeDocument/2006/relationships/hyperlink" Target="https://github.com/Shreyansh303/team_mausam_sih_2026/blob/main/backend/app/services/uv_index.py" TargetMode="External"/><Relationship Id="rId4" Type="http://schemas.openxmlformats.org/officeDocument/2006/relationships/hyperlink" Target="https://github.com/Shreyansh303/team_mausam_sih_2026/tree/main/docs/QA_REPORT.md" TargetMode="External"/><Relationship Id="rId9" Type="http://schemas.openxmlformats.org/officeDocument/2006/relationships/image" Target="../media/image69.svg"/><Relationship Id="rId14" Type="http://schemas.openxmlformats.org/officeDocument/2006/relationships/image" Target="../media/image73.svg"/><Relationship Id="rId22" Type="http://schemas.openxmlformats.org/officeDocument/2006/relationships/image" Target="../media/image80.svg"/><Relationship Id="rId27" Type="http://schemas.openxmlformats.org/officeDocument/2006/relationships/image" Target="../media/image85.svg"/><Relationship Id="rId30" Type="http://schemas.openxmlformats.org/officeDocument/2006/relationships/image" Target="../media/image88.svg"/><Relationship Id="rId35" Type="http://schemas.openxmlformats.org/officeDocument/2006/relationships/image" Target="../media/image93.png"/><Relationship Id="rId43" Type="http://schemas.openxmlformats.org/officeDocument/2006/relationships/hyperlink" Target="https://github.com/Shreyansh303/team_mausam_sih_2026/blob/main/backend/app/data/planting_calendar.json" TargetMode="External"/><Relationship Id="rId8" Type="http://schemas.openxmlformats.org/officeDocument/2006/relationships/image" Target="../media/image68.svg"/><Relationship Id="rId3" Type="http://schemas.openxmlformats.org/officeDocument/2006/relationships/image" Target="../media/image2.png"/><Relationship Id="rId12" Type="http://schemas.openxmlformats.org/officeDocument/2006/relationships/hyperlink" Target="https://github.com/Shreyansh303/team_mausam_sih_2026" TargetMode="External"/><Relationship Id="rId17" Type="http://schemas.openxmlformats.org/officeDocument/2006/relationships/image" Target="../media/image75.png"/><Relationship Id="rId25" Type="http://schemas.openxmlformats.org/officeDocument/2006/relationships/image" Target="../media/image83.svg"/><Relationship Id="rId33" Type="http://schemas.openxmlformats.org/officeDocument/2006/relationships/image" Target="../media/image91.svg"/><Relationship Id="rId38" Type="http://schemas.openxmlformats.org/officeDocument/2006/relationships/hyperlink" Target="https://github.com/Shreyansh303/team_mausam_sih_2026/blob/main/backend/app/services/aqi_cpcb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64134" y="357299"/>
            <a:ext cx="1989257" cy="1342802"/>
          </a:xfrm>
          <a:custGeom>
            <a:avLst/>
            <a:gdLst/>
            <a:ahLst/>
            <a:cxnLst/>
            <a:rect l="l" t="t" r="r" b="b"/>
            <a:pathLst>
              <a:path w="1989257" h="1342802">
                <a:moveTo>
                  <a:pt x="0" y="0"/>
                </a:moveTo>
                <a:lnTo>
                  <a:pt x="1989257" y="0"/>
                </a:lnTo>
                <a:lnTo>
                  <a:pt x="1989257" y="1342802"/>
                </a:lnTo>
                <a:lnTo>
                  <a:pt x="0" y="1342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825" t="-72388" r="-55690" b="-636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17598" y="214418"/>
            <a:ext cx="1396950" cy="1495214"/>
          </a:xfrm>
          <a:custGeom>
            <a:avLst/>
            <a:gdLst/>
            <a:ahLst/>
            <a:cxnLst/>
            <a:rect l="l" t="t" r="r" b="b"/>
            <a:pathLst>
              <a:path w="1396950" h="1495214">
                <a:moveTo>
                  <a:pt x="0" y="0"/>
                </a:moveTo>
                <a:lnTo>
                  <a:pt x="1396950" y="0"/>
                </a:lnTo>
                <a:lnTo>
                  <a:pt x="1396950" y="1495214"/>
                </a:lnTo>
                <a:lnTo>
                  <a:pt x="0" y="149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43012" y="2674784"/>
            <a:ext cx="7400854" cy="6718582"/>
          </a:xfrm>
          <a:custGeom>
            <a:avLst/>
            <a:gdLst/>
            <a:ahLst/>
            <a:cxnLst/>
            <a:rect l="l" t="t" r="r" b="b"/>
            <a:pathLst>
              <a:path w="7400854" h="6718582">
                <a:moveTo>
                  <a:pt x="0" y="0"/>
                </a:moveTo>
                <a:lnTo>
                  <a:pt x="7400854" y="0"/>
                </a:lnTo>
                <a:lnTo>
                  <a:pt x="7400854" y="6718582"/>
                </a:lnTo>
                <a:lnTo>
                  <a:pt x="0" y="6718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712" r="-1158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419600" y="694642"/>
            <a:ext cx="9728392" cy="1331672"/>
            <a:chOff x="0" y="0"/>
            <a:chExt cx="12734379" cy="177556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2734379" cy="1775563"/>
              <a:chOff x="0" y="0"/>
              <a:chExt cx="2515433" cy="35072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515433" cy="350729"/>
              </a:xfrm>
              <a:custGeom>
                <a:avLst/>
                <a:gdLst/>
                <a:ahLst/>
                <a:cxnLst/>
                <a:rect l="l" t="t" r="r" b="b"/>
                <a:pathLst>
                  <a:path w="2515433" h="350729">
                    <a:moveTo>
                      <a:pt x="41341" y="0"/>
                    </a:moveTo>
                    <a:lnTo>
                      <a:pt x="2474092" y="0"/>
                    </a:lnTo>
                    <a:cubicBezTo>
                      <a:pt x="2485056" y="0"/>
                      <a:pt x="2495572" y="4356"/>
                      <a:pt x="2503325" y="12108"/>
                    </a:cubicBezTo>
                    <a:cubicBezTo>
                      <a:pt x="2511077" y="19861"/>
                      <a:pt x="2515433" y="30377"/>
                      <a:pt x="2515433" y="41341"/>
                    </a:cubicBezTo>
                    <a:lnTo>
                      <a:pt x="2515433" y="309388"/>
                    </a:lnTo>
                    <a:cubicBezTo>
                      <a:pt x="2515433" y="332220"/>
                      <a:pt x="2496924" y="350729"/>
                      <a:pt x="2474092" y="350729"/>
                    </a:cubicBezTo>
                    <a:lnTo>
                      <a:pt x="41341" y="350729"/>
                    </a:lnTo>
                    <a:cubicBezTo>
                      <a:pt x="18509" y="350729"/>
                      <a:pt x="0" y="332220"/>
                      <a:pt x="0" y="309388"/>
                    </a:cubicBezTo>
                    <a:lnTo>
                      <a:pt x="0" y="41341"/>
                    </a:lnTo>
                    <a:cubicBezTo>
                      <a:pt x="0" y="18509"/>
                      <a:pt x="18509" y="0"/>
                      <a:pt x="41341" y="0"/>
                    </a:cubicBezTo>
                    <a:close/>
                  </a:path>
                </a:pathLst>
              </a:custGeom>
              <a:solidFill>
                <a:srgbClr val="C2DC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2515433" cy="4078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1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73422" y="277123"/>
              <a:ext cx="12187535" cy="1116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99"/>
                </a:lnSpc>
                <a:spcBef>
                  <a:spcPct val="0"/>
                </a:spcBef>
              </a:pPr>
              <a:r>
                <a:rPr lang="en-US" sz="4999" b="1" dirty="0">
                  <a:solidFill>
                    <a:srgbClr val="1F497D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SMART INDIA HACKATHON 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6997" y="2674784"/>
            <a:ext cx="13796442" cy="6842011"/>
            <a:chOff x="0" y="0"/>
            <a:chExt cx="18395255" cy="912268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85725"/>
              <a:ext cx="16532986" cy="6660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 dirty="0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Problem Statement ID: 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SIH26076 </a:t>
              </a:r>
            </a:p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 dirty="0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Problem Statement Title: 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Development of personalized homepage for 'Mausam' mobile application </a:t>
              </a:r>
            </a:p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 dirty="0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Nodal Ministry / Organization: 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Ministry of Earth Sciences (</a:t>
              </a:r>
              <a:r>
                <a:rPr lang="en-US" sz="3499" dirty="0" err="1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MoES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) / IMD </a:t>
              </a:r>
            </a:p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 dirty="0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Theme &amp; Category: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 Smart Automation | Software </a:t>
              </a:r>
            </a:p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 dirty="0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Team Name: 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Team Mausam</a:t>
              </a:r>
            </a:p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 dirty="0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Package: 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 </a:t>
              </a:r>
              <a:r>
                <a:rPr lang="en-US" sz="3499" dirty="0" err="1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com.teammausam.mausam_app</a:t>
              </a:r>
              <a:r>
                <a:rPr lang="en-US" sz="3499" dirty="0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                                     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652742"/>
              <a:ext cx="18395255" cy="24699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Github Repo Link:</a:t>
              </a:r>
              <a:r>
                <a:rPr lang="en-US" sz="3499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 github.com/Shreyansh303/team_mausam_sih_2026</a:t>
              </a:r>
            </a:p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Demo: </a:t>
              </a:r>
              <a:r>
                <a:rPr lang="en-US" sz="3499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https://www.youtube.com/watch?v=dAnlxq_2jj8 </a:t>
              </a:r>
              <a:r>
                <a:rPr lang="en-US" sz="349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 </a:t>
              </a:r>
            </a:p>
            <a:p>
              <a:pPr marL="755649" lvl="1" indent="-377824" algn="l">
                <a:lnSpc>
                  <a:spcPts val="4969"/>
                </a:lnSpc>
                <a:buFont typeface="Arial"/>
                <a:buChar char="•"/>
              </a:pPr>
              <a:r>
                <a:rPr lang="en-US" sz="349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Target OS:</a:t>
              </a:r>
              <a:r>
                <a:rPr lang="en-US" sz="3499">
                  <a:solidFill>
                    <a:srgbClr val="000000"/>
                  </a:solidFill>
                  <a:latin typeface="Caladea"/>
                  <a:ea typeface="Caladea"/>
                  <a:cs typeface="Caladea"/>
                  <a:sym typeface="Caladea"/>
                </a:rPr>
                <a:t> Android 7.0+ (minSdk 24), ios &amp; Flutter Web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83255" y="61671"/>
            <a:ext cx="2044158" cy="896097"/>
            <a:chOff x="0" y="0"/>
            <a:chExt cx="2725544" cy="1194795"/>
          </a:xfrm>
        </p:grpSpPr>
        <p:sp>
          <p:nvSpPr>
            <p:cNvPr id="3" name="Freeform 3"/>
            <p:cNvSpPr/>
            <p:nvPr/>
          </p:nvSpPr>
          <p:spPr>
            <a:xfrm>
              <a:off x="1063815" y="114817"/>
              <a:ext cx="1661729" cy="1079978"/>
            </a:xfrm>
            <a:custGeom>
              <a:avLst/>
              <a:gdLst/>
              <a:ahLst/>
              <a:cxnLst/>
              <a:rect l="l" t="t" r="r" b="b"/>
              <a:pathLst>
                <a:path w="1661729" h="1079978">
                  <a:moveTo>
                    <a:pt x="0" y="0"/>
                  </a:moveTo>
                  <a:lnTo>
                    <a:pt x="1661729" y="0"/>
                  </a:lnTo>
                  <a:lnTo>
                    <a:pt x="1661729" y="1079978"/>
                  </a:lnTo>
                  <a:lnTo>
                    <a:pt x="0" y="1079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069" t="-72388" r="-49897" b="-63614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63815" cy="1138646"/>
            </a:xfrm>
            <a:custGeom>
              <a:avLst/>
              <a:gdLst/>
              <a:ahLst/>
              <a:cxnLst/>
              <a:rect l="l" t="t" r="r" b="b"/>
              <a:pathLst>
                <a:path w="1063815" h="1138646">
                  <a:moveTo>
                    <a:pt x="0" y="0"/>
                  </a:moveTo>
                  <a:lnTo>
                    <a:pt x="1063815" y="0"/>
                  </a:lnTo>
                  <a:lnTo>
                    <a:pt x="1063815" y="1138646"/>
                  </a:lnTo>
                  <a:lnTo>
                    <a:pt x="0" y="1138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896531" y="1409656"/>
            <a:ext cx="8230882" cy="3429066"/>
            <a:chOff x="0" y="0"/>
            <a:chExt cx="2167804" cy="9031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804" cy="903129"/>
            </a:xfrm>
            <a:custGeom>
              <a:avLst/>
              <a:gdLst/>
              <a:ahLst/>
              <a:cxnLst/>
              <a:rect l="l" t="t" r="r" b="b"/>
              <a:pathLst>
                <a:path w="2167804" h="903129">
                  <a:moveTo>
                    <a:pt x="23515" y="0"/>
                  </a:moveTo>
                  <a:lnTo>
                    <a:pt x="2144289" y="0"/>
                  </a:lnTo>
                  <a:cubicBezTo>
                    <a:pt x="2150526" y="0"/>
                    <a:pt x="2156507" y="2477"/>
                    <a:pt x="2160917" y="6887"/>
                  </a:cubicBezTo>
                  <a:cubicBezTo>
                    <a:pt x="2165327" y="11297"/>
                    <a:pt x="2167804" y="17278"/>
                    <a:pt x="2167804" y="23515"/>
                  </a:cubicBezTo>
                  <a:lnTo>
                    <a:pt x="2167804" y="879614"/>
                  </a:lnTo>
                  <a:cubicBezTo>
                    <a:pt x="2167804" y="885850"/>
                    <a:pt x="2165327" y="891831"/>
                    <a:pt x="2160917" y="896241"/>
                  </a:cubicBezTo>
                  <a:cubicBezTo>
                    <a:pt x="2156507" y="900651"/>
                    <a:pt x="2150526" y="903129"/>
                    <a:pt x="2144289" y="903129"/>
                  </a:cubicBezTo>
                  <a:lnTo>
                    <a:pt x="23515" y="903129"/>
                  </a:lnTo>
                  <a:cubicBezTo>
                    <a:pt x="17278" y="903129"/>
                    <a:pt x="11297" y="900651"/>
                    <a:pt x="6887" y="896241"/>
                  </a:cubicBezTo>
                  <a:cubicBezTo>
                    <a:pt x="2477" y="891831"/>
                    <a:pt x="0" y="885850"/>
                    <a:pt x="0" y="879614"/>
                  </a:cubicBezTo>
                  <a:lnTo>
                    <a:pt x="0" y="23515"/>
                  </a:lnTo>
                  <a:cubicBezTo>
                    <a:pt x="0" y="17278"/>
                    <a:pt x="2477" y="11297"/>
                    <a:pt x="6887" y="6887"/>
                  </a:cubicBezTo>
                  <a:cubicBezTo>
                    <a:pt x="11297" y="2477"/>
                    <a:pt x="17278" y="0"/>
                    <a:pt x="23515" y="0"/>
                  </a:cubicBezTo>
                  <a:close/>
                </a:path>
              </a:pathLst>
            </a:custGeom>
            <a:solidFill>
              <a:srgbClr val="C2DCFF"/>
            </a:solidFill>
            <a:ln w="23812" cap="rnd">
              <a:solidFill>
                <a:srgbClr val="26456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67804" cy="950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877972"/>
            <a:ext cx="18296002" cy="498645"/>
            <a:chOff x="0" y="0"/>
            <a:chExt cx="743491" cy="202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3491" cy="20263"/>
            </a:xfrm>
            <a:custGeom>
              <a:avLst/>
              <a:gdLst/>
              <a:ahLst/>
              <a:cxnLst/>
              <a:rect l="l" t="t" r="r" b="b"/>
              <a:pathLst>
                <a:path w="743491" h="20263">
                  <a:moveTo>
                    <a:pt x="0" y="0"/>
                  </a:moveTo>
                  <a:lnTo>
                    <a:pt x="743491" y="0"/>
                  </a:lnTo>
                  <a:lnTo>
                    <a:pt x="743491" y="20263"/>
                  </a:lnTo>
                  <a:lnTo>
                    <a:pt x="0" y="2026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743491" cy="96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887813" y="4914922"/>
            <a:ext cx="6371487" cy="4844870"/>
          </a:xfrm>
          <a:custGeom>
            <a:avLst/>
            <a:gdLst/>
            <a:ahLst/>
            <a:cxnLst/>
            <a:rect l="l" t="t" r="r" b="b"/>
            <a:pathLst>
              <a:path w="6371487" h="4844870">
                <a:moveTo>
                  <a:pt x="0" y="0"/>
                </a:moveTo>
                <a:lnTo>
                  <a:pt x="6371487" y="0"/>
                </a:lnTo>
                <a:lnTo>
                  <a:pt x="6371487" y="4844870"/>
                </a:lnTo>
                <a:lnTo>
                  <a:pt x="0" y="4844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3" r="-2784" b="-3085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33891" y="177820"/>
            <a:ext cx="1263114" cy="862289"/>
            <a:chOff x="0" y="0"/>
            <a:chExt cx="1684152" cy="1149719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5400000">
              <a:off x="267217" y="-267217"/>
              <a:ext cx="1149719" cy="1684152"/>
              <a:chOff x="0" y="0"/>
              <a:chExt cx="4352290" cy="6375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2700" y="12700"/>
                <a:ext cx="432562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325620" h="6350000">
                    <a:moveTo>
                      <a:pt x="2162810" y="0"/>
                    </a:moveTo>
                    <a:cubicBezTo>
                      <a:pt x="3357880" y="0"/>
                      <a:pt x="4325620" y="1421130"/>
                      <a:pt x="4325620" y="3175000"/>
                    </a:cubicBezTo>
                    <a:cubicBezTo>
                      <a:pt x="4325620" y="4928870"/>
                      <a:pt x="3357880" y="6350000"/>
                      <a:pt x="2162810" y="6350000"/>
                    </a:cubicBezTo>
                    <a:cubicBezTo>
                      <a:pt x="967740" y="6350000"/>
                      <a:pt x="0" y="4928870"/>
                      <a:pt x="0" y="3175000"/>
                    </a:cubicBezTo>
                    <a:cubicBezTo>
                      <a:pt x="0" y="1421130"/>
                      <a:pt x="967740" y="0"/>
                      <a:pt x="21628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Freeform 15"/>
              <p:cNvSpPr/>
              <p:nvPr/>
            </p:nvSpPr>
            <p:spPr>
              <a:xfrm>
                <a:off x="0" y="0"/>
                <a:ext cx="4352290" cy="6375400"/>
              </a:xfrm>
              <a:custGeom>
                <a:avLst/>
                <a:gdLst/>
                <a:ahLst/>
                <a:cxnLst/>
                <a:rect l="l" t="t" r="r" b="b"/>
                <a:pathLst>
                  <a:path w="4352290" h="6375400">
                    <a:moveTo>
                      <a:pt x="2175510" y="6375400"/>
                    </a:moveTo>
                    <a:cubicBezTo>
                      <a:pt x="1593850" y="6375400"/>
                      <a:pt x="1046480" y="6042660"/>
                      <a:pt x="635000" y="5439410"/>
                    </a:cubicBezTo>
                    <a:cubicBezTo>
                      <a:pt x="226060" y="4838700"/>
                      <a:pt x="0" y="4038600"/>
                      <a:pt x="0" y="3187700"/>
                    </a:cubicBezTo>
                    <a:cubicBezTo>
                      <a:pt x="0" y="2336800"/>
                      <a:pt x="226060" y="1536700"/>
                      <a:pt x="636270" y="935990"/>
                    </a:cubicBezTo>
                    <a:cubicBezTo>
                      <a:pt x="1046480" y="332740"/>
                      <a:pt x="1593850" y="0"/>
                      <a:pt x="2175510" y="0"/>
                    </a:cubicBezTo>
                    <a:cubicBezTo>
                      <a:pt x="2757170" y="0"/>
                      <a:pt x="3304540" y="332740"/>
                      <a:pt x="3716020" y="935990"/>
                    </a:cubicBezTo>
                    <a:cubicBezTo>
                      <a:pt x="4126230" y="1536700"/>
                      <a:pt x="4352290" y="2336800"/>
                      <a:pt x="4352290" y="3187700"/>
                    </a:cubicBezTo>
                    <a:cubicBezTo>
                      <a:pt x="4352290" y="4038600"/>
                      <a:pt x="4126230" y="4838700"/>
                      <a:pt x="3716020" y="5439410"/>
                    </a:cubicBezTo>
                    <a:cubicBezTo>
                      <a:pt x="3304540" y="6042660"/>
                      <a:pt x="2758440" y="6375400"/>
                      <a:pt x="2175510" y="6375400"/>
                    </a:cubicBezTo>
                    <a:close/>
                    <a:moveTo>
                      <a:pt x="2175510" y="25400"/>
                    </a:moveTo>
                    <a:cubicBezTo>
                      <a:pt x="990600" y="25400"/>
                      <a:pt x="25400" y="1443990"/>
                      <a:pt x="25400" y="3187700"/>
                    </a:cubicBezTo>
                    <a:cubicBezTo>
                      <a:pt x="25400" y="4931410"/>
                      <a:pt x="990600" y="6350000"/>
                      <a:pt x="2175510" y="6350000"/>
                    </a:cubicBezTo>
                    <a:cubicBezTo>
                      <a:pt x="3360420" y="6350000"/>
                      <a:pt x="4325620" y="4931410"/>
                      <a:pt x="4325620" y="3187700"/>
                    </a:cubicBezTo>
                    <a:cubicBezTo>
                      <a:pt x="4325620" y="1443990"/>
                      <a:pt x="3361690" y="25400"/>
                      <a:pt x="2175510" y="2540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7292" y="85096"/>
              <a:ext cx="1549568" cy="793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Mausam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8541" y="5611993"/>
            <a:ext cx="9459756" cy="4031815"/>
            <a:chOff x="0" y="0"/>
            <a:chExt cx="12613008" cy="5375753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2575877" cy="5375753"/>
              <a:chOff x="0" y="0"/>
              <a:chExt cx="948453" cy="40543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48453" cy="405431"/>
              </a:xfrm>
              <a:custGeom>
                <a:avLst/>
                <a:gdLst/>
                <a:ahLst/>
                <a:cxnLst/>
                <a:rect l="l" t="t" r="r" b="b"/>
                <a:pathLst>
                  <a:path w="948453" h="405431">
                    <a:moveTo>
                      <a:pt x="16032" y="0"/>
                    </a:moveTo>
                    <a:lnTo>
                      <a:pt x="932421" y="0"/>
                    </a:lnTo>
                    <a:cubicBezTo>
                      <a:pt x="941275" y="0"/>
                      <a:pt x="948453" y="7178"/>
                      <a:pt x="948453" y="16032"/>
                    </a:cubicBezTo>
                    <a:lnTo>
                      <a:pt x="948453" y="389399"/>
                    </a:lnTo>
                    <a:cubicBezTo>
                      <a:pt x="948453" y="393651"/>
                      <a:pt x="946764" y="397729"/>
                      <a:pt x="943757" y="400735"/>
                    </a:cubicBezTo>
                    <a:cubicBezTo>
                      <a:pt x="940751" y="403742"/>
                      <a:pt x="936673" y="405431"/>
                      <a:pt x="932421" y="405431"/>
                    </a:cubicBezTo>
                    <a:lnTo>
                      <a:pt x="16032" y="405431"/>
                    </a:lnTo>
                    <a:cubicBezTo>
                      <a:pt x="7178" y="405431"/>
                      <a:pt x="0" y="398253"/>
                      <a:pt x="0" y="389399"/>
                    </a:cubicBezTo>
                    <a:lnTo>
                      <a:pt x="0" y="16032"/>
                    </a:lnTo>
                    <a:cubicBezTo>
                      <a:pt x="0" y="7178"/>
                      <a:pt x="7178" y="0"/>
                      <a:pt x="16032" y="0"/>
                    </a:cubicBezTo>
                    <a:close/>
                  </a:path>
                </a:pathLst>
              </a:custGeom>
              <a:solidFill>
                <a:srgbClr val="00569E">
                  <a:alpha val="29804"/>
                </a:srgbClr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948453" cy="453056"/>
              </a:xfrm>
              <a:prstGeom prst="rect">
                <a:avLst/>
              </a:prstGeom>
            </p:spPr>
            <p:txBody>
              <a:bodyPr lIns="49897" tIns="49897" rIns="49897" bIns="49897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328378" y="354823"/>
              <a:ext cx="934792" cy="1062264"/>
            </a:xfrm>
            <a:custGeom>
              <a:avLst/>
              <a:gdLst/>
              <a:ahLst/>
              <a:cxnLst/>
              <a:rect l="l" t="t" r="r" b="b"/>
              <a:pathLst>
                <a:path w="934792" h="1062264">
                  <a:moveTo>
                    <a:pt x="0" y="0"/>
                  </a:moveTo>
                  <a:lnTo>
                    <a:pt x="934792" y="0"/>
                  </a:lnTo>
                  <a:lnTo>
                    <a:pt x="934792" y="1062264"/>
                  </a:lnTo>
                  <a:lnTo>
                    <a:pt x="0" y="1062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328378" y="2407754"/>
              <a:ext cx="1040912" cy="843139"/>
            </a:xfrm>
            <a:custGeom>
              <a:avLst/>
              <a:gdLst/>
              <a:ahLst/>
              <a:cxnLst/>
              <a:rect l="l" t="t" r="r" b="b"/>
              <a:pathLst>
                <a:path w="1040912" h="843139">
                  <a:moveTo>
                    <a:pt x="0" y="0"/>
                  </a:moveTo>
                  <a:lnTo>
                    <a:pt x="1040912" y="0"/>
                  </a:lnTo>
                  <a:lnTo>
                    <a:pt x="1040912" y="843138"/>
                  </a:lnTo>
                  <a:lnTo>
                    <a:pt x="0" y="843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6871657" y="390817"/>
              <a:ext cx="1042397" cy="990277"/>
            </a:xfrm>
            <a:custGeom>
              <a:avLst/>
              <a:gdLst/>
              <a:ahLst/>
              <a:cxnLst/>
              <a:rect l="l" t="t" r="r" b="b"/>
              <a:pathLst>
                <a:path w="1042397" h="990277">
                  <a:moveTo>
                    <a:pt x="0" y="0"/>
                  </a:moveTo>
                  <a:lnTo>
                    <a:pt x="1042398" y="0"/>
                  </a:lnTo>
                  <a:lnTo>
                    <a:pt x="1042398" y="990277"/>
                  </a:lnTo>
                  <a:lnTo>
                    <a:pt x="0" y="990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6871657" y="2414988"/>
              <a:ext cx="906373" cy="920176"/>
            </a:xfrm>
            <a:custGeom>
              <a:avLst/>
              <a:gdLst/>
              <a:ahLst/>
              <a:cxnLst/>
              <a:rect l="l" t="t" r="r" b="b"/>
              <a:pathLst>
                <a:path w="906373" h="920176">
                  <a:moveTo>
                    <a:pt x="0" y="0"/>
                  </a:moveTo>
                  <a:lnTo>
                    <a:pt x="906374" y="0"/>
                  </a:lnTo>
                  <a:lnTo>
                    <a:pt x="906374" y="920176"/>
                  </a:lnTo>
                  <a:lnTo>
                    <a:pt x="0" y="920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6775590" y="3980735"/>
              <a:ext cx="1002441" cy="992417"/>
            </a:xfrm>
            <a:custGeom>
              <a:avLst/>
              <a:gdLst/>
              <a:ahLst/>
              <a:cxnLst/>
              <a:rect l="l" t="t" r="r" b="b"/>
              <a:pathLst>
                <a:path w="1002441" h="992417">
                  <a:moveTo>
                    <a:pt x="0" y="0"/>
                  </a:moveTo>
                  <a:lnTo>
                    <a:pt x="1002441" y="0"/>
                  </a:lnTo>
                  <a:lnTo>
                    <a:pt x="1002441" y="992417"/>
                  </a:lnTo>
                  <a:lnTo>
                    <a:pt x="0" y="99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441839" y="3951978"/>
              <a:ext cx="655667" cy="1074865"/>
            </a:xfrm>
            <a:custGeom>
              <a:avLst/>
              <a:gdLst/>
              <a:ahLst/>
              <a:cxnLst/>
              <a:rect l="l" t="t" r="r" b="b"/>
              <a:pathLst>
                <a:path w="655667" h="1074865">
                  <a:moveTo>
                    <a:pt x="0" y="0"/>
                  </a:moveTo>
                  <a:lnTo>
                    <a:pt x="655668" y="0"/>
                  </a:lnTo>
                  <a:lnTo>
                    <a:pt x="655668" y="1074865"/>
                  </a:lnTo>
                  <a:lnTo>
                    <a:pt x="0" y="1074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525273" y="172667"/>
              <a:ext cx="4913601" cy="1725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162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Server-driven</a:t>
              </a:r>
            </a:p>
            <a:p>
              <a:pPr algn="l">
                <a:lnSpc>
                  <a:spcPts val="2457"/>
                </a:lnSpc>
              </a:pPr>
              <a:r>
                <a:rPr lang="en-US" sz="1966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Change the homepage from the backend—no app update needed.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5009" y="172667"/>
              <a:ext cx="4508000" cy="1725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162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Honest data: </a:t>
              </a:r>
            </a:p>
            <a:p>
              <a:pPr algn="l">
                <a:lnSpc>
                  <a:spcPts val="2457"/>
                </a:lnSpc>
              </a:pPr>
              <a:r>
                <a:rPr lang="en-US" sz="1966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Estimated data is clearly marked, with no fake IMD data.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08776" y="3784008"/>
              <a:ext cx="4488912" cy="14199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162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Made for real phones</a:t>
              </a:r>
              <a:r>
                <a:rPr lang="en-US" sz="2162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 Lightweight, works offline, and stays accessible.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5009" y="3784008"/>
              <a:ext cx="4205597" cy="1319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703"/>
                </a:lnSpc>
              </a:pPr>
              <a:r>
                <a:rPr lang="en-US" sz="2162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Multilingual</a:t>
              </a:r>
            </a:p>
            <a:p>
              <a:pPr algn="just">
                <a:lnSpc>
                  <a:spcPts val="2457"/>
                </a:lnSpc>
              </a:pPr>
              <a:r>
                <a:rPr lang="en-US" sz="1966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Translates cards, advice, and actions—not just buttons.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10405" y="2182141"/>
              <a:ext cx="4502603" cy="1319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162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Live updates</a:t>
              </a:r>
            </a:p>
            <a:p>
              <a:pPr algn="l">
                <a:lnSpc>
                  <a:spcPts val="2457"/>
                </a:lnSpc>
              </a:pPr>
              <a:r>
                <a:rPr lang="en-US" sz="1966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New warnings can instantly change what users see.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25273" y="2136387"/>
              <a:ext cx="4746595" cy="1319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3"/>
                </a:lnSpc>
              </a:pPr>
              <a:r>
                <a:rPr lang="en-US" sz="2162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Smart ranking</a:t>
              </a:r>
            </a:p>
            <a:p>
              <a:pPr algn="l">
                <a:lnSpc>
                  <a:spcPts val="2457"/>
                </a:lnSpc>
              </a:pPr>
              <a:r>
                <a:rPr lang="en-US" sz="1966">
                  <a:solidFill>
                    <a:srgbClr val="000000"/>
                  </a:solidFill>
                  <a:latin typeface="Futura"/>
                  <a:ea typeface="Futura"/>
                  <a:cs typeface="Futura"/>
                  <a:sym typeface="Futura"/>
                </a:rPr>
                <a:t>Cards are ranked based on relevance, context, and urgency.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303869" y="862779"/>
            <a:ext cx="3629099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PROPOSED SOLUTION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52332" y="27754"/>
            <a:ext cx="6319540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SOLUTION OVERVIEW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401" y="1384619"/>
            <a:ext cx="4809878" cy="1446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2857"/>
              </a:lnSpc>
              <a:buFont typeface="Arial"/>
              <a:buChar char="•"/>
            </a:pPr>
            <a:r>
              <a:rPr lang="en-US" sz="225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Users choose 1–3 personas, and the engine ranks 33 card types by persona affinity to build a personalized feed.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805600" y="3216972"/>
            <a:ext cx="4810632" cy="180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2857"/>
              </a:lnSpc>
              <a:buFont typeface="Arial"/>
              <a:buChar char="•"/>
            </a:pPr>
            <a:r>
              <a:rPr lang="en-US" sz="225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Time, season, location, elevation, and active warnings shape what users see. For example, a parent sees School Run first in the morning, but not at night.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05600" y="1384619"/>
            <a:ext cx="4838481" cy="180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2857"/>
              </a:lnSpc>
              <a:buFont typeface="Arial"/>
              <a:buChar char="•"/>
            </a:pPr>
            <a:r>
              <a:rPr lang="en-US" sz="225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Urgency comes first, regardless of preference. A warning with urgency ≥ 0.8 stays pinned for all 8 personas, ensuring critical alerts reach everyone.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0401" y="2885811"/>
            <a:ext cx="4797825" cy="180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5" lvl="1" indent="-242888" algn="l">
              <a:lnSpc>
                <a:spcPts val="2857"/>
              </a:lnSpc>
              <a:buFont typeface="Arial"/>
              <a:buChar char="•"/>
            </a:pPr>
            <a:r>
              <a:rPr lang="en-US" sz="225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The feed is easy to understand and adapts over time. Each card shows up to 4 reasons for why it appears, while learning stays limited so important warnings are never buried.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01932" y="5066528"/>
            <a:ext cx="3592924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WHY WE STAND OUT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081737" y="862779"/>
            <a:ext cx="2052861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PROTOTYPE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14500" y="2645892"/>
            <a:ext cx="8027674" cy="98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14"/>
              </a:lnSpc>
            </a:pPr>
            <a:r>
              <a:rPr lang="en-US" sz="1995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Flutter (Frontend):</a:t>
            </a:r>
            <a:r>
              <a:rPr lang="en-US" sz="1995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 onboarding, ranked home, 15 renderer kinds across 33 card types, full-screen detail page each, radar map, saved places, settings, demo sheet, WebSocket client, offline cache, en/hi complete.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40118" y="3674071"/>
            <a:ext cx="7914346" cy="98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20"/>
              </a:lnSpc>
            </a:pPr>
            <a:r>
              <a:rPr lang="en-US" sz="2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FastAPI (Backend):</a:t>
            </a:r>
            <a:r>
              <a:rPr lang="en-US" sz="2000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 provider chain, 33 card builders, the engine, auth, saved places, events, admin console, /ws/alerts, Docker + Render config, GitHub Actions CI.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009072" y="1515973"/>
            <a:ext cx="7995489" cy="1148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</a:pPr>
            <a:r>
              <a:rPr lang="en-US" sz="2299" b="1" i="1">
                <a:solidFill>
                  <a:srgbClr val="1800AD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pytest -q → 386 passed · flutter test →125 passed</a:t>
            </a:r>
          </a:p>
          <a:p>
            <a:pPr algn="ctr">
              <a:lnSpc>
                <a:spcPts val="3012"/>
              </a:lnSpc>
            </a:pPr>
            <a:r>
              <a:rPr lang="en-US" sz="2299" b="1" i="1">
                <a:solidFill>
                  <a:srgbClr val="1800AD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flutter analyze → clean · 10/10 demo steps PASS</a:t>
            </a:r>
          </a:p>
          <a:p>
            <a:pPr algn="ctr">
              <a:lnSpc>
                <a:spcPts val="3012"/>
              </a:lnSpc>
            </a:pPr>
            <a:r>
              <a:rPr lang="en-US" sz="2299" b="1" i="1">
                <a:solidFill>
                  <a:srgbClr val="1800AD"/>
                </a:solidFill>
                <a:latin typeface="Garamond Bold Italics"/>
                <a:ea typeface="Garamond Bold Italics"/>
                <a:cs typeface="Garamond Bold Italics"/>
                <a:sym typeface="Garamond Bold Italics"/>
              </a:rPr>
              <a:t>63 screenshots · 115 commits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0761" y="9922448"/>
            <a:ext cx="583517" cy="27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Page 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12060" y="9892750"/>
            <a:ext cx="1863879" cy="27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@SIH Idea submission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2223" y="4817439"/>
            <a:ext cx="545262" cy="471652"/>
          </a:xfrm>
          <a:custGeom>
            <a:avLst/>
            <a:gdLst/>
            <a:ahLst/>
            <a:cxnLst/>
            <a:rect l="l" t="t" r="r" b="b"/>
            <a:pathLst>
              <a:path w="545262" h="471652">
                <a:moveTo>
                  <a:pt x="0" y="0"/>
                </a:moveTo>
                <a:lnTo>
                  <a:pt x="545262" y="0"/>
                </a:lnTo>
                <a:lnTo>
                  <a:pt x="545262" y="471652"/>
                </a:lnTo>
                <a:lnTo>
                  <a:pt x="0" y="471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083255" y="61671"/>
            <a:ext cx="2044158" cy="896097"/>
            <a:chOff x="0" y="0"/>
            <a:chExt cx="2725544" cy="1194795"/>
          </a:xfrm>
        </p:grpSpPr>
        <p:sp>
          <p:nvSpPr>
            <p:cNvPr id="4" name="Freeform 4"/>
            <p:cNvSpPr/>
            <p:nvPr/>
          </p:nvSpPr>
          <p:spPr>
            <a:xfrm>
              <a:off x="1063815" y="114817"/>
              <a:ext cx="1661729" cy="1079978"/>
            </a:xfrm>
            <a:custGeom>
              <a:avLst/>
              <a:gdLst/>
              <a:ahLst/>
              <a:cxnLst/>
              <a:rect l="l" t="t" r="r" b="b"/>
              <a:pathLst>
                <a:path w="1661729" h="1079978">
                  <a:moveTo>
                    <a:pt x="0" y="0"/>
                  </a:moveTo>
                  <a:lnTo>
                    <a:pt x="1661729" y="0"/>
                  </a:lnTo>
                  <a:lnTo>
                    <a:pt x="1661729" y="1079978"/>
                  </a:lnTo>
                  <a:lnTo>
                    <a:pt x="0" y="1079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3069" t="-72388" r="-49897" b="-63614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1063815" cy="1138646"/>
            </a:xfrm>
            <a:custGeom>
              <a:avLst/>
              <a:gdLst/>
              <a:ahLst/>
              <a:cxnLst/>
              <a:rect l="l" t="t" r="r" b="b"/>
              <a:pathLst>
                <a:path w="1063815" h="1138646">
                  <a:moveTo>
                    <a:pt x="0" y="0"/>
                  </a:moveTo>
                  <a:lnTo>
                    <a:pt x="1063815" y="0"/>
                  </a:lnTo>
                  <a:lnTo>
                    <a:pt x="1063815" y="1138646"/>
                  </a:lnTo>
                  <a:lnTo>
                    <a:pt x="0" y="1138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33891" y="177820"/>
            <a:ext cx="1263114" cy="862289"/>
            <a:chOff x="0" y="0"/>
            <a:chExt cx="1684152" cy="1149719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 rot="5400000">
              <a:off x="267217" y="-267217"/>
              <a:ext cx="1149719" cy="1684152"/>
              <a:chOff x="0" y="0"/>
              <a:chExt cx="4352290" cy="6375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700" y="12700"/>
                <a:ext cx="432562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325620" h="6350000">
                    <a:moveTo>
                      <a:pt x="2162810" y="0"/>
                    </a:moveTo>
                    <a:cubicBezTo>
                      <a:pt x="3357880" y="0"/>
                      <a:pt x="4325620" y="1421130"/>
                      <a:pt x="4325620" y="3175000"/>
                    </a:cubicBezTo>
                    <a:cubicBezTo>
                      <a:pt x="4325620" y="4928870"/>
                      <a:pt x="3357880" y="6350000"/>
                      <a:pt x="2162810" y="6350000"/>
                    </a:cubicBezTo>
                    <a:cubicBezTo>
                      <a:pt x="967740" y="6350000"/>
                      <a:pt x="0" y="4928870"/>
                      <a:pt x="0" y="3175000"/>
                    </a:cubicBezTo>
                    <a:cubicBezTo>
                      <a:pt x="0" y="1421130"/>
                      <a:pt x="967740" y="0"/>
                      <a:pt x="21628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0" y="0"/>
                <a:ext cx="4352290" cy="6375400"/>
              </a:xfrm>
              <a:custGeom>
                <a:avLst/>
                <a:gdLst/>
                <a:ahLst/>
                <a:cxnLst/>
                <a:rect l="l" t="t" r="r" b="b"/>
                <a:pathLst>
                  <a:path w="4352290" h="6375400">
                    <a:moveTo>
                      <a:pt x="2175510" y="6375400"/>
                    </a:moveTo>
                    <a:cubicBezTo>
                      <a:pt x="1593850" y="6375400"/>
                      <a:pt x="1046480" y="6042660"/>
                      <a:pt x="635000" y="5439410"/>
                    </a:cubicBezTo>
                    <a:cubicBezTo>
                      <a:pt x="226060" y="4838700"/>
                      <a:pt x="0" y="4038600"/>
                      <a:pt x="0" y="3187700"/>
                    </a:cubicBezTo>
                    <a:cubicBezTo>
                      <a:pt x="0" y="2336800"/>
                      <a:pt x="226060" y="1536700"/>
                      <a:pt x="636270" y="935990"/>
                    </a:cubicBezTo>
                    <a:cubicBezTo>
                      <a:pt x="1046480" y="332740"/>
                      <a:pt x="1593850" y="0"/>
                      <a:pt x="2175510" y="0"/>
                    </a:cubicBezTo>
                    <a:cubicBezTo>
                      <a:pt x="2757170" y="0"/>
                      <a:pt x="3304540" y="332740"/>
                      <a:pt x="3716020" y="935990"/>
                    </a:cubicBezTo>
                    <a:cubicBezTo>
                      <a:pt x="4126230" y="1536700"/>
                      <a:pt x="4352290" y="2336800"/>
                      <a:pt x="4352290" y="3187700"/>
                    </a:cubicBezTo>
                    <a:cubicBezTo>
                      <a:pt x="4352290" y="4038600"/>
                      <a:pt x="4126230" y="4838700"/>
                      <a:pt x="3716020" y="5439410"/>
                    </a:cubicBezTo>
                    <a:cubicBezTo>
                      <a:pt x="3304540" y="6042660"/>
                      <a:pt x="2758440" y="6375400"/>
                      <a:pt x="2175510" y="6375400"/>
                    </a:cubicBezTo>
                    <a:close/>
                    <a:moveTo>
                      <a:pt x="2175510" y="25400"/>
                    </a:moveTo>
                    <a:cubicBezTo>
                      <a:pt x="990600" y="25400"/>
                      <a:pt x="25400" y="1443990"/>
                      <a:pt x="25400" y="3187700"/>
                    </a:cubicBezTo>
                    <a:cubicBezTo>
                      <a:pt x="25400" y="4931410"/>
                      <a:pt x="990600" y="6350000"/>
                      <a:pt x="2175510" y="6350000"/>
                    </a:cubicBezTo>
                    <a:cubicBezTo>
                      <a:pt x="3360420" y="6350000"/>
                      <a:pt x="4325620" y="4931410"/>
                      <a:pt x="4325620" y="3187700"/>
                    </a:cubicBezTo>
                    <a:cubicBezTo>
                      <a:pt x="4325620" y="1443990"/>
                      <a:pt x="3361690" y="25400"/>
                      <a:pt x="2175510" y="2540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67292" y="85096"/>
              <a:ext cx="1549568" cy="793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Mausam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9180897" y="5384341"/>
            <a:ext cx="578524" cy="555383"/>
          </a:xfrm>
          <a:custGeom>
            <a:avLst/>
            <a:gdLst/>
            <a:ahLst/>
            <a:cxnLst/>
            <a:rect l="l" t="t" r="r" b="b"/>
            <a:pathLst>
              <a:path w="578524" h="555383">
                <a:moveTo>
                  <a:pt x="0" y="0"/>
                </a:moveTo>
                <a:lnTo>
                  <a:pt x="578523" y="0"/>
                </a:lnTo>
                <a:lnTo>
                  <a:pt x="578523" y="555382"/>
                </a:lnTo>
                <a:lnTo>
                  <a:pt x="0" y="5553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144000" y="8286860"/>
            <a:ext cx="8941710" cy="1434607"/>
            <a:chOff x="0" y="0"/>
            <a:chExt cx="11922280" cy="191281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5870262" cy="1912810"/>
              <a:chOff x="0" y="0"/>
              <a:chExt cx="1355074" cy="44154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355074" cy="441547"/>
              </a:xfrm>
              <a:custGeom>
                <a:avLst/>
                <a:gdLst/>
                <a:ahLst/>
                <a:cxnLst/>
                <a:rect l="l" t="t" r="r" b="b"/>
                <a:pathLst>
                  <a:path w="1355074" h="441547">
                    <a:moveTo>
                      <a:pt x="26377" y="0"/>
                    </a:moveTo>
                    <a:lnTo>
                      <a:pt x="1328697" y="0"/>
                    </a:lnTo>
                    <a:cubicBezTo>
                      <a:pt x="1343265" y="0"/>
                      <a:pt x="1355074" y="11809"/>
                      <a:pt x="1355074" y="26377"/>
                    </a:cubicBezTo>
                    <a:lnTo>
                      <a:pt x="1355074" y="415171"/>
                    </a:lnTo>
                    <a:cubicBezTo>
                      <a:pt x="1355074" y="429738"/>
                      <a:pt x="1343265" y="441547"/>
                      <a:pt x="1328697" y="441547"/>
                    </a:cubicBezTo>
                    <a:lnTo>
                      <a:pt x="26377" y="441547"/>
                    </a:lnTo>
                    <a:cubicBezTo>
                      <a:pt x="11809" y="441547"/>
                      <a:pt x="0" y="429738"/>
                      <a:pt x="0" y="415171"/>
                    </a:cubicBezTo>
                    <a:lnTo>
                      <a:pt x="0" y="26377"/>
                    </a:lnTo>
                    <a:cubicBezTo>
                      <a:pt x="0" y="11809"/>
                      <a:pt x="11809" y="0"/>
                      <a:pt x="26377" y="0"/>
                    </a:cubicBezTo>
                    <a:close/>
                  </a:path>
                </a:pathLst>
              </a:custGeom>
              <a:solidFill>
                <a:srgbClr val="C2DCFF">
                  <a:alpha val="40000"/>
                </a:srgbClr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1355074" cy="489172"/>
              </a:xfrm>
              <a:prstGeom prst="rect">
                <a:avLst/>
              </a:prstGeom>
            </p:spPr>
            <p:txBody>
              <a:bodyPr lIns="43470" tIns="43470" rIns="43470" bIns="4347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19390"/>
              <a:ext cx="5870262" cy="868328"/>
              <a:chOff x="0" y="0"/>
              <a:chExt cx="1355074" cy="20044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355074" cy="200442"/>
              </a:xfrm>
              <a:custGeom>
                <a:avLst/>
                <a:gdLst/>
                <a:ahLst/>
                <a:cxnLst/>
                <a:rect l="l" t="t" r="r" b="b"/>
                <a:pathLst>
                  <a:path w="1355074" h="200442">
                    <a:moveTo>
                      <a:pt x="26377" y="0"/>
                    </a:moveTo>
                    <a:lnTo>
                      <a:pt x="1328697" y="0"/>
                    </a:lnTo>
                    <a:cubicBezTo>
                      <a:pt x="1343265" y="0"/>
                      <a:pt x="1355074" y="11809"/>
                      <a:pt x="1355074" y="26377"/>
                    </a:cubicBezTo>
                    <a:lnTo>
                      <a:pt x="1355074" y="174066"/>
                    </a:lnTo>
                    <a:cubicBezTo>
                      <a:pt x="1355074" y="188633"/>
                      <a:pt x="1343265" y="200442"/>
                      <a:pt x="1328697" y="200442"/>
                    </a:cubicBezTo>
                    <a:lnTo>
                      <a:pt x="26377" y="200442"/>
                    </a:lnTo>
                    <a:cubicBezTo>
                      <a:pt x="11809" y="200442"/>
                      <a:pt x="0" y="188633"/>
                      <a:pt x="0" y="174066"/>
                    </a:cubicBezTo>
                    <a:lnTo>
                      <a:pt x="0" y="26377"/>
                    </a:lnTo>
                    <a:cubicBezTo>
                      <a:pt x="0" y="11809"/>
                      <a:pt x="11809" y="0"/>
                      <a:pt x="26377" y="0"/>
                    </a:cubicBezTo>
                    <a:close/>
                  </a:path>
                </a:pathLst>
              </a:custGeom>
              <a:solidFill>
                <a:srgbClr val="C2DC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1355074" cy="248067"/>
              </a:xfrm>
              <a:prstGeom prst="rect">
                <a:avLst/>
              </a:prstGeom>
            </p:spPr>
            <p:txBody>
              <a:bodyPr lIns="43470" tIns="43470" rIns="43470" bIns="4347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90765" y="71325"/>
              <a:ext cx="4688732" cy="686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4"/>
                </a:lnSpc>
              </a:pPr>
              <a:r>
                <a:rPr lang="en-US" sz="175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BigDataCloud reverse geocode · RainViewer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0439" y="1107089"/>
              <a:ext cx="1621755" cy="554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42"/>
                </a:lnSpc>
              </a:pPr>
              <a:r>
                <a:rPr lang="en-US" sz="146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Status:</a:t>
              </a:r>
            </a:p>
            <a:p>
              <a:pPr algn="just">
                <a:lnSpc>
                  <a:spcPts val="1542"/>
                </a:lnSpc>
              </a:pPr>
              <a:r>
                <a:rPr lang="en-US" sz="14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keyless 200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35131" y="1030868"/>
              <a:ext cx="2517375" cy="808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42"/>
                </a:lnSpc>
              </a:pPr>
              <a:r>
                <a:rPr lang="en-US" sz="146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Used for:</a:t>
              </a:r>
            </a:p>
            <a:p>
              <a:pPr algn="just">
                <a:lnSpc>
                  <a:spcPts val="1542"/>
                </a:lnSpc>
              </a:pPr>
              <a:r>
                <a:rPr lang="en-US" sz="14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lat/lon → district/state; radar frames + tiles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101133" y="0"/>
              <a:ext cx="5821147" cy="1912810"/>
              <a:chOff x="0" y="0"/>
              <a:chExt cx="1333914" cy="4383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333914" cy="438320"/>
              </a:xfrm>
              <a:custGeom>
                <a:avLst/>
                <a:gdLst/>
                <a:ahLst/>
                <a:cxnLst/>
                <a:rect l="l" t="t" r="r" b="b"/>
                <a:pathLst>
                  <a:path w="1333914" h="438320">
                    <a:moveTo>
                      <a:pt x="26599" y="0"/>
                    </a:moveTo>
                    <a:lnTo>
                      <a:pt x="1307314" y="0"/>
                    </a:lnTo>
                    <a:cubicBezTo>
                      <a:pt x="1322005" y="0"/>
                      <a:pt x="1333914" y="11909"/>
                      <a:pt x="1333914" y="26599"/>
                    </a:cubicBezTo>
                    <a:lnTo>
                      <a:pt x="1333914" y="411720"/>
                    </a:lnTo>
                    <a:cubicBezTo>
                      <a:pt x="1333914" y="426411"/>
                      <a:pt x="1322005" y="438320"/>
                      <a:pt x="1307314" y="438320"/>
                    </a:cubicBezTo>
                    <a:lnTo>
                      <a:pt x="26599" y="438320"/>
                    </a:lnTo>
                    <a:cubicBezTo>
                      <a:pt x="19545" y="438320"/>
                      <a:pt x="12779" y="435517"/>
                      <a:pt x="7791" y="430529"/>
                    </a:cubicBezTo>
                    <a:cubicBezTo>
                      <a:pt x="2802" y="425541"/>
                      <a:pt x="0" y="418775"/>
                      <a:pt x="0" y="411720"/>
                    </a:cubicBezTo>
                    <a:lnTo>
                      <a:pt x="0" y="26599"/>
                    </a:lnTo>
                    <a:cubicBezTo>
                      <a:pt x="0" y="11909"/>
                      <a:pt x="11909" y="0"/>
                      <a:pt x="26599" y="0"/>
                    </a:cubicBezTo>
                    <a:close/>
                  </a:path>
                </a:pathLst>
              </a:custGeom>
              <a:solidFill>
                <a:srgbClr val="C2DCFF">
                  <a:alpha val="40000"/>
                </a:srgbClr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1333914" cy="485945"/>
              </a:xfrm>
              <a:prstGeom prst="rect">
                <a:avLst/>
              </a:prstGeom>
            </p:spPr>
            <p:txBody>
              <a:bodyPr lIns="43790" tIns="43790" rIns="43790" bIns="4379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101133" y="0"/>
              <a:ext cx="5821147" cy="874722"/>
              <a:chOff x="0" y="0"/>
              <a:chExt cx="1333914" cy="20044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333914" cy="200442"/>
              </a:xfrm>
              <a:custGeom>
                <a:avLst/>
                <a:gdLst/>
                <a:ahLst/>
                <a:cxnLst/>
                <a:rect l="l" t="t" r="r" b="b"/>
                <a:pathLst>
                  <a:path w="1333914" h="200442">
                    <a:moveTo>
                      <a:pt x="26599" y="0"/>
                    </a:moveTo>
                    <a:lnTo>
                      <a:pt x="1307314" y="0"/>
                    </a:lnTo>
                    <a:cubicBezTo>
                      <a:pt x="1322005" y="0"/>
                      <a:pt x="1333914" y="11909"/>
                      <a:pt x="1333914" y="26599"/>
                    </a:cubicBezTo>
                    <a:lnTo>
                      <a:pt x="1333914" y="173843"/>
                    </a:lnTo>
                    <a:cubicBezTo>
                      <a:pt x="1333914" y="180898"/>
                      <a:pt x="1331111" y="187663"/>
                      <a:pt x="1326123" y="192651"/>
                    </a:cubicBezTo>
                    <a:cubicBezTo>
                      <a:pt x="1321135" y="197640"/>
                      <a:pt x="1314369" y="200442"/>
                      <a:pt x="1307314" y="200442"/>
                    </a:cubicBezTo>
                    <a:lnTo>
                      <a:pt x="26599" y="200442"/>
                    </a:lnTo>
                    <a:cubicBezTo>
                      <a:pt x="19545" y="200442"/>
                      <a:pt x="12779" y="197640"/>
                      <a:pt x="7791" y="192651"/>
                    </a:cubicBezTo>
                    <a:cubicBezTo>
                      <a:pt x="2802" y="187663"/>
                      <a:pt x="0" y="180898"/>
                      <a:pt x="0" y="173843"/>
                    </a:cubicBezTo>
                    <a:lnTo>
                      <a:pt x="0" y="26599"/>
                    </a:lnTo>
                    <a:cubicBezTo>
                      <a:pt x="0" y="11909"/>
                      <a:pt x="11909" y="0"/>
                      <a:pt x="26599" y="0"/>
                    </a:cubicBezTo>
                    <a:close/>
                  </a:path>
                </a:pathLst>
              </a:custGeom>
              <a:solidFill>
                <a:srgbClr val="C2DCF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1333914" cy="248067"/>
              </a:xfrm>
              <a:prstGeom prst="rect">
                <a:avLst/>
              </a:prstGeom>
            </p:spPr>
            <p:txBody>
              <a:bodyPr lIns="43790" tIns="43790" rIns="43790" bIns="4379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686956" y="52838"/>
              <a:ext cx="4649502" cy="6869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8"/>
                </a:lnSpc>
              </a:pPr>
              <a:r>
                <a:rPr lang="en-US" sz="1768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Open-Meteo forecast / air / marine / geocoding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66899" y="1094389"/>
              <a:ext cx="2040283" cy="555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53"/>
                </a:lnSpc>
              </a:pPr>
              <a:r>
                <a:rPr lang="en-US" sz="147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Status:</a:t>
              </a:r>
            </a:p>
            <a:p>
              <a:pPr algn="just">
                <a:lnSpc>
                  <a:spcPts val="1553"/>
                </a:lnSpc>
              </a:pPr>
              <a:r>
                <a:rPr lang="en-US" sz="147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optional free key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52142" y="1030593"/>
              <a:ext cx="2935105" cy="809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53"/>
                </a:lnSpc>
              </a:pPr>
              <a:r>
                <a:rPr lang="en-US" sz="147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Used for:</a:t>
              </a:r>
            </a:p>
            <a:p>
              <a:pPr algn="just">
                <a:lnSpc>
                  <a:spcPts val="1553"/>
                </a:lnSpc>
              </a:pPr>
              <a:r>
                <a:rPr lang="en-US" sz="147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station AQI / real traffic — estimated without them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0" y="6081548"/>
            <a:ext cx="8872454" cy="2065590"/>
            <a:chOff x="0" y="0"/>
            <a:chExt cx="11829938" cy="275412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5870262" cy="2754120"/>
              <a:chOff x="0" y="0"/>
              <a:chExt cx="1355074" cy="63575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355074" cy="635753"/>
              </a:xfrm>
              <a:custGeom>
                <a:avLst/>
                <a:gdLst/>
                <a:ahLst/>
                <a:cxnLst/>
                <a:rect l="l" t="t" r="r" b="b"/>
                <a:pathLst>
                  <a:path w="1355074" h="635753">
                    <a:moveTo>
                      <a:pt x="26377" y="0"/>
                    </a:moveTo>
                    <a:lnTo>
                      <a:pt x="1328697" y="0"/>
                    </a:lnTo>
                    <a:cubicBezTo>
                      <a:pt x="1343265" y="0"/>
                      <a:pt x="1355074" y="11809"/>
                      <a:pt x="1355074" y="26377"/>
                    </a:cubicBezTo>
                    <a:lnTo>
                      <a:pt x="1355074" y="609376"/>
                    </a:lnTo>
                    <a:cubicBezTo>
                      <a:pt x="1355074" y="623944"/>
                      <a:pt x="1343265" y="635753"/>
                      <a:pt x="1328697" y="635753"/>
                    </a:cubicBezTo>
                    <a:lnTo>
                      <a:pt x="26377" y="635753"/>
                    </a:lnTo>
                    <a:cubicBezTo>
                      <a:pt x="11809" y="635753"/>
                      <a:pt x="0" y="623944"/>
                      <a:pt x="0" y="609376"/>
                    </a:cubicBezTo>
                    <a:lnTo>
                      <a:pt x="0" y="26377"/>
                    </a:lnTo>
                    <a:cubicBezTo>
                      <a:pt x="0" y="11809"/>
                      <a:pt x="11809" y="0"/>
                      <a:pt x="26377" y="0"/>
                    </a:cubicBezTo>
                    <a:close/>
                  </a:path>
                </a:pathLst>
              </a:custGeom>
              <a:solidFill>
                <a:srgbClr val="C2DCFF">
                  <a:alpha val="40000"/>
                </a:srgbClr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1355074" cy="683378"/>
              </a:xfrm>
              <a:prstGeom prst="rect">
                <a:avLst/>
              </a:prstGeom>
            </p:spPr>
            <p:txBody>
              <a:bodyPr lIns="43470" tIns="43470" rIns="43470" bIns="4347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0"/>
              <a:ext cx="5870262" cy="868328"/>
              <a:chOff x="0" y="0"/>
              <a:chExt cx="1355074" cy="20044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355074" cy="200442"/>
              </a:xfrm>
              <a:custGeom>
                <a:avLst/>
                <a:gdLst/>
                <a:ahLst/>
                <a:cxnLst/>
                <a:rect l="l" t="t" r="r" b="b"/>
                <a:pathLst>
                  <a:path w="1355074" h="200442">
                    <a:moveTo>
                      <a:pt x="26377" y="0"/>
                    </a:moveTo>
                    <a:lnTo>
                      <a:pt x="1328697" y="0"/>
                    </a:lnTo>
                    <a:cubicBezTo>
                      <a:pt x="1343265" y="0"/>
                      <a:pt x="1355074" y="11809"/>
                      <a:pt x="1355074" y="26377"/>
                    </a:cubicBezTo>
                    <a:lnTo>
                      <a:pt x="1355074" y="174066"/>
                    </a:lnTo>
                    <a:cubicBezTo>
                      <a:pt x="1355074" y="188633"/>
                      <a:pt x="1343265" y="200442"/>
                      <a:pt x="1328697" y="200442"/>
                    </a:cubicBezTo>
                    <a:lnTo>
                      <a:pt x="26377" y="200442"/>
                    </a:lnTo>
                    <a:cubicBezTo>
                      <a:pt x="11809" y="200442"/>
                      <a:pt x="0" y="188633"/>
                      <a:pt x="0" y="174066"/>
                    </a:cubicBezTo>
                    <a:lnTo>
                      <a:pt x="0" y="26377"/>
                    </a:lnTo>
                    <a:cubicBezTo>
                      <a:pt x="0" y="11809"/>
                      <a:pt x="11809" y="0"/>
                      <a:pt x="26377" y="0"/>
                    </a:cubicBezTo>
                    <a:close/>
                  </a:path>
                </a:pathLst>
              </a:custGeom>
              <a:solidFill>
                <a:srgbClr val="C2DCFF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1355074" cy="248067"/>
              </a:xfrm>
              <a:prstGeom prst="rect">
                <a:avLst/>
              </a:prstGeom>
            </p:spPr>
            <p:txBody>
              <a:bodyPr lIns="43470" tIns="43470" rIns="43470" bIns="4347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90765" y="51935"/>
              <a:ext cx="4688732" cy="686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4"/>
                </a:lnSpc>
              </a:pPr>
              <a:r>
                <a:rPr lang="en-US" sz="175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IMD current_wx_api · nowcastapi · warnings_district_api · aws_data_api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0439" y="1000953"/>
              <a:ext cx="4688732" cy="808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42"/>
                </a:lnSpc>
              </a:pPr>
              <a:r>
                <a:rPr lang="en-US" sz="146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Status:</a:t>
              </a:r>
            </a:p>
            <a:p>
              <a:pPr algn="just">
                <a:lnSpc>
                  <a:spcPts val="1542"/>
                </a:lnSpc>
              </a:pPr>
              <a:r>
                <a:rPr lang="en-US" sz="14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401 — needs IP whitelisting. Provider detects it, backs off 10 min, falls through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0439" y="2037797"/>
              <a:ext cx="4688732" cy="554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42"/>
                </a:lnSpc>
              </a:pPr>
              <a:r>
                <a:rPr lang="en-US" sz="1469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Used for:</a:t>
              </a:r>
            </a:p>
            <a:p>
              <a:pPr algn="just">
                <a:lnSpc>
                  <a:spcPts val="1542"/>
                </a:lnSpc>
              </a:pPr>
              <a:r>
                <a:rPr lang="en-US" sz="14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station obs, 3-h nowcast, district warnings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101133" y="0"/>
              <a:ext cx="5728805" cy="2754120"/>
              <a:chOff x="0" y="0"/>
              <a:chExt cx="1355074" cy="65145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355074" cy="651451"/>
              </a:xfrm>
              <a:custGeom>
                <a:avLst/>
                <a:gdLst/>
                <a:ahLst/>
                <a:cxnLst/>
                <a:rect l="l" t="t" r="r" b="b"/>
                <a:pathLst>
                  <a:path w="1355074" h="651451">
                    <a:moveTo>
                      <a:pt x="27028" y="0"/>
                    </a:moveTo>
                    <a:lnTo>
                      <a:pt x="1328046" y="0"/>
                    </a:lnTo>
                    <a:cubicBezTo>
                      <a:pt x="1342973" y="0"/>
                      <a:pt x="1355074" y="12101"/>
                      <a:pt x="1355074" y="27028"/>
                    </a:cubicBezTo>
                    <a:lnTo>
                      <a:pt x="1355074" y="624423"/>
                    </a:lnTo>
                    <a:cubicBezTo>
                      <a:pt x="1355074" y="639350"/>
                      <a:pt x="1342973" y="651451"/>
                      <a:pt x="1328046" y="651451"/>
                    </a:cubicBezTo>
                    <a:lnTo>
                      <a:pt x="27028" y="651451"/>
                    </a:lnTo>
                    <a:cubicBezTo>
                      <a:pt x="12101" y="651451"/>
                      <a:pt x="0" y="639350"/>
                      <a:pt x="0" y="624423"/>
                    </a:cubicBezTo>
                    <a:lnTo>
                      <a:pt x="0" y="27028"/>
                    </a:lnTo>
                    <a:cubicBezTo>
                      <a:pt x="0" y="12101"/>
                      <a:pt x="12101" y="0"/>
                      <a:pt x="27028" y="0"/>
                    </a:cubicBezTo>
                    <a:close/>
                  </a:path>
                </a:pathLst>
              </a:custGeom>
              <a:solidFill>
                <a:srgbClr val="C2DCFF">
                  <a:alpha val="40000"/>
                </a:srgbClr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1355074" cy="699076"/>
              </a:xfrm>
              <a:prstGeom prst="rect">
                <a:avLst/>
              </a:prstGeom>
            </p:spPr>
            <p:txBody>
              <a:bodyPr lIns="42423" tIns="42423" rIns="42423" bIns="4242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264269" y="945504"/>
              <a:ext cx="4575746" cy="563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05"/>
                </a:lnSpc>
              </a:pPr>
              <a:r>
                <a:rPr lang="en-US" sz="143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Status:</a:t>
              </a:r>
            </a:p>
            <a:p>
              <a:pPr algn="just">
                <a:lnSpc>
                  <a:spcPts val="1505"/>
                </a:lnSpc>
              </a:pPr>
              <a:r>
                <a:rPr lang="en-US" sz="14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keyless 200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43289" y="1569149"/>
              <a:ext cx="5444494" cy="1071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05"/>
                </a:lnSpc>
              </a:pPr>
              <a:r>
                <a:rPr lang="en-US" sz="143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Used for:</a:t>
              </a:r>
            </a:p>
            <a:p>
              <a:pPr algn="just">
                <a:lnSpc>
                  <a:spcPts val="1505"/>
                </a:lnSpc>
              </a:pPr>
              <a:r>
                <a:rPr lang="en-US" sz="14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current + hourly + 16-day, UV, visibility, soil moisture &amp; temp, sunrise/sunset; PM2.5/PM10/O₃/NO₂/SO₂/CO → </a:t>
              </a:r>
              <a:r>
                <a:rPr lang="en-US" sz="1433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CPCB scale</a:t>
              </a:r>
              <a:r>
                <a:rPr lang="en-US" sz="143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; waves, swell, SST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6101133" y="0"/>
              <a:ext cx="5728805" cy="847404"/>
              <a:chOff x="0" y="0"/>
              <a:chExt cx="1355074" cy="200442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355074" cy="200442"/>
              </a:xfrm>
              <a:custGeom>
                <a:avLst/>
                <a:gdLst/>
                <a:ahLst/>
                <a:cxnLst/>
                <a:rect l="l" t="t" r="r" b="b"/>
                <a:pathLst>
                  <a:path w="1355074" h="200442">
                    <a:moveTo>
                      <a:pt x="27028" y="0"/>
                    </a:moveTo>
                    <a:lnTo>
                      <a:pt x="1328046" y="0"/>
                    </a:lnTo>
                    <a:cubicBezTo>
                      <a:pt x="1342973" y="0"/>
                      <a:pt x="1355074" y="12101"/>
                      <a:pt x="1355074" y="27028"/>
                    </a:cubicBezTo>
                    <a:lnTo>
                      <a:pt x="1355074" y="173414"/>
                    </a:lnTo>
                    <a:cubicBezTo>
                      <a:pt x="1355074" y="188341"/>
                      <a:pt x="1342973" y="200442"/>
                      <a:pt x="1328046" y="200442"/>
                    </a:cubicBezTo>
                    <a:lnTo>
                      <a:pt x="27028" y="200442"/>
                    </a:lnTo>
                    <a:cubicBezTo>
                      <a:pt x="12101" y="200442"/>
                      <a:pt x="0" y="188341"/>
                      <a:pt x="0" y="173414"/>
                    </a:cubicBezTo>
                    <a:lnTo>
                      <a:pt x="0" y="27028"/>
                    </a:lnTo>
                    <a:cubicBezTo>
                      <a:pt x="0" y="12101"/>
                      <a:pt x="12101" y="0"/>
                      <a:pt x="27028" y="0"/>
                    </a:cubicBezTo>
                    <a:close/>
                  </a:path>
                </a:pathLst>
              </a:custGeom>
              <a:solidFill>
                <a:srgbClr val="C2DCFF"/>
              </a:solidFill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1355074" cy="248067"/>
              </a:xfrm>
              <a:prstGeom prst="rect">
                <a:avLst/>
              </a:prstGeom>
            </p:spPr>
            <p:txBody>
              <a:bodyPr lIns="42423" tIns="42423" rIns="42423" bIns="4242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6677663" y="50224"/>
              <a:ext cx="4575746" cy="686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8"/>
                </a:lnSpc>
              </a:pPr>
              <a:r>
                <a:rPr lang="en-US" sz="176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Open-Meteo forecast / air / marine / geocoding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50761" y="5384341"/>
            <a:ext cx="9080228" cy="4337127"/>
            <a:chOff x="0" y="0"/>
            <a:chExt cx="12106971" cy="5782836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11636399" cy="5782836"/>
              <a:chOff x="0" y="0"/>
              <a:chExt cx="2225230" cy="110585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2225230" cy="1105852"/>
              </a:xfrm>
              <a:custGeom>
                <a:avLst/>
                <a:gdLst/>
                <a:ahLst/>
                <a:cxnLst/>
                <a:rect l="l" t="t" r="r" b="b"/>
                <a:pathLst>
                  <a:path w="2225230" h="1105852">
                    <a:moveTo>
                      <a:pt x="17742" y="0"/>
                    </a:moveTo>
                    <a:lnTo>
                      <a:pt x="2207488" y="0"/>
                    </a:lnTo>
                    <a:cubicBezTo>
                      <a:pt x="2217287" y="0"/>
                      <a:pt x="2225230" y="7943"/>
                      <a:pt x="2225230" y="17742"/>
                    </a:cubicBezTo>
                    <a:lnTo>
                      <a:pt x="2225230" y="1088111"/>
                    </a:lnTo>
                    <a:cubicBezTo>
                      <a:pt x="2225230" y="1092816"/>
                      <a:pt x="2223361" y="1097329"/>
                      <a:pt x="2220033" y="1100656"/>
                    </a:cubicBezTo>
                    <a:cubicBezTo>
                      <a:pt x="2216706" y="1103983"/>
                      <a:pt x="2212193" y="1105852"/>
                      <a:pt x="2207488" y="1105852"/>
                    </a:cubicBezTo>
                    <a:lnTo>
                      <a:pt x="17742" y="1105852"/>
                    </a:lnTo>
                    <a:cubicBezTo>
                      <a:pt x="7943" y="1105852"/>
                      <a:pt x="0" y="1097909"/>
                      <a:pt x="0" y="1088111"/>
                    </a:cubicBezTo>
                    <a:lnTo>
                      <a:pt x="0" y="17742"/>
                    </a:lnTo>
                    <a:cubicBezTo>
                      <a:pt x="0" y="7943"/>
                      <a:pt x="7943" y="0"/>
                      <a:pt x="17742" y="0"/>
                    </a:cubicBezTo>
                    <a:close/>
                  </a:path>
                </a:pathLst>
              </a:custGeom>
              <a:ln w="19050" cap="sq">
                <a:solidFill>
                  <a:srgbClr val="264564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2225230" cy="1153477"/>
              </a:xfrm>
              <a:prstGeom prst="rect">
                <a:avLst/>
              </a:prstGeom>
            </p:spPr>
            <p:txBody>
              <a:bodyPr lIns="50643" tIns="50643" rIns="50643" bIns="50643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1829" y="97204"/>
              <a:ext cx="11398141" cy="5588429"/>
              <a:chOff x="0" y="0"/>
              <a:chExt cx="2179668" cy="106867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2179668" cy="1068676"/>
              </a:xfrm>
              <a:custGeom>
                <a:avLst/>
                <a:gdLst/>
                <a:ahLst/>
                <a:cxnLst/>
                <a:rect l="l" t="t" r="r" b="b"/>
                <a:pathLst>
                  <a:path w="2179668" h="1068676">
                    <a:moveTo>
                      <a:pt x="18113" y="0"/>
                    </a:moveTo>
                    <a:lnTo>
                      <a:pt x="2161555" y="0"/>
                    </a:lnTo>
                    <a:cubicBezTo>
                      <a:pt x="2166359" y="0"/>
                      <a:pt x="2170966" y="1908"/>
                      <a:pt x="2174363" y="5305"/>
                    </a:cubicBezTo>
                    <a:cubicBezTo>
                      <a:pt x="2177760" y="8702"/>
                      <a:pt x="2179668" y="13309"/>
                      <a:pt x="2179668" y="18113"/>
                    </a:cubicBezTo>
                    <a:lnTo>
                      <a:pt x="2179668" y="1050563"/>
                    </a:lnTo>
                    <a:cubicBezTo>
                      <a:pt x="2179668" y="1055367"/>
                      <a:pt x="2177760" y="1059974"/>
                      <a:pt x="2174363" y="1063371"/>
                    </a:cubicBezTo>
                    <a:cubicBezTo>
                      <a:pt x="2170966" y="1066767"/>
                      <a:pt x="2166359" y="1068676"/>
                      <a:pt x="2161555" y="1068676"/>
                    </a:cubicBezTo>
                    <a:lnTo>
                      <a:pt x="18113" y="1068676"/>
                    </a:lnTo>
                    <a:cubicBezTo>
                      <a:pt x="13309" y="1068676"/>
                      <a:pt x="8702" y="1066767"/>
                      <a:pt x="5305" y="1063371"/>
                    </a:cubicBezTo>
                    <a:cubicBezTo>
                      <a:pt x="1908" y="1059974"/>
                      <a:pt x="0" y="1055367"/>
                      <a:pt x="0" y="1050563"/>
                    </a:cubicBezTo>
                    <a:lnTo>
                      <a:pt x="0" y="18113"/>
                    </a:lnTo>
                    <a:cubicBezTo>
                      <a:pt x="0" y="13309"/>
                      <a:pt x="1908" y="8702"/>
                      <a:pt x="5305" y="5305"/>
                    </a:cubicBezTo>
                    <a:cubicBezTo>
                      <a:pt x="8702" y="1908"/>
                      <a:pt x="13309" y="0"/>
                      <a:pt x="18113" y="0"/>
                    </a:cubicBezTo>
                    <a:close/>
                  </a:path>
                </a:pathLst>
              </a:custGeom>
              <a:solidFill>
                <a:srgbClr val="C2DCFF">
                  <a:alpha val="29804"/>
                </a:srgbClr>
              </a:solidFill>
              <a:ln w="19050" cap="sq">
                <a:solidFill>
                  <a:srgbClr val="264564">
                    <a:alpha val="29804"/>
                  </a:srgbClr>
                </a:solidFill>
                <a:prstDash val="solid"/>
                <a:miter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47625"/>
                <a:ext cx="2179668" cy="1116301"/>
              </a:xfrm>
              <a:prstGeom prst="rect">
                <a:avLst/>
              </a:prstGeom>
            </p:spPr>
            <p:txBody>
              <a:bodyPr lIns="50643" tIns="50643" rIns="50643" bIns="50643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sp>
          <p:nvSpPr>
            <p:cNvPr id="57" name="AutoShape 57"/>
            <p:cNvSpPr/>
            <p:nvPr/>
          </p:nvSpPr>
          <p:spPr>
            <a:xfrm flipV="1">
              <a:off x="131974" y="1078806"/>
              <a:ext cx="11382211" cy="6559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131913" y="1789031"/>
              <a:ext cx="11398057" cy="0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131896" y="2687858"/>
              <a:ext cx="11382353" cy="0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131912" y="3234865"/>
              <a:ext cx="11382313" cy="0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131898" y="3835525"/>
              <a:ext cx="11382334" cy="0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31829" y="4508937"/>
              <a:ext cx="11382464" cy="0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31893" y="5066246"/>
              <a:ext cx="11382251" cy="0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3087952" y="97204"/>
              <a:ext cx="0" cy="5588429"/>
            </a:xfrm>
            <a:prstGeom prst="line">
              <a:avLst/>
            </a:prstGeom>
            <a:ln w="25400" cap="flat">
              <a:solidFill>
                <a:srgbClr val="26456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" name="Freeform 65"/>
            <p:cNvSpPr/>
            <p:nvPr/>
          </p:nvSpPr>
          <p:spPr>
            <a:xfrm>
              <a:off x="495663" y="247476"/>
              <a:ext cx="444334" cy="699738"/>
            </a:xfrm>
            <a:custGeom>
              <a:avLst/>
              <a:gdLst/>
              <a:ahLst/>
              <a:cxnLst/>
              <a:rect l="l" t="t" r="r" b="b"/>
              <a:pathLst>
                <a:path w="444334" h="699738">
                  <a:moveTo>
                    <a:pt x="0" y="0"/>
                  </a:moveTo>
                  <a:lnTo>
                    <a:pt x="444333" y="0"/>
                  </a:lnTo>
                  <a:lnTo>
                    <a:pt x="444333" y="699738"/>
                  </a:lnTo>
                  <a:lnTo>
                    <a:pt x="0" y="699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6" name="Freeform 66"/>
            <p:cNvSpPr/>
            <p:nvPr/>
          </p:nvSpPr>
          <p:spPr>
            <a:xfrm>
              <a:off x="407552" y="1973260"/>
              <a:ext cx="688501" cy="609323"/>
            </a:xfrm>
            <a:custGeom>
              <a:avLst/>
              <a:gdLst/>
              <a:ahLst/>
              <a:cxnLst/>
              <a:rect l="l" t="t" r="r" b="b"/>
              <a:pathLst>
                <a:path w="688501" h="609323">
                  <a:moveTo>
                    <a:pt x="0" y="0"/>
                  </a:moveTo>
                  <a:lnTo>
                    <a:pt x="688501" y="0"/>
                  </a:lnTo>
                  <a:lnTo>
                    <a:pt x="688501" y="609324"/>
                  </a:lnTo>
                  <a:lnTo>
                    <a:pt x="0" y="609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>
              <a:off x="522829" y="2716304"/>
              <a:ext cx="390000" cy="490566"/>
            </a:xfrm>
            <a:custGeom>
              <a:avLst/>
              <a:gdLst/>
              <a:ahLst/>
              <a:cxnLst/>
              <a:rect l="l" t="t" r="r" b="b"/>
              <a:pathLst>
                <a:path w="390000" h="490566">
                  <a:moveTo>
                    <a:pt x="0" y="0"/>
                  </a:moveTo>
                  <a:lnTo>
                    <a:pt x="390000" y="0"/>
                  </a:lnTo>
                  <a:lnTo>
                    <a:pt x="390000" y="490566"/>
                  </a:lnTo>
                  <a:lnTo>
                    <a:pt x="0" y="49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8" name="Freeform 68"/>
            <p:cNvSpPr/>
            <p:nvPr/>
          </p:nvSpPr>
          <p:spPr>
            <a:xfrm>
              <a:off x="526551" y="3391216"/>
              <a:ext cx="421963" cy="413524"/>
            </a:xfrm>
            <a:custGeom>
              <a:avLst/>
              <a:gdLst/>
              <a:ahLst/>
              <a:cxnLst/>
              <a:rect l="l" t="t" r="r" b="b"/>
              <a:pathLst>
                <a:path w="421963" h="413524">
                  <a:moveTo>
                    <a:pt x="0" y="0"/>
                  </a:moveTo>
                  <a:lnTo>
                    <a:pt x="421963" y="0"/>
                  </a:lnTo>
                  <a:lnTo>
                    <a:pt x="421963" y="413524"/>
                  </a:lnTo>
                  <a:lnTo>
                    <a:pt x="0" y="413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9" name="Freeform 69"/>
            <p:cNvSpPr/>
            <p:nvPr/>
          </p:nvSpPr>
          <p:spPr>
            <a:xfrm>
              <a:off x="522829" y="3953516"/>
              <a:ext cx="371898" cy="429939"/>
            </a:xfrm>
            <a:custGeom>
              <a:avLst/>
              <a:gdLst/>
              <a:ahLst/>
              <a:cxnLst/>
              <a:rect l="l" t="t" r="r" b="b"/>
              <a:pathLst>
                <a:path w="371898" h="429939">
                  <a:moveTo>
                    <a:pt x="0" y="0"/>
                  </a:moveTo>
                  <a:lnTo>
                    <a:pt x="371898" y="0"/>
                  </a:lnTo>
                  <a:lnTo>
                    <a:pt x="371898" y="429939"/>
                  </a:lnTo>
                  <a:lnTo>
                    <a:pt x="0" y="429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0" name="Freeform 70"/>
            <p:cNvSpPr/>
            <p:nvPr/>
          </p:nvSpPr>
          <p:spPr>
            <a:xfrm>
              <a:off x="526551" y="4580024"/>
              <a:ext cx="450504" cy="479259"/>
            </a:xfrm>
            <a:custGeom>
              <a:avLst/>
              <a:gdLst/>
              <a:ahLst/>
              <a:cxnLst/>
              <a:rect l="l" t="t" r="r" b="b"/>
              <a:pathLst>
                <a:path w="450504" h="479259">
                  <a:moveTo>
                    <a:pt x="0" y="0"/>
                  </a:moveTo>
                  <a:lnTo>
                    <a:pt x="450503" y="0"/>
                  </a:lnTo>
                  <a:lnTo>
                    <a:pt x="450503" y="479259"/>
                  </a:lnTo>
                  <a:lnTo>
                    <a:pt x="0" y="47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1" name="Freeform 71"/>
            <p:cNvSpPr/>
            <p:nvPr/>
          </p:nvSpPr>
          <p:spPr>
            <a:xfrm>
              <a:off x="414531" y="5150508"/>
              <a:ext cx="606596" cy="454947"/>
            </a:xfrm>
            <a:custGeom>
              <a:avLst/>
              <a:gdLst/>
              <a:ahLst/>
              <a:cxnLst/>
              <a:rect l="l" t="t" r="r" b="b"/>
              <a:pathLst>
                <a:path w="606596" h="454947">
                  <a:moveTo>
                    <a:pt x="0" y="0"/>
                  </a:moveTo>
                  <a:lnTo>
                    <a:pt x="606596" y="0"/>
                  </a:lnTo>
                  <a:lnTo>
                    <a:pt x="606596" y="454947"/>
                  </a:lnTo>
                  <a:lnTo>
                    <a:pt x="0" y="454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2" name="Freeform 72"/>
            <p:cNvSpPr/>
            <p:nvPr/>
          </p:nvSpPr>
          <p:spPr>
            <a:xfrm>
              <a:off x="402941" y="1144732"/>
              <a:ext cx="629778" cy="551055"/>
            </a:xfrm>
            <a:custGeom>
              <a:avLst/>
              <a:gdLst/>
              <a:ahLst/>
              <a:cxnLst/>
              <a:rect l="l" t="t" r="r" b="b"/>
              <a:pathLst>
                <a:path w="629778" h="551055">
                  <a:moveTo>
                    <a:pt x="0" y="0"/>
                  </a:moveTo>
                  <a:lnTo>
                    <a:pt x="629777" y="0"/>
                  </a:lnTo>
                  <a:lnTo>
                    <a:pt x="629777" y="551056"/>
                  </a:lnTo>
                  <a:lnTo>
                    <a:pt x="0" y="551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1367279" y="365137"/>
              <a:ext cx="1208328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MOBILE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320442" y="1242679"/>
              <a:ext cx="1590707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BACKEND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67279" y="2055166"/>
              <a:ext cx="1272168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ENGINE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367279" y="2729174"/>
              <a:ext cx="1420834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STORAGE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367279" y="3314240"/>
              <a:ext cx="1145371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CACHE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13729" y="3944834"/>
              <a:ext cx="1887819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LIVE ALERTS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320442" y="4533814"/>
              <a:ext cx="868803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AUTH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367279" y="5145773"/>
              <a:ext cx="1272168" cy="4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9"/>
                </a:lnSpc>
                <a:spcBef>
                  <a:spcPct val="0"/>
                </a:spcBef>
              </a:pPr>
              <a:r>
                <a:rPr lang="en-US" sz="1849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DEPLOY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324084" y="297082"/>
              <a:ext cx="7199183" cy="680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Flutter 3.47 (Android/iOS/web) · Riverpod · go_router · Dio · flutter_map · fl_chart · ARB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330953" y="1271254"/>
              <a:ext cx="8776018" cy="364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FastAPI · Python 3.13 · Pydantic v2 · httpx · SQLAlchemy 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324084" y="1878139"/>
              <a:ext cx="8108041" cy="680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Pure Python, no I/O — catalog · context · scoring · explain · learning · 33 builders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324084" y="2830847"/>
              <a:ext cx="7847903" cy="364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SQLite default → PostgreSQL via DATABASE_URL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324084" y="3408027"/>
              <a:ext cx="6315863" cy="364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In-process TTL → Redis via REDIS_URL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324084" y="3985208"/>
              <a:ext cx="8190060" cy="364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WebSocket /ws/alerts (FCM = production transport, designed)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324084" y="4562389"/>
              <a:ext cx="7075477" cy="364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Guest token + demo OTP, JWT HS256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324084" y="5139569"/>
              <a:ext cx="8737363" cy="364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32"/>
                </a:lnSpc>
              </a:pPr>
              <a:r>
                <a:rPr lang="en-US" sz="1756" b="1">
                  <a:solidFill>
                    <a:srgbClr val="000000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Docker · infra/render.yaml · APK via GitHub Actions artifact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144000" y="4665039"/>
            <a:ext cx="8983413" cy="437341"/>
            <a:chOff x="0" y="0"/>
            <a:chExt cx="642011" cy="31255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42011" cy="31255"/>
            </a:xfrm>
            <a:custGeom>
              <a:avLst/>
              <a:gdLst/>
              <a:ahLst/>
              <a:cxnLst/>
              <a:rect l="l" t="t" r="r" b="b"/>
              <a:pathLst>
                <a:path w="642011" h="31255">
                  <a:moveTo>
                    <a:pt x="6733" y="0"/>
                  </a:moveTo>
                  <a:lnTo>
                    <a:pt x="635278" y="0"/>
                  </a:lnTo>
                  <a:cubicBezTo>
                    <a:pt x="637064" y="0"/>
                    <a:pt x="638776" y="709"/>
                    <a:pt x="640039" y="1972"/>
                  </a:cubicBezTo>
                  <a:cubicBezTo>
                    <a:pt x="641301" y="3235"/>
                    <a:pt x="642011" y="4947"/>
                    <a:pt x="642011" y="6733"/>
                  </a:cubicBezTo>
                  <a:lnTo>
                    <a:pt x="642011" y="24522"/>
                  </a:lnTo>
                  <a:cubicBezTo>
                    <a:pt x="642011" y="26308"/>
                    <a:pt x="641301" y="28021"/>
                    <a:pt x="640039" y="29283"/>
                  </a:cubicBezTo>
                  <a:cubicBezTo>
                    <a:pt x="638776" y="30546"/>
                    <a:pt x="637064" y="31255"/>
                    <a:pt x="635278" y="31255"/>
                  </a:cubicBezTo>
                  <a:lnTo>
                    <a:pt x="6733" y="31255"/>
                  </a:lnTo>
                  <a:cubicBezTo>
                    <a:pt x="4947" y="31255"/>
                    <a:pt x="3235" y="30546"/>
                    <a:pt x="1972" y="29283"/>
                  </a:cubicBezTo>
                  <a:cubicBezTo>
                    <a:pt x="709" y="28021"/>
                    <a:pt x="0" y="26308"/>
                    <a:pt x="0" y="24522"/>
                  </a:cubicBezTo>
                  <a:lnTo>
                    <a:pt x="0" y="6733"/>
                  </a:lnTo>
                  <a:cubicBezTo>
                    <a:pt x="0" y="4947"/>
                    <a:pt x="709" y="3235"/>
                    <a:pt x="1972" y="1972"/>
                  </a:cubicBezTo>
                  <a:cubicBezTo>
                    <a:pt x="3235" y="709"/>
                    <a:pt x="4947" y="0"/>
                    <a:pt x="6733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642011" cy="69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126768" y="4709522"/>
            <a:ext cx="4942568" cy="350720"/>
            <a:chOff x="0" y="0"/>
            <a:chExt cx="708413" cy="5026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08413" cy="50268"/>
            </a:xfrm>
            <a:custGeom>
              <a:avLst/>
              <a:gdLst/>
              <a:ahLst/>
              <a:cxnLst/>
              <a:rect l="l" t="t" r="r" b="b"/>
              <a:pathLst>
                <a:path w="708413" h="50268">
                  <a:moveTo>
                    <a:pt x="12237" y="0"/>
                  </a:moveTo>
                  <a:lnTo>
                    <a:pt x="696175" y="0"/>
                  </a:lnTo>
                  <a:cubicBezTo>
                    <a:pt x="702934" y="0"/>
                    <a:pt x="708413" y="5479"/>
                    <a:pt x="708413" y="12237"/>
                  </a:cubicBezTo>
                  <a:lnTo>
                    <a:pt x="708413" y="38031"/>
                  </a:lnTo>
                  <a:cubicBezTo>
                    <a:pt x="708413" y="41276"/>
                    <a:pt x="707123" y="44389"/>
                    <a:pt x="704828" y="46684"/>
                  </a:cubicBezTo>
                  <a:cubicBezTo>
                    <a:pt x="702534" y="48979"/>
                    <a:pt x="699421" y="50268"/>
                    <a:pt x="696175" y="50268"/>
                  </a:cubicBezTo>
                  <a:lnTo>
                    <a:pt x="12237" y="50268"/>
                  </a:lnTo>
                  <a:cubicBezTo>
                    <a:pt x="5479" y="50268"/>
                    <a:pt x="0" y="44789"/>
                    <a:pt x="0" y="38031"/>
                  </a:cubicBezTo>
                  <a:lnTo>
                    <a:pt x="0" y="12237"/>
                  </a:lnTo>
                  <a:cubicBezTo>
                    <a:pt x="0" y="8992"/>
                    <a:pt x="1289" y="5879"/>
                    <a:pt x="3584" y="3584"/>
                  </a:cubicBezTo>
                  <a:cubicBezTo>
                    <a:pt x="5879" y="1289"/>
                    <a:pt x="8992" y="0"/>
                    <a:pt x="12237" y="0"/>
                  </a:cubicBezTo>
                  <a:close/>
                </a:path>
              </a:pathLst>
            </a:custGeom>
            <a:solidFill>
              <a:srgbClr val="FFFFFF">
                <a:alpha val="38824"/>
              </a:srgbClr>
            </a:solid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708413" cy="88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sp>
        <p:nvSpPr>
          <p:cNvPr id="95" name="Freeform 95"/>
          <p:cNvSpPr/>
          <p:nvPr/>
        </p:nvSpPr>
        <p:spPr>
          <a:xfrm>
            <a:off x="10290163" y="4722479"/>
            <a:ext cx="322460" cy="322460"/>
          </a:xfrm>
          <a:custGeom>
            <a:avLst/>
            <a:gdLst/>
            <a:ahLst/>
            <a:cxnLst/>
            <a:rect l="l" t="t" r="r" b="b"/>
            <a:pathLst>
              <a:path w="322460" h="322460">
                <a:moveTo>
                  <a:pt x="0" y="0"/>
                </a:moveTo>
                <a:lnTo>
                  <a:pt x="322460" y="0"/>
                </a:lnTo>
                <a:lnTo>
                  <a:pt x="322460" y="322461"/>
                </a:lnTo>
                <a:lnTo>
                  <a:pt x="0" y="322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96" name="Group 96"/>
          <p:cNvGrpSpPr/>
          <p:nvPr/>
        </p:nvGrpSpPr>
        <p:grpSpPr>
          <a:xfrm>
            <a:off x="9195725" y="2071937"/>
            <a:ext cx="354180" cy="354180"/>
            <a:chOff x="0" y="0"/>
            <a:chExt cx="812800" cy="81280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BF6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9304884" y="2048294"/>
            <a:ext cx="135862" cy="353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sz="203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9144000" y="1565037"/>
            <a:ext cx="8983413" cy="2957127"/>
            <a:chOff x="0" y="-57150"/>
            <a:chExt cx="11977884" cy="3942835"/>
          </a:xfrm>
        </p:grpSpPr>
        <p:grpSp>
          <p:nvGrpSpPr>
            <p:cNvPr id="101" name="Group 101"/>
            <p:cNvGrpSpPr/>
            <p:nvPr/>
          </p:nvGrpSpPr>
          <p:grpSpPr>
            <a:xfrm>
              <a:off x="2435703" y="560431"/>
              <a:ext cx="2301741" cy="3325254"/>
              <a:chOff x="0" y="0"/>
              <a:chExt cx="115423" cy="166748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115423" cy="166748"/>
              </a:xfrm>
              <a:custGeom>
                <a:avLst/>
                <a:gdLst/>
                <a:ahLst/>
                <a:cxnLst/>
                <a:rect l="l" t="t" r="r" b="b"/>
                <a:pathLst>
                  <a:path w="115423" h="166748">
                    <a:moveTo>
                      <a:pt x="35037" y="0"/>
                    </a:moveTo>
                    <a:lnTo>
                      <a:pt x="80387" y="0"/>
                    </a:lnTo>
                    <a:cubicBezTo>
                      <a:pt x="99737" y="0"/>
                      <a:pt x="115423" y="15686"/>
                      <a:pt x="115423" y="35037"/>
                    </a:cubicBezTo>
                    <a:lnTo>
                      <a:pt x="115423" y="131712"/>
                    </a:lnTo>
                    <a:cubicBezTo>
                      <a:pt x="115423" y="151062"/>
                      <a:pt x="99737" y="166748"/>
                      <a:pt x="80387" y="166748"/>
                    </a:cubicBezTo>
                    <a:lnTo>
                      <a:pt x="35037" y="166748"/>
                    </a:lnTo>
                    <a:cubicBezTo>
                      <a:pt x="15686" y="166748"/>
                      <a:pt x="0" y="151062"/>
                      <a:pt x="0" y="131712"/>
                    </a:cubicBezTo>
                    <a:lnTo>
                      <a:pt x="0" y="35037"/>
                    </a:lnTo>
                    <a:cubicBezTo>
                      <a:pt x="0" y="15686"/>
                      <a:pt x="15686" y="0"/>
                      <a:pt x="35037" y="0"/>
                    </a:cubicBezTo>
                    <a:close/>
                  </a:path>
                </a:pathLst>
              </a:custGeom>
              <a:solidFill>
                <a:srgbClr val="C2E9FF"/>
              </a:solidFill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0" y="-38100"/>
                <a:ext cx="115423" cy="2048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4841239" y="560431"/>
              <a:ext cx="2346991" cy="3325254"/>
              <a:chOff x="0" y="0"/>
              <a:chExt cx="117692" cy="166748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117692" cy="166748"/>
              </a:xfrm>
              <a:custGeom>
                <a:avLst/>
                <a:gdLst/>
                <a:ahLst/>
                <a:cxnLst/>
                <a:rect l="l" t="t" r="r" b="b"/>
                <a:pathLst>
                  <a:path w="117692" h="166748">
                    <a:moveTo>
                      <a:pt x="34361" y="0"/>
                    </a:moveTo>
                    <a:lnTo>
                      <a:pt x="83331" y="0"/>
                    </a:lnTo>
                    <a:cubicBezTo>
                      <a:pt x="92444" y="0"/>
                      <a:pt x="101184" y="3620"/>
                      <a:pt x="107628" y="10064"/>
                    </a:cubicBezTo>
                    <a:cubicBezTo>
                      <a:pt x="114072" y="16508"/>
                      <a:pt x="117692" y="25248"/>
                      <a:pt x="117692" y="34361"/>
                    </a:cubicBezTo>
                    <a:lnTo>
                      <a:pt x="117692" y="132387"/>
                    </a:lnTo>
                    <a:cubicBezTo>
                      <a:pt x="117692" y="141500"/>
                      <a:pt x="114072" y="150240"/>
                      <a:pt x="107628" y="156684"/>
                    </a:cubicBezTo>
                    <a:cubicBezTo>
                      <a:pt x="101184" y="163128"/>
                      <a:pt x="92444" y="166748"/>
                      <a:pt x="83331" y="166748"/>
                    </a:cubicBezTo>
                    <a:lnTo>
                      <a:pt x="34361" y="166748"/>
                    </a:lnTo>
                    <a:cubicBezTo>
                      <a:pt x="25248" y="166748"/>
                      <a:pt x="16508" y="163128"/>
                      <a:pt x="10064" y="156684"/>
                    </a:cubicBezTo>
                    <a:cubicBezTo>
                      <a:pt x="3620" y="150240"/>
                      <a:pt x="0" y="141500"/>
                      <a:pt x="0" y="132387"/>
                    </a:cubicBezTo>
                    <a:lnTo>
                      <a:pt x="0" y="34361"/>
                    </a:lnTo>
                    <a:cubicBezTo>
                      <a:pt x="0" y="25248"/>
                      <a:pt x="3620" y="16508"/>
                      <a:pt x="10064" y="10064"/>
                    </a:cubicBezTo>
                    <a:cubicBezTo>
                      <a:pt x="16508" y="3620"/>
                      <a:pt x="25248" y="0"/>
                      <a:pt x="34361" y="0"/>
                    </a:cubicBezTo>
                    <a:close/>
                  </a:path>
                </a:pathLst>
              </a:custGeom>
              <a:solidFill>
                <a:srgbClr val="E4FFC2">
                  <a:alpha val="60000"/>
                </a:srgbClr>
              </a:solidFill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0" y="-38100"/>
                <a:ext cx="117692" cy="2048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7304999" y="560431"/>
              <a:ext cx="2241406" cy="3325254"/>
              <a:chOff x="0" y="0"/>
              <a:chExt cx="112398" cy="166748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112398" cy="166748"/>
              </a:xfrm>
              <a:custGeom>
                <a:avLst/>
                <a:gdLst/>
                <a:ahLst/>
                <a:cxnLst/>
                <a:rect l="l" t="t" r="r" b="b"/>
                <a:pathLst>
                  <a:path w="112398" h="166748">
                    <a:moveTo>
                      <a:pt x="35980" y="0"/>
                    </a:moveTo>
                    <a:lnTo>
                      <a:pt x="76418" y="0"/>
                    </a:lnTo>
                    <a:cubicBezTo>
                      <a:pt x="96289" y="0"/>
                      <a:pt x="112398" y="16109"/>
                      <a:pt x="112398" y="35980"/>
                    </a:cubicBezTo>
                    <a:lnTo>
                      <a:pt x="112398" y="130769"/>
                    </a:lnTo>
                    <a:cubicBezTo>
                      <a:pt x="112398" y="140311"/>
                      <a:pt x="108607" y="149463"/>
                      <a:pt x="101859" y="156210"/>
                    </a:cubicBezTo>
                    <a:cubicBezTo>
                      <a:pt x="95112" y="162958"/>
                      <a:pt x="85960" y="166748"/>
                      <a:pt x="76418" y="166748"/>
                    </a:cubicBezTo>
                    <a:lnTo>
                      <a:pt x="35980" y="166748"/>
                    </a:lnTo>
                    <a:cubicBezTo>
                      <a:pt x="16109" y="166748"/>
                      <a:pt x="0" y="150640"/>
                      <a:pt x="0" y="130769"/>
                    </a:cubicBezTo>
                    <a:lnTo>
                      <a:pt x="0" y="35980"/>
                    </a:lnTo>
                    <a:cubicBezTo>
                      <a:pt x="0" y="16109"/>
                      <a:pt x="16109" y="0"/>
                      <a:pt x="35980" y="0"/>
                    </a:cubicBezTo>
                    <a:close/>
                  </a:path>
                </a:pathLst>
              </a:custGeom>
              <a:solidFill>
                <a:srgbClr val="FFD6D6">
                  <a:alpha val="60000"/>
                </a:srgbClr>
              </a:solidFill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0" y="-38100"/>
                <a:ext cx="112398" cy="2048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9650201" y="560431"/>
              <a:ext cx="2327683" cy="3325254"/>
              <a:chOff x="0" y="0"/>
              <a:chExt cx="116724" cy="166748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116724" cy="166748"/>
              </a:xfrm>
              <a:custGeom>
                <a:avLst/>
                <a:gdLst/>
                <a:ahLst/>
                <a:cxnLst/>
                <a:rect l="l" t="t" r="r" b="b"/>
                <a:pathLst>
                  <a:path w="116724" h="166748">
                    <a:moveTo>
                      <a:pt x="34646" y="0"/>
                    </a:moveTo>
                    <a:lnTo>
                      <a:pt x="82078" y="0"/>
                    </a:lnTo>
                    <a:cubicBezTo>
                      <a:pt x="91267" y="0"/>
                      <a:pt x="100079" y="3650"/>
                      <a:pt x="106576" y="10148"/>
                    </a:cubicBezTo>
                    <a:cubicBezTo>
                      <a:pt x="113074" y="16645"/>
                      <a:pt x="116724" y="25457"/>
                      <a:pt x="116724" y="34646"/>
                    </a:cubicBezTo>
                    <a:lnTo>
                      <a:pt x="116724" y="132102"/>
                    </a:lnTo>
                    <a:cubicBezTo>
                      <a:pt x="116724" y="141291"/>
                      <a:pt x="113074" y="150103"/>
                      <a:pt x="106576" y="156601"/>
                    </a:cubicBezTo>
                    <a:cubicBezTo>
                      <a:pt x="100079" y="163098"/>
                      <a:pt x="91267" y="166748"/>
                      <a:pt x="82078" y="166748"/>
                    </a:cubicBezTo>
                    <a:lnTo>
                      <a:pt x="34646" y="166748"/>
                    </a:lnTo>
                    <a:cubicBezTo>
                      <a:pt x="25457" y="166748"/>
                      <a:pt x="16645" y="163098"/>
                      <a:pt x="10148" y="156601"/>
                    </a:cubicBezTo>
                    <a:cubicBezTo>
                      <a:pt x="3650" y="150103"/>
                      <a:pt x="0" y="141291"/>
                      <a:pt x="0" y="132102"/>
                    </a:cubicBezTo>
                    <a:lnTo>
                      <a:pt x="0" y="34646"/>
                    </a:lnTo>
                    <a:cubicBezTo>
                      <a:pt x="0" y="25457"/>
                      <a:pt x="3650" y="16645"/>
                      <a:pt x="10148" y="10148"/>
                    </a:cubicBezTo>
                    <a:cubicBezTo>
                      <a:pt x="16645" y="3650"/>
                      <a:pt x="25457" y="0"/>
                      <a:pt x="34646" y="0"/>
                    </a:cubicBezTo>
                    <a:close/>
                  </a:path>
                </a:pathLst>
              </a:custGeom>
              <a:solidFill>
                <a:srgbClr val="E2CBF6">
                  <a:alpha val="60000"/>
                </a:srgbClr>
              </a:solidFill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0" y="-38100"/>
                <a:ext cx="116724" cy="2048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0" y="560431"/>
              <a:ext cx="2331908" cy="3325254"/>
              <a:chOff x="0" y="0"/>
              <a:chExt cx="116936" cy="166748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116936" cy="166748"/>
              </a:xfrm>
              <a:custGeom>
                <a:avLst/>
                <a:gdLst/>
                <a:ahLst/>
                <a:cxnLst/>
                <a:rect l="l" t="t" r="r" b="b"/>
                <a:pathLst>
                  <a:path w="116936" h="166748">
                    <a:moveTo>
                      <a:pt x="34583" y="0"/>
                    </a:moveTo>
                    <a:lnTo>
                      <a:pt x="82353" y="0"/>
                    </a:lnTo>
                    <a:cubicBezTo>
                      <a:pt x="91525" y="0"/>
                      <a:pt x="100321" y="3644"/>
                      <a:pt x="106807" y="10129"/>
                    </a:cubicBezTo>
                    <a:cubicBezTo>
                      <a:pt x="113292" y="16615"/>
                      <a:pt x="116936" y="25411"/>
                      <a:pt x="116936" y="34583"/>
                    </a:cubicBezTo>
                    <a:lnTo>
                      <a:pt x="116936" y="132165"/>
                    </a:lnTo>
                    <a:cubicBezTo>
                      <a:pt x="116936" y="141337"/>
                      <a:pt x="113292" y="150133"/>
                      <a:pt x="106807" y="156619"/>
                    </a:cubicBezTo>
                    <a:cubicBezTo>
                      <a:pt x="100321" y="163105"/>
                      <a:pt x="91525" y="166748"/>
                      <a:pt x="82353" y="166748"/>
                    </a:cubicBezTo>
                    <a:lnTo>
                      <a:pt x="34583" y="166748"/>
                    </a:lnTo>
                    <a:cubicBezTo>
                      <a:pt x="25411" y="166748"/>
                      <a:pt x="16615" y="163105"/>
                      <a:pt x="10129" y="156619"/>
                    </a:cubicBezTo>
                    <a:cubicBezTo>
                      <a:pt x="3644" y="150133"/>
                      <a:pt x="0" y="141337"/>
                      <a:pt x="0" y="132165"/>
                    </a:cubicBezTo>
                    <a:lnTo>
                      <a:pt x="0" y="34583"/>
                    </a:lnTo>
                    <a:cubicBezTo>
                      <a:pt x="0" y="25411"/>
                      <a:pt x="3644" y="16615"/>
                      <a:pt x="10129" y="10129"/>
                    </a:cubicBezTo>
                    <a:cubicBezTo>
                      <a:pt x="16615" y="3644"/>
                      <a:pt x="25411" y="0"/>
                      <a:pt x="34583" y="0"/>
                    </a:cubicBezTo>
                    <a:close/>
                  </a:path>
                </a:pathLst>
              </a:custGeom>
              <a:solidFill>
                <a:srgbClr val="FFC2E8">
                  <a:alpha val="60000"/>
                </a:srgbClr>
              </a:solidFill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0" y="-38100"/>
                <a:ext cx="116936" cy="2048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9766011" y="1286249"/>
              <a:ext cx="2118133" cy="951116"/>
              <a:chOff x="0" y="0"/>
              <a:chExt cx="164422" cy="73831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164422" cy="73831"/>
              </a:xfrm>
              <a:custGeom>
                <a:avLst/>
                <a:gdLst/>
                <a:ahLst/>
                <a:cxnLst/>
                <a:rect l="l" t="t" r="r" b="b"/>
                <a:pathLst>
                  <a:path w="164422" h="73831">
                    <a:moveTo>
                      <a:pt x="36916" y="0"/>
                    </a:moveTo>
                    <a:lnTo>
                      <a:pt x="127506" y="0"/>
                    </a:lnTo>
                    <a:cubicBezTo>
                      <a:pt x="137297" y="0"/>
                      <a:pt x="146686" y="3889"/>
                      <a:pt x="153609" y="10812"/>
                    </a:cubicBezTo>
                    <a:cubicBezTo>
                      <a:pt x="160532" y="17735"/>
                      <a:pt x="164422" y="27125"/>
                      <a:pt x="164422" y="36916"/>
                    </a:cubicBezTo>
                    <a:lnTo>
                      <a:pt x="164422" y="36916"/>
                    </a:lnTo>
                    <a:cubicBezTo>
                      <a:pt x="164422" y="46706"/>
                      <a:pt x="160532" y="56096"/>
                      <a:pt x="153609" y="63019"/>
                    </a:cubicBezTo>
                    <a:cubicBezTo>
                      <a:pt x="146686" y="69942"/>
                      <a:pt x="137297" y="73831"/>
                      <a:pt x="127506" y="73831"/>
                    </a:cubicBezTo>
                    <a:lnTo>
                      <a:pt x="36916" y="73831"/>
                    </a:lnTo>
                    <a:cubicBezTo>
                      <a:pt x="27125" y="73831"/>
                      <a:pt x="17735" y="69942"/>
                      <a:pt x="10812" y="63019"/>
                    </a:cubicBezTo>
                    <a:cubicBezTo>
                      <a:pt x="3889" y="56096"/>
                      <a:pt x="0" y="46706"/>
                      <a:pt x="0" y="36916"/>
                    </a:cubicBezTo>
                    <a:lnTo>
                      <a:pt x="0" y="36916"/>
                    </a:lnTo>
                    <a:cubicBezTo>
                      <a:pt x="0" y="27125"/>
                      <a:pt x="3889" y="17735"/>
                      <a:pt x="10812" y="10812"/>
                    </a:cubicBezTo>
                    <a:cubicBezTo>
                      <a:pt x="17735" y="3889"/>
                      <a:pt x="27125" y="0"/>
                      <a:pt x="36916" y="0"/>
                    </a:cubicBezTo>
                    <a:close/>
                  </a:path>
                </a:pathLst>
              </a:custGeom>
              <a:solidFill>
                <a:srgbClr val="CEA8F0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0" y="-38100"/>
                <a:ext cx="164422" cy="1119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7418736" y="1961905"/>
              <a:ext cx="2012151" cy="1781061"/>
              <a:chOff x="0" y="0"/>
              <a:chExt cx="156195" cy="138256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156195" cy="138256"/>
              </a:xfrm>
              <a:custGeom>
                <a:avLst/>
                <a:gdLst/>
                <a:ahLst/>
                <a:cxnLst/>
                <a:rect l="l" t="t" r="r" b="b"/>
                <a:pathLst>
                  <a:path w="156195" h="138256">
                    <a:moveTo>
                      <a:pt x="40079" y="0"/>
                    </a:moveTo>
                    <a:lnTo>
                      <a:pt x="116116" y="0"/>
                    </a:lnTo>
                    <a:cubicBezTo>
                      <a:pt x="138251" y="0"/>
                      <a:pt x="156195" y="17944"/>
                      <a:pt x="156195" y="40079"/>
                    </a:cubicBezTo>
                    <a:lnTo>
                      <a:pt x="156195" y="98177"/>
                    </a:lnTo>
                    <a:cubicBezTo>
                      <a:pt x="156195" y="120312"/>
                      <a:pt x="138251" y="138256"/>
                      <a:pt x="116116" y="138256"/>
                    </a:cubicBezTo>
                    <a:lnTo>
                      <a:pt x="40079" y="138256"/>
                    </a:lnTo>
                    <a:cubicBezTo>
                      <a:pt x="17944" y="138256"/>
                      <a:pt x="0" y="120312"/>
                      <a:pt x="0" y="98177"/>
                    </a:cubicBezTo>
                    <a:lnTo>
                      <a:pt x="0" y="40079"/>
                    </a:lnTo>
                    <a:cubicBezTo>
                      <a:pt x="0" y="17944"/>
                      <a:pt x="17944" y="0"/>
                      <a:pt x="40079" y="0"/>
                    </a:cubicBezTo>
                    <a:close/>
                  </a:path>
                </a:pathLst>
              </a:custGeom>
              <a:solidFill>
                <a:srgbClr val="FFADAD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0" y="-38100"/>
                <a:ext cx="156195" cy="1763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4932059" y="3135806"/>
              <a:ext cx="2113452" cy="546274"/>
              <a:chOff x="0" y="0"/>
              <a:chExt cx="164058" cy="42405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164058" cy="42405"/>
              </a:xfrm>
              <a:custGeom>
                <a:avLst/>
                <a:gdLst/>
                <a:ahLst/>
                <a:cxnLst/>
                <a:rect l="l" t="t" r="r" b="b"/>
                <a:pathLst>
                  <a:path w="164058" h="42405">
                    <a:moveTo>
                      <a:pt x="21202" y="0"/>
                    </a:moveTo>
                    <a:lnTo>
                      <a:pt x="142856" y="0"/>
                    </a:lnTo>
                    <a:cubicBezTo>
                      <a:pt x="154566" y="0"/>
                      <a:pt x="164058" y="9493"/>
                      <a:pt x="164058" y="21202"/>
                    </a:cubicBezTo>
                    <a:lnTo>
                      <a:pt x="164058" y="21202"/>
                    </a:lnTo>
                    <a:cubicBezTo>
                      <a:pt x="164058" y="32912"/>
                      <a:pt x="154566" y="42405"/>
                      <a:pt x="142856" y="42405"/>
                    </a:cubicBezTo>
                    <a:lnTo>
                      <a:pt x="21202" y="42405"/>
                    </a:lnTo>
                    <a:cubicBezTo>
                      <a:pt x="9493" y="42405"/>
                      <a:pt x="0" y="32912"/>
                      <a:pt x="0" y="21202"/>
                    </a:cubicBezTo>
                    <a:lnTo>
                      <a:pt x="0" y="21202"/>
                    </a:lnTo>
                    <a:cubicBezTo>
                      <a:pt x="0" y="9493"/>
                      <a:pt x="9493" y="0"/>
                      <a:pt x="21202" y="0"/>
                    </a:cubicBezTo>
                    <a:close/>
                  </a:path>
                </a:pathLst>
              </a:custGeom>
              <a:solidFill>
                <a:srgbClr val="D3FF99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0" y="-38100"/>
                <a:ext cx="164058" cy="805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4932059" y="1286249"/>
              <a:ext cx="2113452" cy="642938"/>
              <a:chOff x="0" y="0"/>
              <a:chExt cx="164058" cy="49909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0" y="0"/>
                <a:ext cx="164058" cy="49909"/>
              </a:xfrm>
              <a:custGeom>
                <a:avLst/>
                <a:gdLst/>
                <a:ahLst/>
                <a:cxnLst/>
                <a:rect l="l" t="t" r="r" b="b"/>
                <a:pathLst>
                  <a:path w="164058" h="49909">
                    <a:moveTo>
                      <a:pt x="24954" y="0"/>
                    </a:moveTo>
                    <a:lnTo>
                      <a:pt x="139104" y="0"/>
                    </a:lnTo>
                    <a:cubicBezTo>
                      <a:pt x="152886" y="0"/>
                      <a:pt x="164058" y="11172"/>
                      <a:pt x="164058" y="24954"/>
                    </a:cubicBezTo>
                    <a:lnTo>
                      <a:pt x="164058" y="24954"/>
                    </a:lnTo>
                    <a:cubicBezTo>
                      <a:pt x="164058" y="31573"/>
                      <a:pt x="161429" y="37920"/>
                      <a:pt x="156749" y="42600"/>
                    </a:cubicBezTo>
                    <a:cubicBezTo>
                      <a:pt x="152070" y="47279"/>
                      <a:pt x="145722" y="49909"/>
                      <a:pt x="139104" y="49909"/>
                    </a:cubicBezTo>
                    <a:lnTo>
                      <a:pt x="24954" y="49909"/>
                    </a:lnTo>
                    <a:cubicBezTo>
                      <a:pt x="11172" y="49909"/>
                      <a:pt x="0" y="38736"/>
                      <a:pt x="0" y="24954"/>
                    </a:cubicBezTo>
                    <a:lnTo>
                      <a:pt x="0" y="24954"/>
                    </a:lnTo>
                    <a:cubicBezTo>
                      <a:pt x="0" y="11172"/>
                      <a:pt x="11172" y="0"/>
                      <a:pt x="24954" y="0"/>
                    </a:cubicBezTo>
                    <a:close/>
                  </a:path>
                </a:pathLst>
              </a:custGeom>
              <a:solidFill>
                <a:srgbClr val="D3FF99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0" y="-38100"/>
                <a:ext cx="164058" cy="880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2531965" y="1251168"/>
              <a:ext cx="2088708" cy="762162"/>
              <a:chOff x="0" y="0"/>
              <a:chExt cx="162138" cy="59163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162138" cy="59163"/>
              </a:xfrm>
              <a:custGeom>
                <a:avLst/>
                <a:gdLst/>
                <a:ahLst/>
                <a:cxnLst/>
                <a:rect l="l" t="t" r="r" b="b"/>
                <a:pathLst>
                  <a:path w="162138" h="59163">
                    <a:moveTo>
                      <a:pt x="29582" y="0"/>
                    </a:moveTo>
                    <a:lnTo>
                      <a:pt x="132556" y="0"/>
                    </a:lnTo>
                    <a:cubicBezTo>
                      <a:pt x="140401" y="0"/>
                      <a:pt x="147926" y="3117"/>
                      <a:pt x="153473" y="8664"/>
                    </a:cubicBezTo>
                    <a:cubicBezTo>
                      <a:pt x="159021" y="14212"/>
                      <a:pt x="162138" y="21736"/>
                      <a:pt x="162138" y="29582"/>
                    </a:cubicBezTo>
                    <a:lnTo>
                      <a:pt x="162138" y="29582"/>
                    </a:lnTo>
                    <a:cubicBezTo>
                      <a:pt x="162138" y="37427"/>
                      <a:pt x="159021" y="44951"/>
                      <a:pt x="153473" y="50499"/>
                    </a:cubicBezTo>
                    <a:cubicBezTo>
                      <a:pt x="147926" y="56047"/>
                      <a:pt x="140401" y="59163"/>
                      <a:pt x="132556" y="59163"/>
                    </a:cubicBezTo>
                    <a:lnTo>
                      <a:pt x="29582" y="59163"/>
                    </a:lnTo>
                    <a:cubicBezTo>
                      <a:pt x="21736" y="59163"/>
                      <a:pt x="14212" y="56047"/>
                      <a:pt x="8664" y="50499"/>
                    </a:cubicBezTo>
                    <a:cubicBezTo>
                      <a:pt x="3117" y="44951"/>
                      <a:pt x="0" y="37427"/>
                      <a:pt x="0" y="29582"/>
                    </a:cubicBezTo>
                    <a:lnTo>
                      <a:pt x="0" y="29582"/>
                    </a:lnTo>
                    <a:cubicBezTo>
                      <a:pt x="0" y="21736"/>
                      <a:pt x="3117" y="14212"/>
                      <a:pt x="8664" y="8664"/>
                    </a:cubicBezTo>
                    <a:cubicBezTo>
                      <a:pt x="14212" y="3117"/>
                      <a:pt x="21736" y="0"/>
                      <a:pt x="29582" y="0"/>
                    </a:cubicBezTo>
                    <a:close/>
                  </a:path>
                </a:pathLst>
              </a:custGeom>
              <a:solidFill>
                <a:srgbClr val="C2DCFF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0" y="-38100"/>
                <a:ext cx="162138" cy="972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123514" y="2332970"/>
              <a:ext cx="2084879" cy="1409997"/>
              <a:chOff x="0" y="0"/>
              <a:chExt cx="161840" cy="109452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161840" cy="109452"/>
              </a:xfrm>
              <a:custGeom>
                <a:avLst/>
                <a:gdLst/>
                <a:ahLst/>
                <a:cxnLst/>
                <a:rect l="l" t="t" r="r" b="b"/>
                <a:pathLst>
                  <a:path w="161840" h="109452">
                    <a:moveTo>
                      <a:pt x="38681" y="0"/>
                    </a:moveTo>
                    <a:lnTo>
                      <a:pt x="123159" y="0"/>
                    </a:lnTo>
                    <a:cubicBezTo>
                      <a:pt x="144522" y="0"/>
                      <a:pt x="161840" y="17318"/>
                      <a:pt x="161840" y="38681"/>
                    </a:cubicBezTo>
                    <a:lnTo>
                      <a:pt x="161840" y="70771"/>
                    </a:lnTo>
                    <a:cubicBezTo>
                      <a:pt x="161840" y="81030"/>
                      <a:pt x="157765" y="90869"/>
                      <a:pt x="150511" y="98123"/>
                    </a:cubicBezTo>
                    <a:cubicBezTo>
                      <a:pt x="143257" y="105377"/>
                      <a:pt x="133418" y="109452"/>
                      <a:pt x="123159" y="109452"/>
                    </a:cubicBezTo>
                    <a:lnTo>
                      <a:pt x="38681" y="109452"/>
                    </a:lnTo>
                    <a:cubicBezTo>
                      <a:pt x="28422" y="109452"/>
                      <a:pt x="18583" y="105377"/>
                      <a:pt x="11329" y="98123"/>
                    </a:cubicBezTo>
                    <a:cubicBezTo>
                      <a:pt x="4075" y="90869"/>
                      <a:pt x="0" y="81030"/>
                      <a:pt x="0" y="70771"/>
                    </a:cubicBezTo>
                    <a:lnTo>
                      <a:pt x="0" y="38681"/>
                    </a:lnTo>
                    <a:cubicBezTo>
                      <a:pt x="0" y="28422"/>
                      <a:pt x="4075" y="18583"/>
                      <a:pt x="11329" y="11329"/>
                    </a:cubicBezTo>
                    <a:cubicBezTo>
                      <a:pt x="18583" y="4075"/>
                      <a:pt x="28422" y="0"/>
                      <a:pt x="38681" y="0"/>
                    </a:cubicBezTo>
                    <a:close/>
                  </a:path>
                </a:pathLst>
              </a:custGeom>
              <a:solidFill>
                <a:srgbClr val="EDCBF6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0" y="-38100"/>
                <a:ext cx="161840" cy="1475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2531965" y="2847629"/>
              <a:ext cx="2062760" cy="968840"/>
              <a:chOff x="0" y="0"/>
              <a:chExt cx="160123" cy="75207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0" y="0"/>
                <a:ext cx="160123" cy="75207"/>
              </a:xfrm>
              <a:custGeom>
                <a:avLst/>
                <a:gdLst/>
                <a:ahLst/>
                <a:cxnLst/>
                <a:rect l="l" t="t" r="r" b="b"/>
                <a:pathLst>
                  <a:path w="160123" h="75207">
                    <a:moveTo>
                      <a:pt x="37603" y="0"/>
                    </a:moveTo>
                    <a:lnTo>
                      <a:pt x="122520" y="0"/>
                    </a:lnTo>
                    <a:cubicBezTo>
                      <a:pt x="132493" y="0"/>
                      <a:pt x="142057" y="3962"/>
                      <a:pt x="149110" y="11014"/>
                    </a:cubicBezTo>
                    <a:cubicBezTo>
                      <a:pt x="156162" y="18066"/>
                      <a:pt x="160123" y="27630"/>
                      <a:pt x="160123" y="37603"/>
                    </a:cubicBezTo>
                    <a:lnTo>
                      <a:pt x="160123" y="37603"/>
                    </a:lnTo>
                    <a:cubicBezTo>
                      <a:pt x="160123" y="47577"/>
                      <a:pt x="156162" y="57141"/>
                      <a:pt x="149110" y="64193"/>
                    </a:cubicBezTo>
                    <a:cubicBezTo>
                      <a:pt x="142057" y="71245"/>
                      <a:pt x="132493" y="75207"/>
                      <a:pt x="122520" y="75207"/>
                    </a:cubicBezTo>
                    <a:lnTo>
                      <a:pt x="37603" y="75207"/>
                    </a:lnTo>
                    <a:cubicBezTo>
                      <a:pt x="27630" y="75207"/>
                      <a:pt x="18066" y="71245"/>
                      <a:pt x="11014" y="64193"/>
                    </a:cubicBezTo>
                    <a:cubicBezTo>
                      <a:pt x="3962" y="57141"/>
                      <a:pt x="0" y="47577"/>
                      <a:pt x="0" y="37603"/>
                    </a:cubicBezTo>
                    <a:lnTo>
                      <a:pt x="0" y="37603"/>
                    </a:lnTo>
                    <a:cubicBezTo>
                      <a:pt x="0" y="27630"/>
                      <a:pt x="3962" y="18066"/>
                      <a:pt x="11014" y="11014"/>
                    </a:cubicBezTo>
                    <a:cubicBezTo>
                      <a:pt x="18066" y="3962"/>
                      <a:pt x="27630" y="0"/>
                      <a:pt x="37603" y="0"/>
                    </a:cubicBezTo>
                    <a:close/>
                  </a:path>
                </a:pathLst>
              </a:custGeom>
              <a:solidFill>
                <a:srgbClr val="C2DCFF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0" y="-38100"/>
                <a:ext cx="160123" cy="1133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2508470" y="626527"/>
              <a:ext cx="472241" cy="472241"/>
              <a:chOff x="0" y="0"/>
              <a:chExt cx="812800" cy="812800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DCFF"/>
              </a:solidFill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4928646" y="631593"/>
              <a:ext cx="472241" cy="472241"/>
              <a:chOff x="0" y="0"/>
              <a:chExt cx="812800" cy="812800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3FF99"/>
              </a:solidFill>
            </p:spPr>
          </p:sp>
          <p:sp>
            <p:nvSpPr>
              <p:cNvPr id="142" name="TextBox 14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3" name="Group 143"/>
            <p:cNvGrpSpPr/>
            <p:nvPr/>
          </p:nvGrpSpPr>
          <p:grpSpPr>
            <a:xfrm>
              <a:off x="7431415" y="650692"/>
              <a:ext cx="472241" cy="472241"/>
              <a:chOff x="0" y="0"/>
              <a:chExt cx="812800" cy="8128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ADAD"/>
              </a:solidFill>
            </p:spPr>
          </p:sp>
          <p:sp>
            <p:nvSpPr>
              <p:cNvPr id="145" name="TextBox 14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6" name="Group 146"/>
            <p:cNvGrpSpPr/>
            <p:nvPr/>
          </p:nvGrpSpPr>
          <p:grpSpPr>
            <a:xfrm>
              <a:off x="9775006" y="637942"/>
              <a:ext cx="446388" cy="433916"/>
              <a:chOff x="0" y="0"/>
              <a:chExt cx="836162" cy="812800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0" y="0"/>
                <a:ext cx="83616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36162" h="812800">
                    <a:moveTo>
                      <a:pt x="418081" y="0"/>
                    </a:moveTo>
                    <a:cubicBezTo>
                      <a:pt x="187181" y="0"/>
                      <a:pt x="0" y="181951"/>
                      <a:pt x="0" y="406400"/>
                    </a:cubicBezTo>
                    <a:cubicBezTo>
                      <a:pt x="0" y="630849"/>
                      <a:pt x="187181" y="812800"/>
                      <a:pt x="418081" y="812800"/>
                    </a:cubicBezTo>
                    <a:cubicBezTo>
                      <a:pt x="648981" y="812800"/>
                      <a:pt x="836162" y="630849"/>
                      <a:pt x="836162" y="406400"/>
                    </a:cubicBezTo>
                    <a:cubicBezTo>
                      <a:pt x="836162" y="181951"/>
                      <a:pt x="648981" y="0"/>
                      <a:pt x="418081" y="0"/>
                    </a:cubicBezTo>
                    <a:close/>
                  </a:path>
                </a:pathLst>
              </a:custGeom>
              <a:solidFill>
                <a:srgbClr val="CEA8F0"/>
              </a:solidFill>
            </p:spPr>
          </p:sp>
          <p:sp>
            <p:nvSpPr>
              <p:cNvPr id="148" name="TextBox 148"/>
              <p:cNvSpPr txBox="1"/>
              <p:nvPr/>
            </p:nvSpPr>
            <p:spPr>
              <a:xfrm>
                <a:off x="78390" y="28575"/>
                <a:ext cx="679382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9766011" y="3213160"/>
              <a:ext cx="2118133" cy="529806"/>
              <a:chOff x="0" y="0"/>
              <a:chExt cx="164422" cy="41127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0" y="0"/>
                <a:ext cx="164422" cy="41127"/>
              </a:xfrm>
              <a:custGeom>
                <a:avLst/>
                <a:gdLst/>
                <a:ahLst/>
                <a:cxnLst/>
                <a:rect l="l" t="t" r="r" b="b"/>
                <a:pathLst>
                  <a:path w="164422" h="41127">
                    <a:moveTo>
                      <a:pt x="20563" y="0"/>
                    </a:moveTo>
                    <a:lnTo>
                      <a:pt x="143858" y="0"/>
                    </a:lnTo>
                    <a:cubicBezTo>
                      <a:pt x="149312" y="0"/>
                      <a:pt x="154542" y="2166"/>
                      <a:pt x="158399" y="6023"/>
                    </a:cubicBezTo>
                    <a:cubicBezTo>
                      <a:pt x="162255" y="9879"/>
                      <a:pt x="164422" y="15110"/>
                      <a:pt x="164422" y="20563"/>
                    </a:cubicBezTo>
                    <a:lnTo>
                      <a:pt x="164422" y="20563"/>
                    </a:lnTo>
                    <a:cubicBezTo>
                      <a:pt x="164422" y="26017"/>
                      <a:pt x="162255" y="31247"/>
                      <a:pt x="158399" y="35104"/>
                    </a:cubicBezTo>
                    <a:cubicBezTo>
                      <a:pt x="154542" y="38960"/>
                      <a:pt x="149312" y="41127"/>
                      <a:pt x="143858" y="41127"/>
                    </a:cubicBezTo>
                    <a:lnTo>
                      <a:pt x="20563" y="41127"/>
                    </a:lnTo>
                    <a:cubicBezTo>
                      <a:pt x="15110" y="41127"/>
                      <a:pt x="9879" y="38960"/>
                      <a:pt x="6023" y="35104"/>
                    </a:cubicBezTo>
                    <a:cubicBezTo>
                      <a:pt x="2166" y="31247"/>
                      <a:pt x="0" y="26017"/>
                      <a:pt x="0" y="20563"/>
                    </a:cubicBezTo>
                    <a:lnTo>
                      <a:pt x="0" y="20563"/>
                    </a:lnTo>
                    <a:cubicBezTo>
                      <a:pt x="0" y="15110"/>
                      <a:pt x="2166" y="9879"/>
                      <a:pt x="6023" y="6023"/>
                    </a:cubicBezTo>
                    <a:cubicBezTo>
                      <a:pt x="9879" y="2166"/>
                      <a:pt x="15110" y="0"/>
                      <a:pt x="20563" y="0"/>
                    </a:cubicBezTo>
                    <a:close/>
                  </a:path>
                </a:pathLst>
              </a:custGeom>
              <a:solidFill>
                <a:srgbClr val="CEA8F0">
                  <a:alpha val="60000"/>
                </a:srgbClr>
              </a:solidFill>
              <a:ln w="9525" cap="sq">
                <a:solidFill>
                  <a:srgbClr val="000000">
                    <a:alpha val="60000"/>
                  </a:srgbClr>
                </a:solidFill>
                <a:prstDash val="solid"/>
                <a:miter/>
              </a:ln>
            </p:spPr>
          </p:sp>
          <p:sp>
            <p:nvSpPr>
              <p:cNvPr id="151" name="TextBox 151"/>
              <p:cNvSpPr txBox="1"/>
              <p:nvPr/>
            </p:nvSpPr>
            <p:spPr>
              <a:xfrm>
                <a:off x="0" y="-38100"/>
                <a:ext cx="164422" cy="792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3"/>
                  </a:lnSpc>
                </a:pPr>
                <a:endParaRPr/>
              </a:p>
            </p:txBody>
          </p:sp>
        </p:grpSp>
        <p:sp>
          <p:nvSpPr>
            <p:cNvPr id="152" name="TextBox 152"/>
            <p:cNvSpPr txBox="1"/>
            <p:nvPr/>
          </p:nvSpPr>
          <p:spPr>
            <a:xfrm>
              <a:off x="133932" y="-57150"/>
              <a:ext cx="5402278" cy="643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60"/>
                </a:lnSpc>
                <a:spcBef>
                  <a:spcPct val="0"/>
                </a:spcBef>
              </a:pPr>
              <a:r>
                <a:rPr lang="en-US" sz="2900" b="1" u="none" strike="noStrike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THE SCORING FORMULA 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2583014" y="1267199"/>
              <a:ext cx="1938929" cy="664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31"/>
                </a:lnSpc>
              </a:pPr>
              <a:r>
                <a:rPr lang="en-US" sz="11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rel = min(1, max(contribs) + 0.15 x (Σcontribs -max(contribs)))                    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0234094" y="591954"/>
              <a:ext cx="1679053" cy="351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31"/>
                </a:lnSpc>
              </a:pPr>
              <a:r>
                <a:rPr lang="en-US" sz="1522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ENGAGEMENT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0349245" y="999846"/>
              <a:ext cx="1537955" cy="2544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63"/>
                </a:lnSpc>
              </a:pPr>
              <a:r>
                <a:rPr lang="en-US" sz="1116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Learn From User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8035618" y="591954"/>
              <a:ext cx="1198452" cy="351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31"/>
                </a:lnSpc>
              </a:pPr>
              <a:r>
                <a:rPr lang="en-US" sz="1522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URGENCY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8094156" y="997247"/>
              <a:ext cx="1151444" cy="2544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63"/>
                </a:lnSpc>
              </a:pPr>
              <a:r>
                <a:rPr lang="en-US" sz="1116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 Driven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5616787" y="591954"/>
              <a:ext cx="1416024" cy="351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31"/>
                </a:lnSpc>
              </a:pPr>
              <a:r>
                <a:rPr lang="en-US" sz="1522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CONTEXT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963483" y="603067"/>
              <a:ext cx="1585656" cy="351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31"/>
                </a:lnSpc>
              </a:pPr>
              <a:r>
                <a:rPr lang="en-US" sz="1522" b="1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RELEVANCE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769807" y="627195"/>
              <a:ext cx="771365" cy="3371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31"/>
                </a:lnSpc>
              </a:pPr>
              <a:r>
                <a:rPr lang="en-US" sz="1522" b="1" dirty="0">
                  <a:solidFill>
                    <a:srgbClr val="000000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GATE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5629487" y="974919"/>
              <a:ext cx="1482513" cy="2544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63"/>
                </a:lnSpc>
              </a:pPr>
              <a:r>
                <a:rPr lang="en-US" sz="1116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When it Matters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3097772" y="917471"/>
              <a:ext cx="780083" cy="2544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63"/>
                </a:lnSpc>
              </a:pPr>
              <a:r>
                <a:rPr lang="en-US" sz="1116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Fit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769807" y="917471"/>
              <a:ext cx="1014044" cy="2626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563"/>
                </a:lnSpc>
              </a:pPr>
              <a:r>
                <a:rPr lang="en-US" sz="1116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Eligibility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2648793" y="604755"/>
              <a:ext cx="191595" cy="455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2"/>
                </a:lnSpc>
              </a:pPr>
              <a:r>
                <a:rPr lang="en-US" sz="203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5054943" y="628645"/>
              <a:ext cx="203234" cy="455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2"/>
                </a:lnSpc>
              </a:pPr>
              <a:r>
                <a:rPr lang="en-US" sz="203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7569230" y="628645"/>
              <a:ext cx="213977" cy="455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2"/>
                </a:lnSpc>
              </a:pPr>
              <a:r>
                <a:rPr lang="en-US" sz="203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9902006" y="603067"/>
              <a:ext cx="206815" cy="455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2"/>
                </a:lnSpc>
              </a:pPr>
              <a:r>
                <a:rPr lang="en-US" sz="203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9806477" y="1389771"/>
              <a:ext cx="2077667" cy="727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4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eng = 0.25 x tanh((</a:t>
              </a:r>
            </a:p>
            <a:p>
              <a:pPr algn="l">
                <a:lnSpc>
                  <a:spcPts val="1444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          taps + 2.expands +</a:t>
              </a:r>
            </a:p>
            <a:p>
              <a:pPr algn="l">
                <a:lnSpc>
                  <a:spcPts val="1444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          3.pins - 3.dismisses)/8)  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9753504" y="2304395"/>
              <a:ext cx="2143146" cy="861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96936" lvl="1" indent="-98468" algn="l">
                <a:lnSpc>
                  <a:spcPts val="1277"/>
                </a:lnSpc>
                <a:buFont typeface="Arial"/>
                <a:buChar char="•"/>
              </a:pPr>
              <a:r>
                <a:rPr lang="en-US" sz="912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Taps → positive </a:t>
              </a:r>
            </a:p>
            <a:p>
              <a:pPr marL="196936" lvl="1" indent="-98468" algn="l">
                <a:lnSpc>
                  <a:spcPts val="1277"/>
                </a:lnSpc>
                <a:buFont typeface="Arial"/>
                <a:buChar char="•"/>
              </a:pPr>
              <a:r>
                <a:rPr lang="en-US" sz="912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Expands → stronger positive</a:t>
              </a:r>
            </a:p>
            <a:p>
              <a:pPr marL="196936" lvl="1" indent="-98468" algn="l">
                <a:lnSpc>
                  <a:spcPts val="1277"/>
                </a:lnSpc>
                <a:buFont typeface="Arial"/>
                <a:buChar char="•"/>
              </a:pPr>
              <a:r>
                <a:rPr lang="en-US" sz="912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Pins → strongest positive</a:t>
              </a:r>
            </a:p>
            <a:p>
              <a:pPr marL="196936" lvl="1" indent="-98468" algn="l">
                <a:lnSpc>
                  <a:spcPts val="1277"/>
                </a:lnSpc>
                <a:buFont typeface="Arial"/>
                <a:buChar char="•"/>
              </a:pPr>
              <a:r>
                <a:rPr lang="en-US" sz="912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Dismisses → negative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0027364" y="3316876"/>
              <a:ext cx="1573358" cy="244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4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Range: -0.25 to +0.25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418736" y="1379584"/>
              <a:ext cx="2077667" cy="485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4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Derived directly from the current data: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7605893" y="2275820"/>
              <a:ext cx="1703352" cy="1103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60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Red heatwave :        1.0</a:t>
              </a:r>
            </a:p>
            <a:p>
              <a:pPr algn="l">
                <a:lnSpc>
                  <a:spcPts val="1660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AQI Very poor :     0.75</a:t>
              </a:r>
            </a:p>
            <a:p>
              <a:pPr algn="l">
                <a:lnSpc>
                  <a:spcPts val="1660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Dense fog :             0.8</a:t>
              </a:r>
            </a:p>
            <a:p>
              <a:pPr algn="l">
                <a:lnSpc>
                  <a:spcPts val="1660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Calm sea :                0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5281888" y="3157003"/>
              <a:ext cx="1573358" cy="485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4"/>
                </a:lnSpc>
              </a:pPr>
              <a:r>
                <a:rPr lang="en-US" sz="1031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Keeps context impact between 0.4 - 1.6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4878849" y="2259399"/>
              <a:ext cx="2071075" cy="5333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43485" lvl="1" indent="-121743" algn="l">
                <a:lnSpc>
                  <a:spcPts val="1578"/>
                </a:lnSpc>
                <a:buFont typeface="Arial"/>
                <a:buChar char="•"/>
              </a:pPr>
              <a:r>
                <a:rPr lang="en-US" sz="1127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Time-of-day multiplier </a:t>
              </a:r>
            </a:p>
            <a:p>
              <a:pPr marL="243485" lvl="1" indent="-121743" algn="l">
                <a:lnSpc>
                  <a:spcPts val="1578"/>
                </a:lnSpc>
                <a:buFont typeface="Arial"/>
                <a:buChar char="•"/>
              </a:pPr>
              <a:r>
                <a:rPr lang="en-US" sz="1127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seasonal multiplier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5027646" y="1355053"/>
              <a:ext cx="1971131" cy="4859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6"/>
                </a:lnSpc>
              </a:pPr>
              <a:r>
                <a:rPr lang="en-US" sz="1026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ctx = clamp(time x season,</a:t>
              </a:r>
            </a:p>
            <a:p>
              <a:pPr algn="l">
                <a:lnSpc>
                  <a:spcPts val="1436"/>
                </a:lnSpc>
              </a:pPr>
              <a:r>
                <a:rPr lang="en-US" sz="1026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        0.4, 1.6)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2557359" y="2094977"/>
              <a:ext cx="2067979" cy="654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28"/>
                </a:lnSpc>
              </a:pPr>
              <a:r>
                <a:rPr lang="en-US" sz="1046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Contribution =</a:t>
              </a:r>
            </a:p>
            <a:p>
              <a:pPr algn="l">
                <a:lnSpc>
                  <a:spcPts val="1328"/>
                </a:lnSpc>
              </a:pPr>
              <a:r>
                <a:rPr lang="en-US" sz="1046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Persona Weight x Card affinity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2592388" y="2915388"/>
              <a:ext cx="2045650" cy="795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38"/>
                </a:lnSpc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Primary persona:        1.0</a:t>
              </a:r>
            </a:p>
            <a:p>
              <a:pPr algn="l">
                <a:lnSpc>
                  <a:spcPts val="1638"/>
                </a:lnSpc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Secondary personas:   0.7</a:t>
              </a:r>
            </a:p>
            <a:p>
              <a:pPr algn="l">
                <a:lnSpc>
                  <a:spcPts val="1638"/>
                </a:lnSpc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Base relevance:           1.0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134556" y="1328525"/>
              <a:ext cx="2007684" cy="7991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49075" lvl="1" indent="-124537" algn="l">
                <a:lnSpc>
                  <a:spcPts val="1615"/>
                </a:lnSpc>
                <a:buFont typeface="Arial"/>
                <a:buChar char="•"/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Remove hidden cards</a:t>
              </a:r>
            </a:p>
            <a:p>
              <a:pPr marL="249075" lvl="1" indent="-124537" algn="l">
                <a:lnSpc>
                  <a:spcPts val="1615"/>
                </a:lnSpc>
                <a:buFont typeface="Arial"/>
                <a:buChar char="•"/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Remove cards whose preconditions fail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174127" y="2352653"/>
              <a:ext cx="2108465" cy="13325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15"/>
                </a:lnSpc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Tide → Coastal location</a:t>
              </a:r>
            </a:p>
            <a:p>
              <a:pPr algn="l">
                <a:lnSpc>
                  <a:spcPts val="1615"/>
                </a:lnSpc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Warnings → Active warning</a:t>
              </a:r>
            </a:p>
            <a:p>
              <a:pPr algn="l">
                <a:lnSpc>
                  <a:spcPts val="1615"/>
                </a:lnSpc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Packing → Saved place</a:t>
              </a:r>
            </a:p>
            <a:p>
              <a:pPr algn="l">
                <a:lnSpc>
                  <a:spcPts val="1615"/>
                </a:lnSpc>
              </a:pPr>
              <a:r>
                <a:rPr lang="en-US" sz="1153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Heat → feels_like ≥ 35°C</a:t>
              </a:r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250761" y="1861259"/>
            <a:ext cx="2315017" cy="1203773"/>
            <a:chOff x="0" y="0"/>
            <a:chExt cx="609716" cy="317043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609716" cy="317043"/>
            </a:xfrm>
            <a:custGeom>
              <a:avLst/>
              <a:gdLst/>
              <a:ahLst/>
              <a:cxnLst/>
              <a:rect l="l" t="t" r="r" b="b"/>
              <a:pathLst>
                <a:path w="609716" h="317043">
                  <a:moveTo>
                    <a:pt x="30098" y="0"/>
                  </a:moveTo>
                  <a:lnTo>
                    <a:pt x="579618" y="0"/>
                  </a:lnTo>
                  <a:cubicBezTo>
                    <a:pt x="596241" y="0"/>
                    <a:pt x="609716" y="13475"/>
                    <a:pt x="609716" y="30098"/>
                  </a:cubicBezTo>
                  <a:lnTo>
                    <a:pt x="609716" y="286945"/>
                  </a:lnTo>
                  <a:cubicBezTo>
                    <a:pt x="609716" y="303568"/>
                    <a:pt x="596241" y="317043"/>
                    <a:pt x="579618" y="317043"/>
                  </a:cubicBezTo>
                  <a:lnTo>
                    <a:pt x="30098" y="317043"/>
                  </a:lnTo>
                  <a:cubicBezTo>
                    <a:pt x="13475" y="317043"/>
                    <a:pt x="0" y="303568"/>
                    <a:pt x="0" y="286945"/>
                  </a:cubicBezTo>
                  <a:lnTo>
                    <a:pt x="0" y="30098"/>
                  </a:lnTo>
                  <a:cubicBezTo>
                    <a:pt x="0" y="13475"/>
                    <a:pt x="13475" y="0"/>
                    <a:pt x="30098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0" y="-38100"/>
              <a:ext cx="609716" cy="35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250761" y="3505749"/>
            <a:ext cx="1649169" cy="666353"/>
            <a:chOff x="0" y="0"/>
            <a:chExt cx="434349" cy="175500"/>
          </a:xfrm>
        </p:grpSpPr>
        <p:sp>
          <p:nvSpPr>
            <p:cNvPr id="184" name="Freeform 184"/>
            <p:cNvSpPr/>
            <p:nvPr/>
          </p:nvSpPr>
          <p:spPr>
            <a:xfrm>
              <a:off x="0" y="0"/>
              <a:ext cx="434349" cy="175500"/>
            </a:xfrm>
            <a:custGeom>
              <a:avLst/>
              <a:gdLst/>
              <a:ahLst/>
              <a:cxnLst/>
              <a:rect l="l" t="t" r="r" b="b"/>
              <a:pathLst>
                <a:path w="434349" h="175500">
                  <a:moveTo>
                    <a:pt x="42250" y="0"/>
                  </a:moveTo>
                  <a:lnTo>
                    <a:pt x="392099" y="0"/>
                  </a:lnTo>
                  <a:cubicBezTo>
                    <a:pt x="403304" y="0"/>
                    <a:pt x="414051" y="4451"/>
                    <a:pt x="421974" y="12375"/>
                  </a:cubicBezTo>
                  <a:cubicBezTo>
                    <a:pt x="429898" y="20298"/>
                    <a:pt x="434349" y="31045"/>
                    <a:pt x="434349" y="42250"/>
                  </a:cubicBezTo>
                  <a:lnTo>
                    <a:pt x="434349" y="133250"/>
                  </a:lnTo>
                  <a:cubicBezTo>
                    <a:pt x="434349" y="156584"/>
                    <a:pt x="415433" y="175500"/>
                    <a:pt x="392099" y="175500"/>
                  </a:cubicBezTo>
                  <a:lnTo>
                    <a:pt x="42250" y="175500"/>
                  </a:lnTo>
                  <a:cubicBezTo>
                    <a:pt x="18916" y="175500"/>
                    <a:pt x="0" y="156584"/>
                    <a:pt x="0" y="133250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0" y="-38100"/>
              <a:ext cx="434349" cy="2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2090132" y="3505749"/>
            <a:ext cx="1649169" cy="666353"/>
            <a:chOff x="0" y="0"/>
            <a:chExt cx="434349" cy="175500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434349" cy="175500"/>
            </a:xfrm>
            <a:custGeom>
              <a:avLst/>
              <a:gdLst/>
              <a:ahLst/>
              <a:cxnLst/>
              <a:rect l="l" t="t" r="r" b="b"/>
              <a:pathLst>
                <a:path w="434349" h="175500">
                  <a:moveTo>
                    <a:pt x="42250" y="0"/>
                  </a:moveTo>
                  <a:lnTo>
                    <a:pt x="392099" y="0"/>
                  </a:lnTo>
                  <a:cubicBezTo>
                    <a:pt x="403304" y="0"/>
                    <a:pt x="414051" y="4451"/>
                    <a:pt x="421974" y="12375"/>
                  </a:cubicBezTo>
                  <a:cubicBezTo>
                    <a:pt x="429898" y="20298"/>
                    <a:pt x="434349" y="31045"/>
                    <a:pt x="434349" y="42250"/>
                  </a:cubicBezTo>
                  <a:lnTo>
                    <a:pt x="434349" y="133250"/>
                  </a:lnTo>
                  <a:cubicBezTo>
                    <a:pt x="434349" y="156584"/>
                    <a:pt x="415433" y="175500"/>
                    <a:pt x="392099" y="175500"/>
                  </a:cubicBezTo>
                  <a:lnTo>
                    <a:pt x="42250" y="175500"/>
                  </a:lnTo>
                  <a:cubicBezTo>
                    <a:pt x="18916" y="175500"/>
                    <a:pt x="0" y="156584"/>
                    <a:pt x="0" y="133250"/>
                  </a:cubicBezTo>
                  <a:lnTo>
                    <a:pt x="0" y="42250"/>
                  </a:lnTo>
                  <a:cubicBezTo>
                    <a:pt x="0" y="18916"/>
                    <a:pt x="18916" y="0"/>
                    <a:pt x="42250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0" y="-38100"/>
              <a:ext cx="434349" cy="2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6195104" y="3505749"/>
            <a:ext cx="903433" cy="666353"/>
            <a:chOff x="0" y="0"/>
            <a:chExt cx="237941" cy="175500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237941" cy="175500"/>
            </a:xfrm>
            <a:custGeom>
              <a:avLst/>
              <a:gdLst/>
              <a:ahLst/>
              <a:cxnLst/>
              <a:rect l="l" t="t" r="r" b="b"/>
              <a:pathLst>
                <a:path w="237941" h="175500">
                  <a:moveTo>
                    <a:pt x="77125" y="0"/>
                  </a:moveTo>
                  <a:lnTo>
                    <a:pt x="160816" y="0"/>
                  </a:lnTo>
                  <a:cubicBezTo>
                    <a:pt x="181271" y="0"/>
                    <a:pt x="200888" y="8126"/>
                    <a:pt x="215352" y="22589"/>
                  </a:cubicBezTo>
                  <a:cubicBezTo>
                    <a:pt x="229816" y="37053"/>
                    <a:pt x="237941" y="56670"/>
                    <a:pt x="237941" y="77125"/>
                  </a:cubicBezTo>
                  <a:lnTo>
                    <a:pt x="237941" y="98375"/>
                  </a:lnTo>
                  <a:cubicBezTo>
                    <a:pt x="237941" y="118830"/>
                    <a:pt x="229816" y="138447"/>
                    <a:pt x="215352" y="152911"/>
                  </a:cubicBezTo>
                  <a:cubicBezTo>
                    <a:pt x="200888" y="167375"/>
                    <a:pt x="181271" y="175500"/>
                    <a:pt x="160816" y="175500"/>
                  </a:cubicBezTo>
                  <a:lnTo>
                    <a:pt x="77125" y="175500"/>
                  </a:lnTo>
                  <a:cubicBezTo>
                    <a:pt x="56670" y="175500"/>
                    <a:pt x="37053" y="167375"/>
                    <a:pt x="22589" y="152911"/>
                  </a:cubicBezTo>
                  <a:cubicBezTo>
                    <a:pt x="8126" y="138447"/>
                    <a:pt x="0" y="118830"/>
                    <a:pt x="0" y="98375"/>
                  </a:cubicBezTo>
                  <a:lnTo>
                    <a:pt x="0" y="77125"/>
                  </a:lnTo>
                  <a:cubicBezTo>
                    <a:pt x="0" y="56670"/>
                    <a:pt x="8126" y="37053"/>
                    <a:pt x="22589" y="22589"/>
                  </a:cubicBezTo>
                  <a:cubicBezTo>
                    <a:pt x="37053" y="8126"/>
                    <a:pt x="56670" y="0"/>
                    <a:pt x="77125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0" y="-38100"/>
              <a:ext cx="237941" cy="2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2" name="Group 192"/>
          <p:cNvGrpSpPr/>
          <p:nvPr/>
        </p:nvGrpSpPr>
        <p:grpSpPr>
          <a:xfrm>
            <a:off x="7231887" y="3505749"/>
            <a:ext cx="700710" cy="666353"/>
            <a:chOff x="0" y="0"/>
            <a:chExt cx="184549" cy="175500"/>
          </a:xfrm>
        </p:grpSpPr>
        <p:sp>
          <p:nvSpPr>
            <p:cNvPr id="193" name="Freeform 193"/>
            <p:cNvSpPr/>
            <p:nvPr/>
          </p:nvSpPr>
          <p:spPr>
            <a:xfrm>
              <a:off x="0" y="0"/>
              <a:ext cx="184549" cy="175500"/>
            </a:xfrm>
            <a:custGeom>
              <a:avLst/>
              <a:gdLst/>
              <a:ahLst/>
              <a:cxnLst/>
              <a:rect l="l" t="t" r="r" b="b"/>
              <a:pathLst>
                <a:path w="184549" h="175500">
                  <a:moveTo>
                    <a:pt x="87750" y="0"/>
                  </a:moveTo>
                  <a:lnTo>
                    <a:pt x="96799" y="0"/>
                  </a:lnTo>
                  <a:cubicBezTo>
                    <a:pt x="120072" y="0"/>
                    <a:pt x="142391" y="9245"/>
                    <a:pt x="158848" y="25701"/>
                  </a:cubicBezTo>
                  <a:cubicBezTo>
                    <a:pt x="175304" y="42158"/>
                    <a:pt x="184549" y="64477"/>
                    <a:pt x="184549" y="87750"/>
                  </a:cubicBezTo>
                  <a:lnTo>
                    <a:pt x="184549" y="87750"/>
                  </a:lnTo>
                  <a:cubicBezTo>
                    <a:pt x="184549" y="111023"/>
                    <a:pt x="175304" y="133343"/>
                    <a:pt x="158848" y="149799"/>
                  </a:cubicBezTo>
                  <a:cubicBezTo>
                    <a:pt x="142391" y="166255"/>
                    <a:pt x="120072" y="175500"/>
                    <a:pt x="96799" y="175500"/>
                  </a:cubicBezTo>
                  <a:lnTo>
                    <a:pt x="87750" y="175500"/>
                  </a:lnTo>
                  <a:cubicBezTo>
                    <a:pt x="64477" y="175500"/>
                    <a:pt x="42158" y="166255"/>
                    <a:pt x="25701" y="149799"/>
                  </a:cubicBezTo>
                  <a:cubicBezTo>
                    <a:pt x="9245" y="133343"/>
                    <a:pt x="0" y="111023"/>
                    <a:pt x="0" y="87750"/>
                  </a:cubicBezTo>
                  <a:lnTo>
                    <a:pt x="0" y="87750"/>
                  </a:lnTo>
                  <a:cubicBezTo>
                    <a:pt x="0" y="64477"/>
                    <a:pt x="9245" y="42158"/>
                    <a:pt x="25701" y="25701"/>
                  </a:cubicBezTo>
                  <a:cubicBezTo>
                    <a:pt x="42158" y="9245"/>
                    <a:pt x="64477" y="0"/>
                    <a:pt x="87750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0" y="-38100"/>
              <a:ext cx="184549" cy="2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5" name="Group 195"/>
          <p:cNvGrpSpPr/>
          <p:nvPr/>
        </p:nvGrpSpPr>
        <p:grpSpPr>
          <a:xfrm>
            <a:off x="8106352" y="3505749"/>
            <a:ext cx="841280" cy="666353"/>
            <a:chOff x="0" y="0"/>
            <a:chExt cx="221572" cy="175500"/>
          </a:xfrm>
        </p:grpSpPr>
        <p:sp>
          <p:nvSpPr>
            <p:cNvPr id="196" name="Freeform 196"/>
            <p:cNvSpPr/>
            <p:nvPr/>
          </p:nvSpPr>
          <p:spPr>
            <a:xfrm>
              <a:off x="0" y="0"/>
              <a:ext cx="221572" cy="175500"/>
            </a:xfrm>
            <a:custGeom>
              <a:avLst/>
              <a:gdLst/>
              <a:ahLst/>
              <a:cxnLst/>
              <a:rect l="l" t="t" r="r" b="b"/>
              <a:pathLst>
                <a:path w="221572" h="175500">
                  <a:moveTo>
                    <a:pt x="82823" y="0"/>
                  </a:moveTo>
                  <a:lnTo>
                    <a:pt x="138749" y="0"/>
                  </a:lnTo>
                  <a:cubicBezTo>
                    <a:pt x="184490" y="0"/>
                    <a:pt x="221572" y="37081"/>
                    <a:pt x="221572" y="82823"/>
                  </a:cubicBezTo>
                  <a:lnTo>
                    <a:pt x="221572" y="92677"/>
                  </a:lnTo>
                  <a:cubicBezTo>
                    <a:pt x="221572" y="114643"/>
                    <a:pt x="212846" y="135710"/>
                    <a:pt x="197313" y="151242"/>
                  </a:cubicBezTo>
                  <a:cubicBezTo>
                    <a:pt x="181781" y="166774"/>
                    <a:pt x="160715" y="175500"/>
                    <a:pt x="138749" y="175500"/>
                  </a:cubicBezTo>
                  <a:lnTo>
                    <a:pt x="82823" y="175500"/>
                  </a:lnTo>
                  <a:cubicBezTo>
                    <a:pt x="37081" y="175500"/>
                    <a:pt x="0" y="138419"/>
                    <a:pt x="0" y="92677"/>
                  </a:cubicBezTo>
                  <a:lnTo>
                    <a:pt x="0" y="82823"/>
                  </a:lnTo>
                  <a:cubicBezTo>
                    <a:pt x="0" y="60857"/>
                    <a:pt x="8726" y="39791"/>
                    <a:pt x="24258" y="24258"/>
                  </a:cubicBezTo>
                  <a:cubicBezTo>
                    <a:pt x="39791" y="8726"/>
                    <a:pt x="60857" y="0"/>
                    <a:pt x="82823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97" name="TextBox 197"/>
            <p:cNvSpPr txBox="1"/>
            <p:nvPr/>
          </p:nvSpPr>
          <p:spPr>
            <a:xfrm>
              <a:off x="0" y="-38100"/>
              <a:ext cx="221572" cy="2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3929801" y="3505749"/>
            <a:ext cx="2074804" cy="666353"/>
            <a:chOff x="0" y="0"/>
            <a:chExt cx="546450" cy="175500"/>
          </a:xfrm>
        </p:grpSpPr>
        <p:sp>
          <p:nvSpPr>
            <p:cNvPr id="199" name="Freeform 199"/>
            <p:cNvSpPr/>
            <p:nvPr/>
          </p:nvSpPr>
          <p:spPr>
            <a:xfrm>
              <a:off x="0" y="0"/>
              <a:ext cx="546450" cy="175500"/>
            </a:xfrm>
            <a:custGeom>
              <a:avLst/>
              <a:gdLst/>
              <a:ahLst/>
              <a:cxnLst/>
              <a:rect l="l" t="t" r="r" b="b"/>
              <a:pathLst>
                <a:path w="546450" h="175500">
                  <a:moveTo>
                    <a:pt x="33583" y="0"/>
                  </a:moveTo>
                  <a:lnTo>
                    <a:pt x="512868" y="0"/>
                  </a:lnTo>
                  <a:cubicBezTo>
                    <a:pt x="521774" y="0"/>
                    <a:pt x="530316" y="3538"/>
                    <a:pt x="536614" y="9836"/>
                  </a:cubicBezTo>
                  <a:cubicBezTo>
                    <a:pt x="542912" y="16134"/>
                    <a:pt x="546450" y="24676"/>
                    <a:pt x="546450" y="33583"/>
                  </a:cubicBezTo>
                  <a:lnTo>
                    <a:pt x="546450" y="141918"/>
                  </a:lnTo>
                  <a:cubicBezTo>
                    <a:pt x="546450" y="160465"/>
                    <a:pt x="531415" y="175500"/>
                    <a:pt x="512868" y="175500"/>
                  </a:cubicBezTo>
                  <a:lnTo>
                    <a:pt x="33583" y="175500"/>
                  </a:lnTo>
                  <a:cubicBezTo>
                    <a:pt x="15035" y="175500"/>
                    <a:pt x="0" y="160465"/>
                    <a:pt x="0" y="141918"/>
                  </a:cubicBezTo>
                  <a:lnTo>
                    <a:pt x="0" y="33583"/>
                  </a:lnTo>
                  <a:cubicBezTo>
                    <a:pt x="0" y="15035"/>
                    <a:pt x="15035" y="0"/>
                    <a:pt x="33583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200" name="TextBox 200"/>
            <p:cNvSpPr txBox="1"/>
            <p:nvPr/>
          </p:nvSpPr>
          <p:spPr>
            <a:xfrm>
              <a:off x="0" y="-38100"/>
              <a:ext cx="546450" cy="2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1" name="Group 201"/>
          <p:cNvGrpSpPr/>
          <p:nvPr/>
        </p:nvGrpSpPr>
        <p:grpSpPr>
          <a:xfrm>
            <a:off x="3060231" y="1861259"/>
            <a:ext cx="2315017" cy="1203773"/>
            <a:chOff x="0" y="0"/>
            <a:chExt cx="609716" cy="317043"/>
          </a:xfrm>
        </p:grpSpPr>
        <p:sp>
          <p:nvSpPr>
            <p:cNvPr id="202" name="Freeform 202"/>
            <p:cNvSpPr/>
            <p:nvPr/>
          </p:nvSpPr>
          <p:spPr>
            <a:xfrm>
              <a:off x="0" y="0"/>
              <a:ext cx="609716" cy="317043"/>
            </a:xfrm>
            <a:custGeom>
              <a:avLst/>
              <a:gdLst/>
              <a:ahLst/>
              <a:cxnLst/>
              <a:rect l="l" t="t" r="r" b="b"/>
              <a:pathLst>
                <a:path w="609716" h="317043">
                  <a:moveTo>
                    <a:pt x="30098" y="0"/>
                  </a:moveTo>
                  <a:lnTo>
                    <a:pt x="579618" y="0"/>
                  </a:lnTo>
                  <a:cubicBezTo>
                    <a:pt x="596241" y="0"/>
                    <a:pt x="609716" y="13475"/>
                    <a:pt x="609716" y="30098"/>
                  </a:cubicBezTo>
                  <a:lnTo>
                    <a:pt x="609716" y="286945"/>
                  </a:lnTo>
                  <a:cubicBezTo>
                    <a:pt x="609716" y="303568"/>
                    <a:pt x="596241" y="317043"/>
                    <a:pt x="579618" y="317043"/>
                  </a:cubicBezTo>
                  <a:lnTo>
                    <a:pt x="30098" y="317043"/>
                  </a:lnTo>
                  <a:cubicBezTo>
                    <a:pt x="13475" y="317043"/>
                    <a:pt x="0" y="303568"/>
                    <a:pt x="0" y="286945"/>
                  </a:cubicBezTo>
                  <a:lnTo>
                    <a:pt x="0" y="30098"/>
                  </a:lnTo>
                  <a:cubicBezTo>
                    <a:pt x="0" y="13475"/>
                    <a:pt x="13475" y="0"/>
                    <a:pt x="30098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203" name="TextBox 203"/>
            <p:cNvSpPr txBox="1"/>
            <p:nvPr/>
          </p:nvSpPr>
          <p:spPr>
            <a:xfrm>
              <a:off x="0" y="-38100"/>
              <a:ext cx="609716" cy="35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4" name="Group 204"/>
          <p:cNvGrpSpPr/>
          <p:nvPr/>
        </p:nvGrpSpPr>
        <p:grpSpPr>
          <a:xfrm>
            <a:off x="5842397" y="1861259"/>
            <a:ext cx="3103448" cy="1203773"/>
            <a:chOff x="0" y="0"/>
            <a:chExt cx="817369" cy="317043"/>
          </a:xfrm>
        </p:grpSpPr>
        <p:sp>
          <p:nvSpPr>
            <p:cNvPr id="205" name="Freeform 205"/>
            <p:cNvSpPr/>
            <p:nvPr/>
          </p:nvSpPr>
          <p:spPr>
            <a:xfrm>
              <a:off x="0" y="0"/>
              <a:ext cx="817369" cy="317043"/>
            </a:xfrm>
            <a:custGeom>
              <a:avLst/>
              <a:gdLst/>
              <a:ahLst/>
              <a:cxnLst/>
              <a:rect l="l" t="t" r="r" b="b"/>
              <a:pathLst>
                <a:path w="817369" h="317043">
                  <a:moveTo>
                    <a:pt x="22452" y="0"/>
                  </a:moveTo>
                  <a:lnTo>
                    <a:pt x="794917" y="0"/>
                  </a:lnTo>
                  <a:cubicBezTo>
                    <a:pt x="807317" y="0"/>
                    <a:pt x="817369" y="10052"/>
                    <a:pt x="817369" y="22452"/>
                  </a:cubicBezTo>
                  <a:lnTo>
                    <a:pt x="817369" y="294592"/>
                  </a:lnTo>
                  <a:cubicBezTo>
                    <a:pt x="817369" y="306991"/>
                    <a:pt x="807317" y="317043"/>
                    <a:pt x="794917" y="317043"/>
                  </a:cubicBezTo>
                  <a:lnTo>
                    <a:pt x="22452" y="317043"/>
                  </a:lnTo>
                  <a:cubicBezTo>
                    <a:pt x="10052" y="317043"/>
                    <a:pt x="0" y="306991"/>
                    <a:pt x="0" y="294592"/>
                  </a:cubicBezTo>
                  <a:lnTo>
                    <a:pt x="0" y="22452"/>
                  </a:lnTo>
                  <a:cubicBezTo>
                    <a:pt x="0" y="10052"/>
                    <a:pt x="10052" y="0"/>
                    <a:pt x="22452" y="0"/>
                  </a:cubicBezTo>
                  <a:close/>
                </a:path>
              </a:pathLst>
            </a:custGeom>
            <a:solidFill>
              <a:srgbClr val="B4B4B4">
                <a:alpha val="49804"/>
              </a:srgbClr>
            </a:solidFill>
            <a:ln w="19050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0" y="-38100"/>
              <a:ext cx="817369" cy="3551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9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7" name="Freeform 207"/>
          <p:cNvSpPr/>
          <p:nvPr/>
        </p:nvSpPr>
        <p:spPr>
          <a:xfrm>
            <a:off x="491522" y="2339089"/>
            <a:ext cx="415459" cy="516098"/>
          </a:xfrm>
          <a:custGeom>
            <a:avLst/>
            <a:gdLst/>
            <a:ahLst/>
            <a:cxnLst/>
            <a:rect l="l" t="t" r="r" b="b"/>
            <a:pathLst>
              <a:path w="415459" h="516098">
                <a:moveTo>
                  <a:pt x="0" y="0"/>
                </a:moveTo>
                <a:lnTo>
                  <a:pt x="415459" y="0"/>
                </a:lnTo>
                <a:lnTo>
                  <a:pt x="415459" y="516098"/>
                </a:lnTo>
                <a:lnTo>
                  <a:pt x="0" y="516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08" name="Freeform 208"/>
          <p:cNvSpPr/>
          <p:nvPr/>
        </p:nvSpPr>
        <p:spPr>
          <a:xfrm>
            <a:off x="3285724" y="2339089"/>
            <a:ext cx="552446" cy="548648"/>
          </a:xfrm>
          <a:custGeom>
            <a:avLst/>
            <a:gdLst/>
            <a:ahLst/>
            <a:cxnLst/>
            <a:rect l="l" t="t" r="r" b="b"/>
            <a:pathLst>
              <a:path w="552446" h="548648">
                <a:moveTo>
                  <a:pt x="0" y="0"/>
                </a:moveTo>
                <a:lnTo>
                  <a:pt x="552446" y="0"/>
                </a:lnTo>
                <a:lnTo>
                  <a:pt x="552446" y="548649"/>
                </a:lnTo>
                <a:lnTo>
                  <a:pt x="0" y="54864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09" name="Freeform 209"/>
          <p:cNvSpPr/>
          <p:nvPr/>
        </p:nvSpPr>
        <p:spPr>
          <a:xfrm>
            <a:off x="7098537" y="2296002"/>
            <a:ext cx="515444" cy="478959"/>
          </a:xfrm>
          <a:custGeom>
            <a:avLst/>
            <a:gdLst/>
            <a:ahLst/>
            <a:cxnLst/>
            <a:rect l="l" t="t" r="r" b="b"/>
            <a:pathLst>
              <a:path w="515444" h="478959">
                <a:moveTo>
                  <a:pt x="0" y="0"/>
                </a:moveTo>
                <a:lnTo>
                  <a:pt x="515444" y="0"/>
                </a:lnTo>
                <a:lnTo>
                  <a:pt x="515444" y="478959"/>
                </a:lnTo>
                <a:lnTo>
                  <a:pt x="0" y="4789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6806" t="-20869" r="-17082" b="-23219"/>
            </a:stretch>
          </a:blipFill>
        </p:spPr>
      </p:sp>
      <p:sp>
        <p:nvSpPr>
          <p:cNvPr id="210" name="Freeform 210"/>
          <p:cNvSpPr/>
          <p:nvPr/>
        </p:nvSpPr>
        <p:spPr>
          <a:xfrm>
            <a:off x="6090723" y="2243839"/>
            <a:ext cx="549816" cy="549816"/>
          </a:xfrm>
          <a:custGeom>
            <a:avLst/>
            <a:gdLst/>
            <a:ahLst/>
            <a:cxnLst/>
            <a:rect l="l" t="t" r="r" b="b"/>
            <a:pathLst>
              <a:path w="549816" h="549816">
                <a:moveTo>
                  <a:pt x="0" y="0"/>
                </a:moveTo>
                <a:lnTo>
                  <a:pt x="549815" y="0"/>
                </a:lnTo>
                <a:lnTo>
                  <a:pt x="549815" y="549816"/>
                </a:lnTo>
                <a:lnTo>
                  <a:pt x="0" y="54981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11" name="Freeform 211"/>
          <p:cNvSpPr/>
          <p:nvPr/>
        </p:nvSpPr>
        <p:spPr>
          <a:xfrm>
            <a:off x="8086459" y="2357784"/>
            <a:ext cx="585063" cy="435872"/>
          </a:xfrm>
          <a:custGeom>
            <a:avLst/>
            <a:gdLst/>
            <a:ahLst/>
            <a:cxnLst/>
            <a:rect l="l" t="t" r="r" b="b"/>
            <a:pathLst>
              <a:path w="585063" h="435872">
                <a:moveTo>
                  <a:pt x="0" y="0"/>
                </a:moveTo>
                <a:lnTo>
                  <a:pt x="585063" y="0"/>
                </a:lnTo>
                <a:lnTo>
                  <a:pt x="585063" y="435871"/>
                </a:lnTo>
                <a:lnTo>
                  <a:pt x="0" y="4358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12" name="TextBox 212"/>
          <p:cNvSpPr txBox="1"/>
          <p:nvPr/>
        </p:nvSpPr>
        <p:spPr>
          <a:xfrm>
            <a:off x="5842396" y="83057"/>
            <a:ext cx="6730603" cy="873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TECHNICAL APPROACH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6090723" y="804595"/>
            <a:ext cx="6482276" cy="432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626"/>
              </a:lnSpc>
              <a:spcBef>
                <a:spcPct val="0"/>
              </a:spcBef>
            </a:pPr>
            <a:r>
              <a:rPr lang="en-US" sz="2590" u="none" strike="noStrike" dirty="0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 ARCHITECTURE &amp; RESILIENT DATA PIPELINE</a:t>
            </a:r>
          </a:p>
        </p:txBody>
      </p:sp>
      <p:sp>
        <p:nvSpPr>
          <p:cNvPr id="214" name="Freeform 214"/>
          <p:cNvSpPr/>
          <p:nvPr/>
        </p:nvSpPr>
        <p:spPr>
          <a:xfrm>
            <a:off x="342448" y="3799753"/>
            <a:ext cx="221927" cy="221927"/>
          </a:xfrm>
          <a:custGeom>
            <a:avLst/>
            <a:gdLst/>
            <a:ahLst/>
            <a:cxnLst/>
            <a:rect l="l" t="t" r="r" b="b"/>
            <a:pathLst>
              <a:path w="221927" h="221927">
                <a:moveTo>
                  <a:pt x="0" y="0"/>
                </a:moveTo>
                <a:lnTo>
                  <a:pt x="221927" y="0"/>
                </a:lnTo>
                <a:lnTo>
                  <a:pt x="221927" y="221927"/>
                </a:lnTo>
                <a:lnTo>
                  <a:pt x="0" y="22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15" name="Freeform 215"/>
          <p:cNvSpPr/>
          <p:nvPr/>
        </p:nvSpPr>
        <p:spPr>
          <a:xfrm>
            <a:off x="2181594" y="3799753"/>
            <a:ext cx="221927" cy="221927"/>
          </a:xfrm>
          <a:custGeom>
            <a:avLst/>
            <a:gdLst/>
            <a:ahLst/>
            <a:cxnLst/>
            <a:rect l="l" t="t" r="r" b="b"/>
            <a:pathLst>
              <a:path w="221927" h="221927">
                <a:moveTo>
                  <a:pt x="0" y="0"/>
                </a:moveTo>
                <a:lnTo>
                  <a:pt x="221927" y="0"/>
                </a:lnTo>
                <a:lnTo>
                  <a:pt x="221927" y="221927"/>
                </a:lnTo>
                <a:lnTo>
                  <a:pt x="0" y="22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16" name="Freeform 216"/>
          <p:cNvSpPr/>
          <p:nvPr/>
        </p:nvSpPr>
        <p:spPr>
          <a:xfrm>
            <a:off x="4021263" y="3799753"/>
            <a:ext cx="221927" cy="221927"/>
          </a:xfrm>
          <a:custGeom>
            <a:avLst/>
            <a:gdLst/>
            <a:ahLst/>
            <a:cxnLst/>
            <a:rect l="l" t="t" r="r" b="b"/>
            <a:pathLst>
              <a:path w="221927" h="221927">
                <a:moveTo>
                  <a:pt x="0" y="0"/>
                </a:moveTo>
                <a:lnTo>
                  <a:pt x="221927" y="0"/>
                </a:lnTo>
                <a:lnTo>
                  <a:pt x="221927" y="221927"/>
                </a:lnTo>
                <a:lnTo>
                  <a:pt x="0" y="22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17" name="TextBox 217"/>
          <p:cNvSpPr txBox="1"/>
          <p:nvPr/>
        </p:nvSpPr>
        <p:spPr>
          <a:xfrm>
            <a:off x="4337469" y="3790228"/>
            <a:ext cx="221407" cy="14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5337684" y="3790228"/>
            <a:ext cx="455054" cy="14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multiplier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4745973" y="3960653"/>
            <a:ext cx="404613" cy="14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</a:p>
        </p:txBody>
      </p:sp>
      <p:sp>
        <p:nvSpPr>
          <p:cNvPr id="220" name="AutoShape 220"/>
          <p:cNvSpPr/>
          <p:nvPr/>
        </p:nvSpPr>
        <p:spPr>
          <a:xfrm>
            <a:off x="4558876" y="3866086"/>
            <a:ext cx="14287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1" name="AutoShape 221"/>
          <p:cNvSpPr/>
          <p:nvPr/>
        </p:nvSpPr>
        <p:spPr>
          <a:xfrm>
            <a:off x="5194809" y="3861324"/>
            <a:ext cx="14287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2" name="AutoShape 222"/>
          <p:cNvSpPr/>
          <p:nvPr/>
        </p:nvSpPr>
        <p:spPr>
          <a:xfrm flipH="1">
            <a:off x="5150587" y="4036511"/>
            <a:ext cx="18709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3" name="Freeform 223"/>
          <p:cNvSpPr/>
          <p:nvPr/>
        </p:nvSpPr>
        <p:spPr>
          <a:xfrm>
            <a:off x="5742297" y="3869869"/>
            <a:ext cx="158549" cy="166642"/>
          </a:xfrm>
          <a:custGeom>
            <a:avLst/>
            <a:gdLst/>
            <a:ahLst/>
            <a:cxnLst/>
            <a:rect l="l" t="t" r="r" b="b"/>
            <a:pathLst>
              <a:path w="158549" h="166642">
                <a:moveTo>
                  <a:pt x="62487" y="0"/>
                </a:moveTo>
                <a:lnTo>
                  <a:pt x="110518" y="0"/>
                </a:lnTo>
                <a:cubicBezTo>
                  <a:pt x="123257" y="0"/>
                  <a:pt x="135474" y="5060"/>
                  <a:pt x="144481" y="14068"/>
                </a:cubicBezTo>
                <a:cubicBezTo>
                  <a:pt x="153489" y="23076"/>
                  <a:pt x="158549" y="35293"/>
                  <a:pt x="158549" y="48031"/>
                </a:cubicBezTo>
                <a:lnTo>
                  <a:pt x="158549" y="87367"/>
                </a:lnTo>
                <a:cubicBezTo>
                  <a:pt x="158549" y="131150"/>
                  <a:pt x="123057" y="166642"/>
                  <a:pt x="79275" y="166642"/>
                </a:cubicBezTo>
                <a:lnTo>
                  <a:pt x="0" y="166642"/>
                </a:lnTo>
              </a:path>
            </a:pathLst>
          </a:cu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4" name="AutoShape 224"/>
          <p:cNvSpPr/>
          <p:nvPr/>
        </p:nvSpPr>
        <p:spPr>
          <a:xfrm flipH="1">
            <a:off x="4587206" y="4036511"/>
            <a:ext cx="15876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5" name="TextBox 225"/>
          <p:cNvSpPr txBox="1"/>
          <p:nvPr/>
        </p:nvSpPr>
        <p:spPr>
          <a:xfrm>
            <a:off x="9902295" y="5465398"/>
            <a:ext cx="3494309" cy="49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DATA SOURCES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1028700" y="4812702"/>
            <a:ext cx="1500066" cy="432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54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0612623" y="4686445"/>
            <a:ext cx="219051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FINAL SCORE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13273911" y="4711210"/>
            <a:ext cx="41950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Score = 0.5 x rel x ctx + 0.5 x urg + eng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491522" y="1986547"/>
            <a:ext cx="1032478" cy="24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3"/>
              </a:lnSpc>
              <a:spcBef>
                <a:spcPct val="0"/>
              </a:spcBef>
            </a:pPr>
            <a:r>
              <a:rPr lang="en-US" sz="1495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Flutter App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342223" y="3526096"/>
            <a:ext cx="1496848" cy="201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Snapshot Assembly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2181594" y="3510484"/>
            <a:ext cx="1214735" cy="21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Derived Metrices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6286567" y="3510484"/>
            <a:ext cx="539849" cy="21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Explain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7323349" y="3567634"/>
            <a:ext cx="523081" cy="28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11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POST</a:t>
            </a:r>
          </a:p>
          <a:p>
            <a:pPr algn="l">
              <a:lnSpc>
                <a:spcPts val="1016"/>
              </a:lnSpc>
            </a:pPr>
            <a:r>
              <a:rPr lang="en-US" sz="11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/events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8188953" y="3567634"/>
            <a:ext cx="628017" cy="259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6"/>
              </a:lnSpc>
            </a:pPr>
            <a:r>
              <a:rPr lang="en-US" sz="1195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Flutter</a:t>
            </a:r>
          </a:p>
          <a:p>
            <a:pPr algn="l">
              <a:lnSpc>
                <a:spcPts val="1016"/>
              </a:lnSpc>
            </a:pPr>
            <a:r>
              <a:rPr lang="en-US" sz="1195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App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4021263" y="3510484"/>
            <a:ext cx="505916" cy="21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Engine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3300992" y="1986547"/>
            <a:ext cx="706934" cy="25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FastAPI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6090723" y="1968983"/>
            <a:ext cx="2098230" cy="24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External Data Sources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1097737" y="2319684"/>
            <a:ext cx="1220391" cy="21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3"/>
              </a:lnSpc>
              <a:spcBef>
                <a:spcPct val="0"/>
              </a:spcBef>
            </a:pPr>
            <a:r>
              <a:rPr lang="en-US" sz="1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/api/v1/home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624335" y="3790228"/>
            <a:ext cx="1162910" cy="27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forecast, air quality, marine, radar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2528766" y="3734268"/>
            <a:ext cx="1162910" cy="40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AQI, heat index, wind chill rain, waves, commute, more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6286567" y="3768525"/>
            <a:ext cx="713343" cy="27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localized card</a:t>
            </a:r>
          </a:p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payloads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7323349" y="3851799"/>
            <a:ext cx="471804" cy="27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batched &lt;=100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8188953" y="3851799"/>
            <a:ext cx="698691" cy="27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Ranked, ready to draw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4701751" y="3790228"/>
            <a:ext cx="493058" cy="14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relevance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5337684" y="3960653"/>
            <a:ext cx="404613" cy="14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urgency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4309139" y="3960653"/>
            <a:ext cx="278067" cy="14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4"/>
              </a:lnSpc>
            </a:pPr>
            <a:r>
              <a:rPr lang="en-US" sz="8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3932822" y="2276170"/>
            <a:ext cx="1252108" cy="63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Receives request and orchestrates the pipeline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6226526" y="2774961"/>
            <a:ext cx="399532" cy="198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IMD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6934430" y="2784863"/>
            <a:ext cx="843657" cy="21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</a:t>
            </a:r>
            <a:r>
              <a:rPr lang="en-US" sz="119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Meteo</a:t>
            </a:r>
            <a:endParaRPr lang="en-US" sz="119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TextBox 250"/>
          <p:cNvSpPr txBox="1"/>
          <p:nvPr/>
        </p:nvSpPr>
        <p:spPr>
          <a:xfrm>
            <a:off x="8086458" y="2793655"/>
            <a:ext cx="730511" cy="198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3"/>
              </a:lnSpc>
              <a:spcBef>
                <a:spcPct val="0"/>
              </a:spcBef>
            </a:pPr>
            <a:r>
              <a:rPr lang="en-US" sz="119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Estimated</a:t>
            </a:r>
          </a:p>
        </p:txBody>
      </p:sp>
      <p:sp>
        <p:nvSpPr>
          <p:cNvPr id="251" name="AutoShape 251"/>
          <p:cNvSpPr/>
          <p:nvPr/>
        </p:nvSpPr>
        <p:spPr>
          <a:xfrm>
            <a:off x="2565778" y="2463145"/>
            <a:ext cx="49445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2" name="AutoShape 252"/>
          <p:cNvSpPr/>
          <p:nvPr/>
        </p:nvSpPr>
        <p:spPr>
          <a:xfrm flipH="1">
            <a:off x="5375248" y="2463145"/>
            <a:ext cx="46714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3" name="AutoShape 253"/>
          <p:cNvSpPr/>
          <p:nvPr/>
        </p:nvSpPr>
        <p:spPr>
          <a:xfrm>
            <a:off x="1899929" y="3838925"/>
            <a:ext cx="19020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4" name="AutoShape 254"/>
          <p:cNvSpPr/>
          <p:nvPr/>
        </p:nvSpPr>
        <p:spPr>
          <a:xfrm>
            <a:off x="3739301" y="3838925"/>
            <a:ext cx="1905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5" name="AutoShape 255"/>
          <p:cNvSpPr/>
          <p:nvPr/>
        </p:nvSpPr>
        <p:spPr>
          <a:xfrm>
            <a:off x="6004604" y="3829400"/>
            <a:ext cx="1905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6" name="AutoShape 256"/>
          <p:cNvSpPr/>
          <p:nvPr/>
        </p:nvSpPr>
        <p:spPr>
          <a:xfrm>
            <a:off x="7098537" y="3838925"/>
            <a:ext cx="13335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7" name="AutoShape 257"/>
          <p:cNvSpPr/>
          <p:nvPr/>
        </p:nvSpPr>
        <p:spPr>
          <a:xfrm>
            <a:off x="7932597" y="3838925"/>
            <a:ext cx="17375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8" name="Freeform 258"/>
          <p:cNvSpPr/>
          <p:nvPr/>
        </p:nvSpPr>
        <p:spPr>
          <a:xfrm>
            <a:off x="4217739" y="3065032"/>
            <a:ext cx="749463" cy="440717"/>
          </a:xfrm>
          <a:custGeom>
            <a:avLst/>
            <a:gdLst/>
            <a:ahLst/>
            <a:cxnLst/>
            <a:rect l="l" t="t" r="r" b="b"/>
            <a:pathLst>
              <a:path w="749463" h="440717">
                <a:moveTo>
                  <a:pt x="0" y="0"/>
                </a:moveTo>
                <a:lnTo>
                  <a:pt x="0" y="69657"/>
                </a:lnTo>
                <a:cubicBezTo>
                  <a:pt x="0" y="88132"/>
                  <a:pt x="7339" y="105849"/>
                  <a:pt x="20403" y="118913"/>
                </a:cubicBezTo>
                <a:cubicBezTo>
                  <a:pt x="33466" y="131976"/>
                  <a:pt x="51183" y="139315"/>
                  <a:pt x="69658" y="139315"/>
                </a:cubicBezTo>
                <a:lnTo>
                  <a:pt x="598762" y="139315"/>
                </a:lnTo>
                <a:cubicBezTo>
                  <a:pt x="681992" y="139315"/>
                  <a:pt x="749463" y="206786"/>
                  <a:pt x="749463" y="290016"/>
                </a:cubicBezTo>
                <a:lnTo>
                  <a:pt x="749463" y="440717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59" name="Group 259"/>
          <p:cNvGrpSpPr/>
          <p:nvPr/>
        </p:nvGrpSpPr>
        <p:grpSpPr>
          <a:xfrm>
            <a:off x="0" y="9877972"/>
            <a:ext cx="18296002" cy="498645"/>
            <a:chOff x="0" y="0"/>
            <a:chExt cx="743491" cy="20263"/>
          </a:xfrm>
        </p:grpSpPr>
        <p:sp>
          <p:nvSpPr>
            <p:cNvPr id="260" name="Freeform 260"/>
            <p:cNvSpPr/>
            <p:nvPr/>
          </p:nvSpPr>
          <p:spPr>
            <a:xfrm>
              <a:off x="0" y="0"/>
              <a:ext cx="743491" cy="20263"/>
            </a:xfrm>
            <a:custGeom>
              <a:avLst/>
              <a:gdLst/>
              <a:ahLst/>
              <a:cxnLst/>
              <a:rect l="l" t="t" r="r" b="b"/>
              <a:pathLst>
                <a:path w="743491" h="20263">
                  <a:moveTo>
                    <a:pt x="0" y="0"/>
                  </a:moveTo>
                  <a:lnTo>
                    <a:pt x="743491" y="0"/>
                  </a:lnTo>
                  <a:lnTo>
                    <a:pt x="743491" y="20263"/>
                  </a:lnTo>
                  <a:lnTo>
                    <a:pt x="0" y="2026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261" name="TextBox 261"/>
            <p:cNvSpPr txBox="1"/>
            <p:nvPr/>
          </p:nvSpPr>
          <p:spPr>
            <a:xfrm>
              <a:off x="0" y="-76200"/>
              <a:ext cx="743491" cy="96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62" name="TextBox 262"/>
          <p:cNvSpPr txBox="1"/>
          <p:nvPr/>
        </p:nvSpPr>
        <p:spPr>
          <a:xfrm>
            <a:off x="250761" y="9922448"/>
            <a:ext cx="583505" cy="27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Page 3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8212060" y="9892750"/>
            <a:ext cx="1863879" cy="27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@SIH Idea submission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89150" y="2318027"/>
            <a:ext cx="7938239" cy="1307430"/>
            <a:chOff x="0" y="0"/>
            <a:chExt cx="647665" cy="1066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7665" cy="106671"/>
            </a:xfrm>
            <a:custGeom>
              <a:avLst/>
              <a:gdLst/>
              <a:ahLst/>
              <a:cxnLst/>
              <a:rect l="l" t="t" r="r" b="b"/>
              <a:pathLst>
                <a:path w="647665" h="106671">
                  <a:moveTo>
                    <a:pt x="19048" y="0"/>
                  </a:moveTo>
                  <a:lnTo>
                    <a:pt x="628617" y="0"/>
                  </a:lnTo>
                  <a:cubicBezTo>
                    <a:pt x="639137" y="0"/>
                    <a:pt x="647665" y="8528"/>
                    <a:pt x="647665" y="19048"/>
                  </a:cubicBezTo>
                  <a:lnTo>
                    <a:pt x="647665" y="87622"/>
                  </a:lnTo>
                  <a:cubicBezTo>
                    <a:pt x="647665" y="92674"/>
                    <a:pt x="645658" y="97519"/>
                    <a:pt x="642086" y="101091"/>
                  </a:cubicBezTo>
                  <a:cubicBezTo>
                    <a:pt x="638514" y="104664"/>
                    <a:pt x="633669" y="106671"/>
                    <a:pt x="628617" y="106671"/>
                  </a:cubicBezTo>
                  <a:lnTo>
                    <a:pt x="19048" y="106671"/>
                  </a:lnTo>
                  <a:cubicBezTo>
                    <a:pt x="8528" y="106671"/>
                    <a:pt x="0" y="98142"/>
                    <a:pt x="0" y="87622"/>
                  </a:cubicBezTo>
                  <a:lnTo>
                    <a:pt x="0" y="19048"/>
                  </a:lnTo>
                  <a:cubicBezTo>
                    <a:pt x="0" y="8528"/>
                    <a:pt x="8528" y="0"/>
                    <a:pt x="19048" y="0"/>
                  </a:cubicBezTo>
                  <a:close/>
                </a:path>
              </a:pathLst>
            </a:custGeom>
            <a:solidFill>
              <a:srgbClr val="F9F2FF"/>
            </a:solidFill>
            <a:ln w="19050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47665" cy="154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3891" y="1856177"/>
            <a:ext cx="9607608" cy="937625"/>
            <a:chOff x="0" y="0"/>
            <a:chExt cx="2701147" cy="2636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1147" cy="263610"/>
            </a:xfrm>
            <a:custGeom>
              <a:avLst/>
              <a:gdLst/>
              <a:ahLst/>
              <a:cxnLst/>
              <a:rect l="l" t="t" r="r" b="b"/>
              <a:pathLst>
                <a:path w="2701147" h="263610">
                  <a:moveTo>
                    <a:pt x="15739" y="0"/>
                  </a:moveTo>
                  <a:lnTo>
                    <a:pt x="2685408" y="0"/>
                  </a:lnTo>
                  <a:cubicBezTo>
                    <a:pt x="2689582" y="0"/>
                    <a:pt x="2693586" y="1658"/>
                    <a:pt x="2696537" y="4610"/>
                  </a:cubicBezTo>
                  <a:cubicBezTo>
                    <a:pt x="2699489" y="7561"/>
                    <a:pt x="2701147" y="11564"/>
                    <a:pt x="2701147" y="15739"/>
                  </a:cubicBezTo>
                  <a:lnTo>
                    <a:pt x="2701147" y="247872"/>
                  </a:lnTo>
                  <a:cubicBezTo>
                    <a:pt x="2701147" y="252046"/>
                    <a:pt x="2699489" y="256049"/>
                    <a:pt x="2696537" y="259000"/>
                  </a:cubicBezTo>
                  <a:cubicBezTo>
                    <a:pt x="2693586" y="261952"/>
                    <a:pt x="2689582" y="263610"/>
                    <a:pt x="2685408" y="263610"/>
                  </a:cubicBezTo>
                  <a:lnTo>
                    <a:pt x="15739" y="263610"/>
                  </a:lnTo>
                  <a:cubicBezTo>
                    <a:pt x="11564" y="263610"/>
                    <a:pt x="7561" y="261952"/>
                    <a:pt x="4610" y="259000"/>
                  </a:cubicBezTo>
                  <a:cubicBezTo>
                    <a:pt x="1658" y="256049"/>
                    <a:pt x="0" y="252046"/>
                    <a:pt x="0" y="247872"/>
                  </a:cubicBezTo>
                  <a:lnTo>
                    <a:pt x="0" y="15739"/>
                  </a:lnTo>
                  <a:cubicBezTo>
                    <a:pt x="0" y="11564"/>
                    <a:pt x="1658" y="7561"/>
                    <a:pt x="4610" y="4610"/>
                  </a:cubicBezTo>
                  <a:cubicBezTo>
                    <a:pt x="7561" y="1658"/>
                    <a:pt x="11564" y="0"/>
                    <a:pt x="15739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01147" cy="311235"/>
            </a:xfrm>
            <a:prstGeom prst="rect">
              <a:avLst/>
            </a:prstGeom>
          </p:spPr>
          <p:txBody>
            <a:bodyPr lIns="37618" tIns="37618" rIns="37618" bIns="37618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3891" y="2899381"/>
            <a:ext cx="9607608" cy="939186"/>
            <a:chOff x="0" y="0"/>
            <a:chExt cx="2701147" cy="2640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1147" cy="264049"/>
            </a:xfrm>
            <a:custGeom>
              <a:avLst/>
              <a:gdLst/>
              <a:ahLst/>
              <a:cxnLst/>
              <a:rect l="l" t="t" r="r" b="b"/>
              <a:pathLst>
                <a:path w="2701147" h="264049">
                  <a:moveTo>
                    <a:pt x="15739" y="0"/>
                  </a:moveTo>
                  <a:lnTo>
                    <a:pt x="2685408" y="0"/>
                  </a:lnTo>
                  <a:cubicBezTo>
                    <a:pt x="2689582" y="0"/>
                    <a:pt x="2693586" y="1658"/>
                    <a:pt x="2696537" y="4610"/>
                  </a:cubicBezTo>
                  <a:cubicBezTo>
                    <a:pt x="2699489" y="7561"/>
                    <a:pt x="2701147" y="11564"/>
                    <a:pt x="2701147" y="15739"/>
                  </a:cubicBezTo>
                  <a:lnTo>
                    <a:pt x="2701147" y="248310"/>
                  </a:lnTo>
                  <a:cubicBezTo>
                    <a:pt x="2701147" y="252485"/>
                    <a:pt x="2699489" y="256488"/>
                    <a:pt x="2696537" y="259439"/>
                  </a:cubicBezTo>
                  <a:cubicBezTo>
                    <a:pt x="2693586" y="262391"/>
                    <a:pt x="2689582" y="264049"/>
                    <a:pt x="2685408" y="264049"/>
                  </a:cubicBezTo>
                  <a:lnTo>
                    <a:pt x="15739" y="264049"/>
                  </a:lnTo>
                  <a:cubicBezTo>
                    <a:pt x="11564" y="264049"/>
                    <a:pt x="7561" y="262391"/>
                    <a:pt x="4610" y="259439"/>
                  </a:cubicBezTo>
                  <a:cubicBezTo>
                    <a:pt x="1658" y="256488"/>
                    <a:pt x="0" y="252485"/>
                    <a:pt x="0" y="248310"/>
                  </a:cubicBezTo>
                  <a:lnTo>
                    <a:pt x="0" y="15739"/>
                  </a:lnTo>
                  <a:cubicBezTo>
                    <a:pt x="0" y="11564"/>
                    <a:pt x="1658" y="7561"/>
                    <a:pt x="4610" y="4610"/>
                  </a:cubicBezTo>
                  <a:cubicBezTo>
                    <a:pt x="7561" y="1658"/>
                    <a:pt x="11564" y="0"/>
                    <a:pt x="15739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01147" cy="311674"/>
            </a:xfrm>
            <a:prstGeom prst="rect">
              <a:avLst/>
            </a:prstGeom>
          </p:spPr>
          <p:txBody>
            <a:bodyPr lIns="37618" tIns="37618" rIns="37618" bIns="37618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3891" y="4000492"/>
            <a:ext cx="9607608" cy="908662"/>
            <a:chOff x="0" y="0"/>
            <a:chExt cx="2701147" cy="2554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1147" cy="255467"/>
            </a:xfrm>
            <a:custGeom>
              <a:avLst/>
              <a:gdLst/>
              <a:ahLst/>
              <a:cxnLst/>
              <a:rect l="l" t="t" r="r" b="b"/>
              <a:pathLst>
                <a:path w="2701147" h="255467">
                  <a:moveTo>
                    <a:pt x="15739" y="0"/>
                  </a:moveTo>
                  <a:lnTo>
                    <a:pt x="2685408" y="0"/>
                  </a:lnTo>
                  <a:cubicBezTo>
                    <a:pt x="2689582" y="0"/>
                    <a:pt x="2693586" y="1658"/>
                    <a:pt x="2696537" y="4610"/>
                  </a:cubicBezTo>
                  <a:cubicBezTo>
                    <a:pt x="2699489" y="7561"/>
                    <a:pt x="2701147" y="11564"/>
                    <a:pt x="2701147" y="15739"/>
                  </a:cubicBezTo>
                  <a:lnTo>
                    <a:pt x="2701147" y="239729"/>
                  </a:lnTo>
                  <a:cubicBezTo>
                    <a:pt x="2701147" y="243903"/>
                    <a:pt x="2699489" y="247906"/>
                    <a:pt x="2696537" y="250858"/>
                  </a:cubicBezTo>
                  <a:cubicBezTo>
                    <a:pt x="2693586" y="253809"/>
                    <a:pt x="2689582" y="255467"/>
                    <a:pt x="2685408" y="255467"/>
                  </a:cubicBezTo>
                  <a:lnTo>
                    <a:pt x="15739" y="255467"/>
                  </a:lnTo>
                  <a:cubicBezTo>
                    <a:pt x="11564" y="255467"/>
                    <a:pt x="7561" y="253809"/>
                    <a:pt x="4610" y="250858"/>
                  </a:cubicBezTo>
                  <a:cubicBezTo>
                    <a:pt x="1658" y="247906"/>
                    <a:pt x="0" y="243903"/>
                    <a:pt x="0" y="239729"/>
                  </a:cubicBezTo>
                  <a:lnTo>
                    <a:pt x="0" y="15739"/>
                  </a:lnTo>
                  <a:cubicBezTo>
                    <a:pt x="0" y="11564"/>
                    <a:pt x="1658" y="7561"/>
                    <a:pt x="4610" y="4610"/>
                  </a:cubicBezTo>
                  <a:cubicBezTo>
                    <a:pt x="7561" y="1658"/>
                    <a:pt x="11564" y="0"/>
                    <a:pt x="15739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701147" cy="303092"/>
            </a:xfrm>
            <a:prstGeom prst="rect">
              <a:avLst/>
            </a:prstGeom>
          </p:spPr>
          <p:txBody>
            <a:bodyPr lIns="37618" tIns="37618" rIns="37618" bIns="37618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3891" y="5071079"/>
            <a:ext cx="9607608" cy="955637"/>
            <a:chOff x="0" y="0"/>
            <a:chExt cx="2701147" cy="2686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01147" cy="268674"/>
            </a:xfrm>
            <a:custGeom>
              <a:avLst/>
              <a:gdLst/>
              <a:ahLst/>
              <a:cxnLst/>
              <a:rect l="l" t="t" r="r" b="b"/>
              <a:pathLst>
                <a:path w="2701147" h="268674">
                  <a:moveTo>
                    <a:pt x="15739" y="0"/>
                  </a:moveTo>
                  <a:lnTo>
                    <a:pt x="2685408" y="0"/>
                  </a:lnTo>
                  <a:cubicBezTo>
                    <a:pt x="2689582" y="0"/>
                    <a:pt x="2693586" y="1658"/>
                    <a:pt x="2696537" y="4610"/>
                  </a:cubicBezTo>
                  <a:cubicBezTo>
                    <a:pt x="2699489" y="7561"/>
                    <a:pt x="2701147" y="11564"/>
                    <a:pt x="2701147" y="15739"/>
                  </a:cubicBezTo>
                  <a:lnTo>
                    <a:pt x="2701147" y="252936"/>
                  </a:lnTo>
                  <a:cubicBezTo>
                    <a:pt x="2701147" y="257110"/>
                    <a:pt x="2699489" y="261113"/>
                    <a:pt x="2696537" y="264064"/>
                  </a:cubicBezTo>
                  <a:cubicBezTo>
                    <a:pt x="2693586" y="267016"/>
                    <a:pt x="2689582" y="268674"/>
                    <a:pt x="2685408" y="268674"/>
                  </a:cubicBezTo>
                  <a:lnTo>
                    <a:pt x="15739" y="268674"/>
                  </a:lnTo>
                  <a:cubicBezTo>
                    <a:pt x="11564" y="268674"/>
                    <a:pt x="7561" y="267016"/>
                    <a:pt x="4610" y="264064"/>
                  </a:cubicBezTo>
                  <a:cubicBezTo>
                    <a:pt x="1658" y="261113"/>
                    <a:pt x="0" y="257110"/>
                    <a:pt x="0" y="252936"/>
                  </a:cubicBezTo>
                  <a:lnTo>
                    <a:pt x="0" y="15739"/>
                  </a:lnTo>
                  <a:cubicBezTo>
                    <a:pt x="0" y="11564"/>
                    <a:pt x="1658" y="7561"/>
                    <a:pt x="4610" y="4610"/>
                  </a:cubicBezTo>
                  <a:cubicBezTo>
                    <a:pt x="7561" y="1658"/>
                    <a:pt x="11564" y="0"/>
                    <a:pt x="15739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701147" cy="316299"/>
            </a:xfrm>
            <a:prstGeom prst="rect">
              <a:avLst/>
            </a:prstGeom>
          </p:spPr>
          <p:txBody>
            <a:bodyPr lIns="37618" tIns="37618" rIns="37618" bIns="37618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370959" y="1953717"/>
            <a:ext cx="750047" cy="742547"/>
          </a:xfrm>
          <a:custGeom>
            <a:avLst/>
            <a:gdLst/>
            <a:ahLst/>
            <a:cxnLst/>
            <a:rect l="l" t="t" r="r" b="b"/>
            <a:pathLst>
              <a:path w="750047" h="742547">
                <a:moveTo>
                  <a:pt x="0" y="0"/>
                </a:moveTo>
                <a:lnTo>
                  <a:pt x="750047" y="0"/>
                </a:lnTo>
                <a:lnTo>
                  <a:pt x="750047" y="742546"/>
                </a:lnTo>
                <a:lnTo>
                  <a:pt x="0" y="742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43328" y="3121309"/>
            <a:ext cx="607643" cy="607643"/>
          </a:xfrm>
          <a:custGeom>
            <a:avLst/>
            <a:gdLst/>
            <a:ahLst/>
            <a:cxnLst/>
            <a:rect l="l" t="t" r="r" b="b"/>
            <a:pathLst>
              <a:path w="607643" h="607643">
                <a:moveTo>
                  <a:pt x="0" y="0"/>
                </a:moveTo>
                <a:lnTo>
                  <a:pt x="607643" y="0"/>
                </a:lnTo>
                <a:lnTo>
                  <a:pt x="607643" y="607643"/>
                </a:lnTo>
                <a:lnTo>
                  <a:pt x="0" y="6076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56831" y="4062543"/>
            <a:ext cx="780637" cy="784560"/>
          </a:xfrm>
          <a:custGeom>
            <a:avLst/>
            <a:gdLst/>
            <a:ahLst/>
            <a:cxnLst/>
            <a:rect l="l" t="t" r="r" b="b"/>
            <a:pathLst>
              <a:path w="780637" h="784560">
                <a:moveTo>
                  <a:pt x="0" y="0"/>
                </a:moveTo>
                <a:lnTo>
                  <a:pt x="780637" y="0"/>
                </a:lnTo>
                <a:lnTo>
                  <a:pt x="780637" y="784560"/>
                </a:lnTo>
                <a:lnTo>
                  <a:pt x="0" y="784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72577" y="5219065"/>
            <a:ext cx="748429" cy="714750"/>
          </a:xfrm>
          <a:custGeom>
            <a:avLst/>
            <a:gdLst/>
            <a:ahLst/>
            <a:cxnLst/>
            <a:rect l="l" t="t" r="r" b="b"/>
            <a:pathLst>
              <a:path w="748429" h="714750">
                <a:moveTo>
                  <a:pt x="0" y="0"/>
                </a:moveTo>
                <a:lnTo>
                  <a:pt x="748429" y="0"/>
                </a:lnTo>
                <a:lnTo>
                  <a:pt x="748429" y="714750"/>
                </a:lnTo>
                <a:lnTo>
                  <a:pt x="0" y="714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71991" y="6588691"/>
            <a:ext cx="9607608" cy="2996998"/>
            <a:chOff x="0" y="0"/>
            <a:chExt cx="2530399" cy="7893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530399" cy="789333"/>
            </a:xfrm>
            <a:custGeom>
              <a:avLst/>
              <a:gdLst/>
              <a:ahLst/>
              <a:cxnLst/>
              <a:rect l="l" t="t" r="r" b="b"/>
              <a:pathLst>
                <a:path w="2530399" h="789333">
                  <a:moveTo>
                    <a:pt x="20145" y="0"/>
                  </a:moveTo>
                  <a:lnTo>
                    <a:pt x="2510254" y="0"/>
                  </a:lnTo>
                  <a:cubicBezTo>
                    <a:pt x="2515596" y="0"/>
                    <a:pt x="2520721" y="2122"/>
                    <a:pt x="2524498" y="5900"/>
                  </a:cubicBezTo>
                  <a:cubicBezTo>
                    <a:pt x="2528276" y="9678"/>
                    <a:pt x="2530399" y="14802"/>
                    <a:pt x="2530399" y="20145"/>
                  </a:cubicBezTo>
                  <a:lnTo>
                    <a:pt x="2530399" y="769187"/>
                  </a:lnTo>
                  <a:cubicBezTo>
                    <a:pt x="2530399" y="780313"/>
                    <a:pt x="2521379" y="789333"/>
                    <a:pt x="2510254" y="789333"/>
                  </a:cubicBezTo>
                  <a:lnTo>
                    <a:pt x="20145" y="789333"/>
                  </a:lnTo>
                  <a:cubicBezTo>
                    <a:pt x="9019" y="789333"/>
                    <a:pt x="0" y="780313"/>
                    <a:pt x="0" y="769187"/>
                  </a:cubicBezTo>
                  <a:lnTo>
                    <a:pt x="0" y="20145"/>
                  </a:lnTo>
                  <a:cubicBezTo>
                    <a:pt x="0" y="9019"/>
                    <a:pt x="9019" y="0"/>
                    <a:pt x="20145" y="0"/>
                  </a:cubicBezTo>
                  <a:close/>
                </a:path>
              </a:pathLst>
            </a:custGeom>
            <a:solidFill>
              <a:srgbClr val="00569E">
                <a:alpha val="2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530399" cy="83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083255" y="61671"/>
            <a:ext cx="2044158" cy="896097"/>
            <a:chOff x="0" y="0"/>
            <a:chExt cx="2725544" cy="1194795"/>
          </a:xfrm>
        </p:grpSpPr>
        <p:sp>
          <p:nvSpPr>
            <p:cNvPr id="25" name="Freeform 25"/>
            <p:cNvSpPr/>
            <p:nvPr/>
          </p:nvSpPr>
          <p:spPr>
            <a:xfrm>
              <a:off x="1063815" y="114817"/>
              <a:ext cx="1661729" cy="1079978"/>
            </a:xfrm>
            <a:custGeom>
              <a:avLst/>
              <a:gdLst/>
              <a:ahLst/>
              <a:cxnLst/>
              <a:rect l="l" t="t" r="r" b="b"/>
              <a:pathLst>
                <a:path w="1661729" h="1079978">
                  <a:moveTo>
                    <a:pt x="0" y="0"/>
                  </a:moveTo>
                  <a:lnTo>
                    <a:pt x="1661729" y="0"/>
                  </a:lnTo>
                  <a:lnTo>
                    <a:pt x="1661729" y="1079978"/>
                  </a:lnTo>
                  <a:lnTo>
                    <a:pt x="0" y="1079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3069" t="-72388" r="-49897" b="-63614"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63815" cy="1138646"/>
            </a:xfrm>
            <a:custGeom>
              <a:avLst/>
              <a:gdLst/>
              <a:ahLst/>
              <a:cxnLst/>
              <a:rect l="l" t="t" r="r" b="b"/>
              <a:pathLst>
                <a:path w="1063815" h="1138646">
                  <a:moveTo>
                    <a:pt x="0" y="0"/>
                  </a:moveTo>
                  <a:lnTo>
                    <a:pt x="1063815" y="0"/>
                  </a:lnTo>
                  <a:lnTo>
                    <a:pt x="1063815" y="1138646"/>
                  </a:lnTo>
                  <a:lnTo>
                    <a:pt x="0" y="1138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233891" y="177820"/>
            <a:ext cx="1263114" cy="862289"/>
            <a:chOff x="0" y="0"/>
            <a:chExt cx="1684152" cy="1149719"/>
          </a:xfrm>
        </p:grpSpPr>
        <p:grpSp>
          <p:nvGrpSpPr>
            <p:cNvPr id="28" name="Group 28"/>
            <p:cNvGrpSpPr>
              <a:grpSpLocks noChangeAspect="1"/>
            </p:cNvGrpSpPr>
            <p:nvPr/>
          </p:nvGrpSpPr>
          <p:grpSpPr>
            <a:xfrm rot="5400000">
              <a:off x="267217" y="-267217"/>
              <a:ext cx="1149719" cy="1684152"/>
              <a:chOff x="0" y="0"/>
              <a:chExt cx="4352290" cy="6375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2700" y="12700"/>
                <a:ext cx="432562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325620" h="6350000">
                    <a:moveTo>
                      <a:pt x="2162810" y="0"/>
                    </a:moveTo>
                    <a:cubicBezTo>
                      <a:pt x="3357880" y="0"/>
                      <a:pt x="4325620" y="1421130"/>
                      <a:pt x="4325620" y="3175000"/>
                    </a:cubicBezTo>
                    <a:cubicBezTo>
                      <a:pt x="4325620" y="4928870"/>
                      <a:pt x="3357880" y="6350000"/>
                      <a:pt x="2162810" y="6350000"/>
                    </a:cubicBezTo>
                    <a:cubicBezTo>
                      <a:pt x="967740" y="6350000"/>
                      <a:pt x="0" y="4928870"/>
                      <a:pt x="0" y="3175000"/>
                    </a:cubicBezTo>
                    <a:cubicBezTo>
                      <a:pt x="0" y="1421130"/>
                      <a:pt x="967740" y="0"/>
                      <a:pt x="21628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Freeform 30"/>
              <p:cNvSpPr/>
              <p:nvPr/>
            </p:nvSpPr>
            <p:spPr>
              <a:xfrm>
                <a:off x="0" y="0"/>
                <a:ext cx="4352290" cy="6375400"/>
              </a:xfrm>
              <a:custGeom>
                <a:avLst/>
                <a:gdLst/>
                <a:ahLst/>
                <a:cxnLst/>
                <a:rect l="l" t="t" r="r" b="b"/>
                <a:pathLst>
                  <a:path w="4352290" h="6375400">
                    <a:moveTo>
                      <a:pt x="2175510" y="6375400"/>
                    </a:moveTo>
                    <a:cubicBezTo>
                      <a:pt x="1593850" y="6375400"/>
                      <a:pt x="1046480" y="6042660"/>
                      <a:pt x="635000" y="5439410"/>
                    </a:cubicBezTo>
                    <a:cubicBezTo>
                      <a:pt x="226060" y="4838700"/>
                      <a:pt x="0" y="4038600"/>
                      <a:pt x="0" y="3187700"/>
                    </a:cubicBezTo>
                    <a:cubicBezTo>
                      <a:pt x="0" y="2336800"/>
                      <a:pt x="226060" y="1536700"/>
                      <a:pt x="636270" y="935990"/>
                    </a:cubicBezTo>
                    <a:cubicBezTo>
                      <a:pt x="1046480" y="332740"/>
                      <a:pt x="1593850" y="0"/>
                      <a:pt x="2175510" y="0"/>
                    </a:cubicBezTo>
                    <a:cubicBezTo>
                      <a:pt x="2757170" y="0"/>
                      <a:pt x="3304540" y="332740"/>
                      <a:pt x="3716020" y="935990"/>
                    </a:cubicBezTo>
                    <a:cubicBezTo>
                      <a:pt x="4126230" y="1536700"/>
                      <a:pt x="4352290" y="2336800"/>
                      <a:pt x="4352290" y="3187700"/>
                    </a:cubicBezTo>
                    <a:cubicBezTo>
                      <a:pt x="4352290" y="4038600"/>
                      <a:pt x="4126230" y="4838700"/>
                      <a:pt x="3716020" y="5439410"/>
                    </a:cubicBezTo>
                    <a:cubicBezTo>
                      <a:pt x="3304540" y="6042660"/>
                      <a:pt x="2758440" y="6375400"/>
                      <a:pt x="2175510" y="6375400"/>
                    </a:cubicBezTo>
                    <a:close/>
                    <a:moveTo>
                      <a:pt x="2175510" y="25400"/>
                    </a:moveTo>
                    <a:cubicBezTo>
                      <a:pt x="990600" y="25400"/>
                      <a:pt x="25400" y="1443990"/>
                      <a:pt x="25400" y="3187700"/>
                    </a:cubicBezTo>
                    <a:cubicBezTo>
                      <a:pt x="25400" y="4931410"/>
                      <a:pt x="990600" y="6350000"/>
                      <a:pt x="2175510" y="6350000"/>
                    </a:cubicBezTo>
                    <a:cubicBezTo>
                      <a:pt x="3360420" y="6350000"/>
                      <a:pt x="4325620" y="4931410"/>
                      <a:pt x="4325620" y="3187700"/>
                    </a:cubicBezTo>
                    <a:cubicBezTo>
                      <a:pt x="4325620" y="1443990"/>
                      <a:pt x="3361690" y="25400"/>
                      <a:pt x="2175510" y="2540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7292" y="85096"/>
              <a:ext cx="1549568" cy="793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Mausam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105138" y="5144334"/>
            <a:ext cx="7938239" cy="1307430"/>
            <a:chOff x="0" y="0"/>
            <a:chExt cx="647665" cy="10667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47665" cy="106671"/>
            </a:xfrm>
            <a:custGeom>
              <a:avLst/>
              <a:gdLst/>
              <a:ahLst/>
              <a:cxnLst/>
              <a:rect l="l" t="t" r="r" b="b"/>
              <a:pathLst>
                <a:path w="647665" h="106671">
                  <a:moveTo>
                    <a:pt x="19048" y="0"/>
                  </a:moveTo>
                  <a:lnTo>
                    <a:pt x="628617" y="0"/>
                  </a:lnTo>
                  <a:cubicBezTo>
                    <a:pt x="639137" y="0"/>
                    <a:pt x="647665" y="8528"/>
                    <a:pt x="647665" y="19048"/>
                  </a:cubicBezTo>
                  <a:lnTo>
                    <a:pt x="647665" y="87622"/>
                  </a:lnTo>
                  <a:cubicBezTo>
                    <a:pt x="647665" y="92674"/>
                    <a:pt x="645658" y="97519"/>
                    <a:pt x="642086" y="101091"/>
                  </a:cubicBezTo>
                  <a:cubicBezTo>
                    <a:pt x="638514" y="104664"/>
                    <a:pt x="633669" y="106671"/>
                    <a:pt x="628617" y="106671"/>
                  </a:cubicBezTo>
                  <a:lnTo>
                    <a:pt x="19048" y="106671"/>
                  </a:lnTo>
                  <a:cubicBezTo>
                    <a:pt x="8528" y="106671"/>
                    <a:pt x="0" y="98142"/>
                    <a:pt x="0" y="87622"/>
                  </a:cubicBezTo>
                  <a:lnTo>
                    <a:pt x="0" y="19048"/>
                  </a:lnTo>
                  <a:cubicBezTo>
                    <a:pt x="0" y="8528"/>
                    <a:pt x="8528" y="0"/>
                    <a:pt x="19048" y="0"/>
                  </a:cubicBezTo>
                  <a:close/>
                </a:path>
              </a:pathLst>
            </a:custGeom>
            <a:solidFill>
              <a:srgbClr val="F9F2FF"/>
            </a:solidFill>
            <a:ln w="19050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47665" cy="154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0268027" y="5481570"/>
            <a:ext cx="567973" cy="585539"/>
          </a:xfrm>
          <a:custGeom>
            <a:avLst/>
            <a:gdLst/>
            <a:ahLst/>
            <a:cxnLst/>
            <a:rect l="l" t="t" r="r" b="b"/>
            <a:pathLst>
              <a:path w="567973" h="585539">
                <a:moveTo>
                  <a:pt x="0" y="0"/>
                </a:moveTo>
                <a:lnTo>
                  <a:pt x="567974" y="0"/>
                </a:lnTo>
                <a:lnTo>
                  <a:pt x="567974" y="585539"/>
                </a:lnTo>
                <a:lnTo>
                  <a:pt x="0" y="585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10029993" y="7968743"/>
            <a:ext cx="7938239" cy="1307430"/>
            <a:chOff x="0" y="0"/>
            <a:chExt cx="647665" cy="1066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7665" cy="106671"/>
            </a:xfrm>
            <a:custGeom>
              <a:avLst/>
              <a:gdLst/>
              <a:ahLst/>
              <a:cxnLst/>
              <a:rect l="l" t="t" r="r" b="b"/>
              <a:pathLst>
                <a:path w="647665" h="106671">
                  <a:moveTo>
                    <a:pt x="19048" y="0"/>
                  </a:moveTo>
                  <a:lnTo>
                    <a:pt x="628617" y="0"/>
                  </a:lnTo>
                  <a:cubicBezTo>
                    <a:pt x="639137" y="0"/>
                    <a:pt x="647665" y="8528"/>
                    <a:pt x="647665" y="19048"/>
                  </a:cubicBezTo>
                  <a:lnTo>
                    <a:pt x="647665" y="87622"/>
                  </a:lnTo>
                  <a:cubicBezTo>
                    <a:pt x="647665" y="92674"/>
                    <a:pt x="645658" y="97519"/>
                    <a:pt x="642086" y="101091"/>
                  </a:cubicBezTo>
                  <a:cubicBezTo>
                    <a:pt x="638514" y="104664"/>
                    <a:pt x="633669" y="106671"/>
                    <a:pt x="628617" y="106671"/>
                  </a:cubicBezTo>
                  <a:lnTo>
                    <a:pt x="19048" y="106671"/>
                  </a:lnTo>
                  <a:cubicBezTo>
                    <a:pt x="8528" y="106671"/>
                    <a:pt x="0" y="98142"/>
                    <a:pt x="0" y="87622"/>
                  </a:cubicBezTo>
                  <a:lnTo>
                    <a:pt x="0" y="19048"/>
                  </a:lnTo>
                  <a:cubicBezTo>
                    <a:pt x="0" y="8528"/>
                    <a:pt x="8528" y="0"/>
                    <a:pt x="19048" y="0"/>
                  </a:cubicBezTo>
                  <a:close/>
                </a:path>
              </a:pathLst>
            </a:custGeom>
            <a:solidFill>
              <a:srgbClr val="F9F2FF"/>
            </a:solidFill>
            <a:ln w="19050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647665" cy="154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068093" y="6556538"/>
            <a:ext cx="7938239" cy="1307430"/>
            <a:chOff x="0" y="0"/>
            <a:chExt cx="647665" cy="10667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47665" cy="106671"/>
            </a:xfrm>
            <a:custGeom>
              <a:avLst/>
              <a:gdLst/>
              <a:ahLst/>
              <a:cxnLst/>
              <a:rect l="l" t="t" r="r" b="b"/>
              <a:pathLst>
                <a:path w="647665" h="106671">
                  <a:moveTo>
                    <a:pt x="19048" y="0"/>
                  </a:moveTo>
                  <a:lnTo>
                    <a:pt x="628617" y="0"/>
                  </a:lnTo>
                  <a:cubicBezTo>
                    <a:pt x="639137" y="0"/>
                    <a:pt x="647665" y="8528"/>
                    <a:pt x="647665" y="19048"/>
                  </a:cubicBezTo>
                  <a:lnTo>
                    <a:pt x="647665" y="87622"/>
                  </a:lnTo>
                  <a:cubicBezTo>
                    <a:pt x="647665" y="92674"/>
                    <a:pt x="645658" y="97519"/>
                    <a:pt x="642086" y="101091"/>
                  </a:cubicBezTo>
                  <a:cubicBezTo>
                    <a:pt x="638514" y="104664"/>
                    <a:pt x="633669" y="106671"/>
                    <a:pt x="628617" y="106671"/>
                  </a:cubicBezTo>
                  <a:lnTo>
                    <a:pt x="19048" y="106671"/>
                  </a:lnTo>
                  <a:cubicBezTo>
                    <a:pt x="8528" y="106671"/>
                    <a:pt x="0" y="98142"/>
                    <a:pt x="0" y="87622"/>
                  </a:cubicBezTo>
                  <a:lnTo>
                    <a:pt x="0" y="19048"/>
                  </a:lnTo>
                  <a:cubicBezTo>
                    <a:pt x="0" y="8528"/>
                    <a:pt x="8528" y="0"/>
                    <a:pt x="19048" y="0"/>
                  </a:cubicBezTo>
                  <a:close/>
                </a:path>
              </a:pathLst>
            </a:custGeom>
            <a:solidFill>
              <a:srgbClr val="F9F2FF"/>
            </a:solidFill>
            <a:ln w="19050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647665" cy="154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0268027" y="6931851"/>
            <a:ext cx="524761" cy="524761"/>
          </a:xfrm>
          <a:custGeom>
            <a:avLst/>
            <a:gdLst/>
            <a:ahLst/>
            <a:cxnLst/>
            <a:rect l="l" t="t" r="r" b="b"/>
            <a:pathLst>
              <a:path w="524761" h="524761">
                <a:moveTo>
                  <a:pt x="0" y="0"/>
                </a:moveTo>
                <a:lnTo>
                  <a:pt x="524762" y="0"/>
                </a:lnTo>
                <a:lnTo>
                  <a:pt x="524762" y="524762"/>
                </a:lnTo>
                <a:lnTo>
                  <a:pt x="0" y="5247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0222462" y="2652161"/>
            <a:ext cx="529284" cy="661605"/>
          </a:xfrm>
          <a:custGeom>
            <a:avLst/>
            <a:gdLst/>
            <a:ahLst/>
            <a:cxnLst/>
            <a:rect l="l" t="t" r="r" b="b"/>
            <a:pathLst>
              <a:path w="529284" h="661605">
                <a:moveTo>
                  <a:pt x="0" y="0"/>
                </a:moveTo>
                <a:lnTo>
                  <a:pt x="529284" y="0"/>
                </a:lnTo>
                <a:lnTo>
                  <a:pt x="529284" y="661604"/>
                </a:lnTo>
                <a:lnTo>
                  <a:pt x="0" y="661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0268027" y="8292593"/>
            <a:ext cx="604457" cy="574234"/>
          </a:xfrm>
          <a:custGeom>
            <a:avLst/>
            <a:gdLst/>
            <a:ahLst/>
            <a:cxnLst/>
            <a:rect l="l" t="t" r="r" b="b"/>
            <a:pathLst>
              <a:path w="604457" h="574234">
                <a:moveTo>
                  <a:pt x="0" y="0"/>
                </a:moveTo>
                <a:lnTo>
                  <a:pt x="604458" y="0"/>
                </a:lnTo>
                <a:lnTo>
                  <a:pt x="604458" y="574234"/>
                </a:lnTo>
                <a:lnTo>
                  <a:pt x="0" y="574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10142182" y="3732129"/>
            <a:ext cx="7938239" cy="1307430"/>
            <a:chOff x="0" y="0"/>
            <a:chExt cx="647665" cy="10667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47665" cy="106671"/>
            </a:xfrm>
            <a:custGeom>
              <a:avLst/>
              <a:gdLst/>
              <a:ahLst/>
              <a:cxnLst/>
              <a:rect l="l" t="t" r="r" b="b"/>
              <a:pathLst>
                <a:path w="647665" h="106671">
                  <a:moveTo>
                    <a:pt x="19048" y="0"/>
                  </a:moveTo>
                  <a:lnTo>
                    <a:pt x="628617" y="0"/>
                  </a:lnTo>
                  <a:cubicBezTo>
                    <a:pt x="639137" y="0"/>
                    <a:pt x="647665" y="8528"/>
                    <a:pt x="647665" y="19048"/>
                  </a:cubicBezTo>
                  <a:lnTo>
                    <a:pt x="647665" y="87622"/>
                  </a:lnTo>
                  <a:cubicBezTo>
                    <a:pt x="647665" y="92674"/>
                    <a:pt x="645658" y="97519"/>
                    <a:pt x="642086" y="101091"/>
                  </a:cubicBezTo>
                  <a:cubicBezTo>
                    <a:pt x="638514" y="104664"/>
                    <a:pt x="633669" y="106671"/>
                    <a:pt x="628617" y="106671"/>
                  </a:cubicBezTo>
                  <a:lnTo>
                    <a:pt x="19048" y="106671"/>
                  </a:lnTo>
                  <a:cubicBezTo>
                    <a:pt x="8528" y="106671"/>
                    <a:pt x="0" y="98142"/>
                    <a:pt x="0" y="87622"/>
                  </a:cubicBezTo>
                  <a:lnTo>
                    <a:pt x="0" y="19048"/>
                  </a:lnTo>
                  <a:cubicBezTo>
                    <a:pt x="0" y="8528"/>
                    <a:pt x="8528" y="0"/>
                    <a:pt x="19048" y="0"/>
                  </a:cubicBezTo>
                  <a:close/>
                </a:path>
              </a:pathLst>
            </a:custGeom>
            <a:solidFill>
              <a:srgbClr val="F9F2FF"/>
            </a:solidFill>
            <a:ln w="19050" cap="rnd">
              <a:solidFill>
                <a:srgbClr val="000000"/>
              </a:solidFill>
              <a:prstDash val="lgDash"/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647665" cy="154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>
            <a:off x="10259166" y="4021376"/>
            <a:ext cx="604747" cy="604747"/>
          </a:xfrm>
          <a:custGeom>
            <a:avLst/>
            <a:gdLst/>
            <a:ahLst/>
            <a:cxnLst/>
            <a:rect l="l" t="t" r="r" b="b"/>
            <a:pathLst>
              <a:path w="604747" h="604747">
                <a:moveTo>
                  <a:pt x="0" y="0"/>
                </a:moveTo>
                <a:lnTo>
                  <a:pt x="604746" y="0"/>
                </a:lnTo>
                <a:lnTo>
                  <a:pt x="604746" y="604746"/>
                </a:lnTo>
                <a:lnTo>
                  <a:pt x="0" y="604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3682825" y="1837548"/>
            <a:ext cx="2097426" cy="40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  <a:spcBef>
                <a:spcPct val="0"/>
              </a:spcBef>
            </a:pPr>
            <a:r>
              <a:rPr lang="en-US" sz="2095" b="1">
                <a:solidFill>
                  <a:srgbClr val="1800AD"/>
                </a:solidFill>
                <a:latin typeface="Futura Bold"/>
                <a:ea typeface="Futura Bold"/>
                <a:cs typeface="Futura Bold"/>
                <a:sym typeface="Futura Bold"/>
              </a:rPr>
              <a:t>TECHNICAL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376705" y="2819229"/>
            <a:ext cx="2709664" cy="40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  <a:spcBef>
                <a:spcPct val="0"/>
              </a:spcBef>
            </a:pPr>
            <a:r>
              <a:rPr lang="en-US" sz="2095" b="1">
                <a:solidFill>
                  <a:srgbClr val="1800AD"/>
                </a:solidFill>
                <a:latin typeface="Futura Bold"/>
                <a:ea typeface="Futura Bold"/>
                <a:cs typeface="Futura Bold"/>
                <a:sym typeface="Futura Bold"/>
              </a:rPr>
              <a:t>OPERATIONAL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26981" y="3951176"/>
            <a:ext cx="2209112" cy="40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  <a:spcBef>
                <a:spcPct val="0"/>
              </a:spcBef>
            </a:pPr>
            <a:r>
              <a:rPr lang="en-US" sz="2095" b="1">
                <a:solidFill>
                  <a:srgbClr val="1800AD"/>
                </a:solidFill>
                <a:latin typeface="Futura Bold"/>
                <a:ea typeface="Futura Bold"/>
                <a:cs typeface="Futura Bold"/>
                <a:sym typeface="Futura Bold"/>
              </a:rPr>
              <a:t>ECONOMIC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348743" y="5025438"/>
            <a:ext cx="2765589" cy="40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3"/>
              </a:lnSpc>
              <a:spcBef>
                <a:spcPct val="0"/>
              </a:spcBef>
            </a:pPr>
            <a:r>
              <a:rPr lang="en-US" sz="2095" b="1">
                <a:solidFill>
                  <a:srgbClr val="1800AD"/>
                </a:solidFill>
                <a:latin typeface="Futura Bold"/>
                <a:ea typeface="Futura Bold"/>
                <a:cs typeface="Futura Bold"/>
                <a:sym typeface="Futura Bold"/>
              </a:rPr>
              <a:t>INSTITUTIONAL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32898" y="2243572"/>
            <a:ext cx="8546702" cy="529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628" b="1" spc="-8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Already green in CI. The engine is I/O-free, so scaling /home only scales a cache; the warm path stays in-process at ~2 ms.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32898" y="3225253"/>
            <a:ext cx="8421242" cy="52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627" b="1" spc="-8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Zero-setup by design: no API key, Docker, or DB server. SQLite initializes on first boot, with Render deployment via blueprint. One script takes a fresh machine from clone to passing tests.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32898" y="4353818"/>
            <a:ext cx="8421242" cy="52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627" b="1" spc="-8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All default data sources are free and keyless. Paid sources fall back to labelled estimates, while the demo runs on free Render hosting.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32898" y="5421379"/>
            <a:ext cx="8421242" cy="52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627" b="1" spc="-8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Server-driven cards turn homepage updates into backend deployments, not app-store releases. The IMD provider is ready and can be enabled by whitelisting—no code change needed.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085159" y="84665"/>
            <a:ext cx="8173641" cy="873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 dirty="0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FEASIBILITY AND VIABILITY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95326" y="857057"/>
            <a:ext cx="5888906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u="none" strike="noStrike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RIGOR, METRICS &amp; RISK MITIGATION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2577" y="1374811"/>
            <a:ext cx="2370311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FEASIBILITIES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2577" y="6131491"/>
            <a:ext cx="1682353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EVIDENCE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135154" y="1764472"/>
            <a:ext cx="3542219" cy="497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RISKS → MITIGATION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27209" y="2505247"/>
            <a:ext cx="2892289" cy="100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"/>
              </a:lnSpc>
            </a:pPr>
            <a:r>
              <a:rPr lang="en-US" sz="209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IMD APIs need whitelisting, answer 401 from any un-approved host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969575" y="4121785"/>
            <a:ext cx="2588506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"/>
              </a:lnSpc>
            </a:pPr>
            <a:r>
              <a:rPr lang="en-US" sz="209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A judged demo depends on the network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802682" y="5596136"/>
            <a:ext cx="2847325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"/>
              </a:lnSpc>
            </a:pPr>
            <a:r>
              <a:rPr lang="en-US" sz="209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Modelled values mistaken for observations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733991" y="6880388"/>
            <a:ext cx="3036522" cy="76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"/>
              </a:lnSpc>
            </a:pPr>
            <a:r>
              <a:rPr lang="en-US" sz="209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A ranker that cannot be explained cannot be operated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819744" y="8389095"/>
            <a:ext cx="2813201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4"/>
              </a:lnSpc>
            </a:pPr>
            <a:r>
              <a:rPr lang="en-US" sz="209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Learning could bury a safety-critical card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074257" y="2440960"/>
            <a:ext cx="3810988" cy="1086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7"/>
              </a:lnSpc>
            </a:pPr>
            <a:r>
              <a:rPr lang="en-US" sz="18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providers/imd.py handles 401s and retries after 10 min. Once approved, IMD goes live via whitelisting—no code changes.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212028" y="3946976"/>
            <a:ext cx="3681441" cy="81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7"/>
              </a:lnSpc>
            </a:pPr>
            <a:r>
              <a:rPr lang="en-US" sz="18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Offline demo: cached home renders with freshness; if cleared, “Sample data” appears.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124283" y="5334071"/>
            <a:ext cx="3856931" cy="1034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3"/>
              </a:lnSpc>
            </a:pPr>
            <a:r>
              <a:rPr lang="en-US" sz="18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"source": "estimated" + Estimated chip + tides disclaimer, enforced by the product principles in VISION.md and verified in QA step 4d.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295732" y="6697355"/>
            <a:ext cx="3589513" cy="1086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7"/>
              </a:lnSpc>
            </a:pPr>
            <a:r>
              <a:rPr lang="en-US" sz="18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≤4 reasons/card; formula in docs/03; 9 tests cover determinism, warnings, coastal gating, and personas.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279672" y="8206868"/>
            <a:ext cx="3569066" cy="81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7"/>
              </a:lnSpc>
            </a:pPr>
            <a:r>
              <a:rPr lang="en-US" sz="18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Engagement stays within ±0.25; urgency ≥0.8 keeps red warnings pinned.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72577" y="6716993"/>
            <a:ext cx="2941763" cy="262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005" lvl="1" indent="-210502" algn="l">
              <a:lnSpc>
                <a:spcPts val="2925"/>
              </a:lnSpc>
              <a:buFont typeface="Arial"/>
              <a:buChar char="•"/>
            </a:pPr>
            <a:r>
              <a:rPr lang="en-US" sz="1950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Card types · renderer kinds · personas</a:t>
            </a:r>
          </a:p>
          <a:p>
            <a:pPr marL="421005" lvl="1" indent="-210502" algn="l">
              <a:lnSpc>
                <a:spcPts val="2925"/>
              </a:lnSpc>
              <a:buFont typeface="Arial"/>
              <a:buChar char="•"/>
            </a:pPr>
            <a:r>
              <a:rPr lang="en-US" sz="1950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Payload</a:t>
            </a:r>
          </a:p>
          <a:p>
            <a:pPr marL="421005" lvl="1" indent="-210502" algn="l">
              <a:lnSpc>
                <a:spcPts val="2925"/>
              </a:lnSpc>
              <a:buFont typeface="Arial"/>
              <a:buChar char="•"/>
            </a:pPr>
            <a:r>
              <a:rPr lang="en-US" sz="1950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Scenario overlays</a:t>
            </a:r>
          </a:p>
          <a:p>
            <a:pPr marL="421005" lvl="1" indent="-210502" algn="l">
              <a:lnSpc>
                <a:spcPts val="2925"/>
              </a:lnSpc>
              <a:buFont typeface="Arial"/>
              <a:buChar char="•"/>
            </a:pPr>
            <a:r>
              <a:rPr lang="en-US" sz="1950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Warm /home</a:t>
            </a:r>
          </a:p>
          <a:p>
            <a:pPr algn="l">
              <a:lnSpc>
                <a:spcPts val="2925"/>
              </a:lnSpc>
            </a:pPr>
            <a:endParaRPr lang="en-US" sz="1950" b="1">
              <a:solidFill>
                <a:srgbClr val="243E90"/>
              </a:solidFill>
              <a:latin typeface="Futura Medium"/>
              <a:ea typeface="Futura Medium"/>
              <a:cs typeface="Futura Medium"/>
              <a:sym typeface="Futura Medium"/>
            </a:endParaRPr>
          </a:p>
          <a:p>
            <a:pPr marL="421005" lvl="1" indent="-210502" algn="l">
              <a:lnSpc>
                <a:spcPts val="2925"/>
              </a:lnSpc>
              <a:buFont typeface="Arial"/>
              <a:buChar char="•"/>
            </a:pPr>
            <a:r>
              <a:rPr lang="en-US" sz="1950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Release APK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694618" y="6647805"/>
            <a:ext cx="3129241" cy="230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02"/>
              </a:lnSpc>
              <a:buFont typeface="Arial"/>
              <a:buChar char="•"/>
            </a:pPr>
            <a:r>
              <a:rPr lang="en-US" sz="1899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Languages offered · complete</a:t>
            </a:r>
          </a:p>
          <a:p>
            <a:pPr marL="410209" lvl="1" indent="-205105" algn="l">
              <a:lnSpc>
                <a:spcPts val="2602"/>
              </a:lnSpc>
              <a:buFont typeface="Arial"/>
              <a:buChar char="•"/>
            </a:pPr>
            <a:r>
              <a:rPr lang="en-US" sz="1899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Cities · coastal points in the offline gazetteer</a:t>
            </a:r>
          </a:p>
          <a:p>
            <a:pPr marL="410209" lvl="1" indent="-205105" algn="l">
              <a:lnSpc>
                <a:spcPts val="2602"/>
              </a:lnSpc>
              <a:buFont typeface="Arial"/>
              <a:buChar char="•"/>
            </a:pPr>
            <a:r>
              <a:rPr lang="en-US" sz="1899" b="1">
                <a:solidFill>
                  <a:srgbClr val="243E90"/>
                </a:solidFill>
                <a:latin typeface="Futura Medium"/>
                <a:ea typeface="Futura Medium"/>
                <a:cs typeface="Futura Medium"/>
                <a:sym typeface="Futura Medium"/>
              </a:rPr>
              <a:t>"Show less" taps to demote a card out of the feed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875691" y="7876687"/>
            <a:ext cx="946105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10 / 10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829185" y="7134053"/>
            <a:ext cx="1595592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33 · 15 · 8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349698" y="8330693"/>
            <a:ext cx="3382927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7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2 ms server-side · 4.6 ms median round trip · 3.6 ms under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843459" y="7497908"/>
            <a:ext cx="2730630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34.5 KB full → 13.5 KB lite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299902" y="6973086"/>
            <a:ext cx="592247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5 • 2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264964" y="7569766"/>
            <a:ext cx="1365315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212 • 102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649464" y="8608788"/>
            <a:ext cx="2485371" cy="66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0"/>
              </a:lnSpc>
              <a:spcBef>
                <a:spcPct val="0"/>
              </a:spcBef>
            </a:pPr>
            <a:r>
              <a:rPr lang="en-US" sz="1850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3 (rank 3 → 8, score 0.470 → 0.268)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206000" y="8968985"/>
            <a:ext cx="3318469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799" b="1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62.5 MB, 3 ABIs, minSdk 24 / targetSdk 36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3677373" y="2707081"/>
            <a:ext cx="534654" cy="6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000000"/>
                </a:solidFill>
                <a:latin typeface="Unna"/>
                <a:ea typeface="Unna"/>
                <a:cs typeface="Unna"/>
                <a:sym typeface="Unna"/>
              </a:rPr>
              <a:t>→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3674534" y="3980436"/>
            <a:ext cx="534654" cy="6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000000"/>
                </a:solidFill>
                <a:latin typeface="Unna"/>
                <a:ea typeface="Unna"/>
                <a:cs typeface="Unna"/>
                <a:sym typeface="Unna"/>
              </a:rPr>
              <a:t>→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3644035" y="5391164"/>
            <a:ext cx="534654" cy="6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000000"/>
                </a:solidFill>
                <a:latin typeface="Unna"/>
                <a:ea typeface="Unna"/>
                <a:cs typeface="Unna"/>
                <a:sym typeface="Unna"/>
              </a:rPr>
              <a:t>→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3677373" y="6855651"/>
            <a:ext cx="534654" cy="6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000000"/>
                </a:solidFill>
                <a:latin typeface="Unna"/>
                <a:ea typeface="Unna"/>
                <a:cs typeface="Unna"/>
                <a:sym typeface="Unna"/>
              </a:rPr>
              <a:t>→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3677373" y="8254493"/>
            <a:ext cx="534654" cy="69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000000"/>
                </a:solidFill>
                <a:latin typeface="Unna"/>
                <a:ea typeface="Unna"/>
                <a:cs typeface="Unna"/>
                <a:sym typeface="Unna"/>
              </a:rPr>
              <a:t>→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0" y="9877972"/>
            <a:ext cx="18296002" cy="498645"/>
            <a:chOff x="0" y="0"/>
            <a:chExt cx="743491" cy="2026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43491" cy="20263"/>
            </a:xfrm>
            <a:custGeom>
              <a:avLst/>
              <a:gdLst/>
              <a:ahLst/>
              <a:cxnLst/>
              <a:rect l="l" t="t" r="r" b="b"/>
              <a:pathLst>
                <a:path w="743491" h="20263">
                  <a:moveTo>
                    <a:pt x="0" y="0"/>
                  </a:moveTo>
                  <a:lnTo>
                    <a:pt x="743491" y="0"/>
                  </a:lnTo>
                  <a:lnTo>
                    <a:pt x="743491" y="20263"/>
                  </a:lnTo>
                  <a:lnTo>
                    <a:pt x="0" y="2026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0" y="-76200"/>
              <a:ext cx="743491" cy="96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250761" y="9922448"/>
            <a:ext cx="583505" cy="27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Page 4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212060" y="9892750"/>
            <a:ext cx="1863879" cy="27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@SIH Idea submission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0045" y="6826977"/>
            <a:ext cx="830605" cy="2798619"/>
            <a:chOff x="0" y="0"/>
            <a:chExt cx="1107473" cy="3731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7473" cy="1107473"/>
            </a:xfrm>
            <a:custGeom>
              <a:avLst/>
              <a:gdLst/>
              <a:ahLst/>
              <a:cxnLst/>
              <a:rect l="l" t="t" r="r" b="b"/>
              <a:pathLst>
                <a:path w="1107473" h="1107473">
                  <a:moveTo>
                    <a:pt x="0" y="0"/>
                  </a:moveTo>
                  <a:lnTo>
                    <a:pt x="1107473" y="0"/>
                  </a:lnTo>
                  <a:lnTo>
                    <a:pt x="1107473" y="1107473"/>
                  </a:lnTo>
                  <a:lnTo>
                    <a:pt x="0" y="1107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5428" y="2659446"/>
              <a:ext cx="1072045" cy="1072045"/>
            </a:xfrm>
            <a:custGeom>
              <a:avLst/>
              <a:gdLst/>
              <a:ahLst/>
              <a:cxnLst/>
              <a:rect l="l" t="t" r="r" b="b"/>
              <a:pathLst>
                <a:path w="1072045" h="1072045">
                  <a:moveTo>
                    <a:pt x="0" y="0"/>
                  </a:moveTo>
                  <a:lnTo>
                    <a:pt x="1072045" y="0"/>
                  </a:lnTo>
                  <a:lnTo>
                    <a:pt x="1072045" y="1072045"/>
                  </a:lnTo>
                  <a:lnTo>
                    <a:pt x="0" y="1072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1329723"/>
              <a:ext cx="1107473" cy="1107473"/>
            </a:xfrm>
            <a:custGeom>
              <a:avLst/>
              <a:gdLst/>
              <a:ahLst/>
              <a:cxnLst/>
              <a:rect l="l" t="t" r="r" b="b"/>
              <a:pathLst>
                <a:path w="1107473" h="1107473">
                  <a:moveTo>
                    <a:pt x="0" y="0"/>
                  </a:moveTo>
                  <a:lnTo>
                    <a:pt x="1107473" y="0"/>
                  </a:lnTo>
                  <a:lnTo>
                    <a:pt x="1107473" y="1107473"/>
                  </a:lnTo>
                  <a:lnTo>
                    <a:pt x="0" y="1107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083255" y="61671"/>
            <a:ext cx="2044158" cy="896097"/>
            <a:chOff x="0" y="0"/>
            <a:chExt cx="2725544" cy="1194795"/>
          </a:xfrm>
        </p:grpSpPr>
        <p:sp>
          <p:nvSpPr>
            <p:cNvPr id="7" name="Freeform 7"/>
            <p:cNvSpPr/>
            <p:nvPr/>
          </p:nvSpPr>
          <p:spPr>
            <a:xfrm>
              <a:off x="1063815" y="114817"/>
              <a:ext cx="1661729" cy="1079978"/>
            </a:xfrm>
            <a:custGeom>
              <a:avLst/>
              <a:gdLst/>
              <a:ahLst/>
              <a:cxnLst/>
              <a:rect l="l" t="t" r="r" b="b"/>
              <a:pathLst>
                <a:path w="1661729" h="1079978">
                  <a:moveTo>
                    <a:pt x="0" y="0"/>
                  </a:moveTo>
                  <a:lnTo>
                    <a:pt x="1661729" y="0"/>
                  </a:lnTo>
                  <a:lnTo>
                    <a:pt x="1661729" y="1079978"/>
                  </a:lnTo>
                  <a:lnTo>
                    <a:pt x="0" y="1079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3069" t="-72388" r="-49897" b="-6361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1063815" cy="1138646"/>
            </a:xfrm>
            <a:custGeom>
              <a:avLst/>
              <a:gdLst/>
              <a:ahLst/>
              <a:cxnLst/>
              <a:rect l="l" t="t" r="r" b="b"/>
              <a:pathLst>
                <a:path w="1063815" h="1138646">
                  <a:moveTo>
                    <a:pt x="0" y="0"/>
                  </a:moveTo>
                  <a:lnTo>
                    <a:pt x="1063815" y="0"/>
                  </a:lnTo>
                  <a:lnTo>
                    <a:pt x="1063815" y="1138646"/>
                  </a:lnTo>
                  <a:lnTo>
                    <a:pt x="0" y="1138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233891" y="177820"/>
            <a:ext cx="1263114" cy="862289"/>
            <a:chOff x="0" y="0"/>
            <a:chExt cx="1684152" cy="1149719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 rot="5400000">
              <a:off x="267217" y="-267217"/>
              <a:ext cx="1149719" cy="1684152"/>
              <a:chOff x="0" y="0"/>
              <a:chExt cx="4352290" cy="6375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2700" y="12700"/>
                <a:ext cx="432562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325620" h="6350000">
                    <a:moveTo>
                      <a:pt x="2162810" y="0"/>
                    </a:moveTo>
                    <a:cubicBezTo>
                      <a:pt x="3357880" y="0"/>
                      <a:pt x="4325620" y="1421130"/>
                      <a:pt x="4325620" y="3175000"/>
                    </a:cubicBezTo>
                    <a:cubicBezTo>
                      <a:pt x="4325620" y="4928870"/>
                      <a:pt x="3357880" y="6350000"/>
                      <a:pt x="2162810" y="6350000"/>
                    </a:cubicBezTo>
                    <a:cubicBezTo>
                      <a:pt x="967740" y="6350000"/>
                      <a:pt x="0" y="4928870"/>
                      <a:pt x="0" y="3175000"/>
                    </a:cubicBezTo>
                    <a:cubicBezTo>
                      <a:pt x="0" y="1421130"/>
                      <a:pt x="967740" y="0"/>
                      <a:pt x="21628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0" y="0"/>
                <a:ext cx="4352290" cy="6375400"/>
              </a:xfrm>
              <a:custGeom>
                <a:avLst/>
                <a:gdLst/>
                <a:ahLst/>
                <a:cxnLst/>
                <a:rect l="l" t="t" r="r" b="b"/>
                <a:pathLst>
                  <a:path w="4352290" h="6375400">
                    <a:moveTo>
                      <a:pt x="2175510" y="6375400"/>
                    </a:moveTo>
                    <a:cubicBezTo>
                      <a:pt x="1593850" y="6375400"/>
                      <a:pt x="1046480" y="6042660"/>
                      <a:pt x="635000" y="5439410"/>
                    </a:cubicBezTo>
                    <a:cubicBezTo>
                      <a:pt x="226060" y="4838700"/>
                      <a:pt x="0" y="4038600"/>
                      <a:pt x="0" y="3187700"/>
                    </a:cubicBezTo>
                    <a:cubicBezTo>
                      <a:pt x="0" y="2336800"/>
                      <a:pt x="226060" y="1536700"/>
                      <a:pt x="636270" y="935990"/>
                    </a:cubicBezTo>
                    <a:cubicBezTo>
                      <a:pt x="1046480" y="332740"/>
                      <a:pt x="1593850" y="0"/>
                      <a:pt x="2175510" y="0"/>
                    </a:cubicBezTo>
                    <a:cubicBezTo>
                      <a:pt x="2757170" y="0"/>
                      <a:pt x="3304540" y="332740"/>
                      <a:pt x="3716020" y="935990"/>
                    </a:cubicBezTo>
                    <a:cubicBezTo>
                      <a:pt x="4126230" y="1536700"/>
                      <a:pt x="4352290" y="2336800"/>
                      <a:pt x="4352290" y="3187700"/>
                    </a:cubicBezTo>
                    <a:cubicBezTo>
                      <a:pt x="4352290" y="4038600"/>
                      <a:pt x="4126230" y="4838700"/>
                      <a:pt x="3716020" y="5439410"/>
                    </a:cubicBezTo>
                    <a:cubicBezTo>
                      <a:pt x="3304540" y="6042660"/>
                      <a:pt x="2758440" y="6375400"/>
                      <a:pt x="2175510" y="6375400"/>
                    </a:cubicBezTo>
                    <a:close/>
                    <a:moveTo>
                      <a:pt x="2175510" y="25400"/>
                    </a:moveTo>
                    <a:cubicBezTo>
                      <a:pt x="990600" y="25400"/>
                      <a:pt x="25400" y="1443990"/>
                      <a:pt x="25400" y="3187700"/>
                    </a:cubicBezTo>
                    <a:cubicBezTo>
                      <a:pt x="25400" y="4931410"/>
                      <a:pt x="990600" y="6350000"/>
                      <a:pt x="2175510" y="6350000"/>
                    </a:cubicBezTo>
                    <a:cubicBezTo>
                      <a:pt x="3360420" y="6350000"/>
                      <a:pt x="4325620" y="4931410"/>
                      <a:pt x="4325620" y="3187700"/>
                    </a:cubicBezTo>
                    <a:cubicBezTo>
                      <a:pt x="4325620" y="1443990"/>
                      <a:pt x="3361690" y="25400"/>
                      <a:pt x="2175510" y="2540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67292" y="85096"/>
              <a:ext cx="1549568" cy="793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Mausam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9877972"/>
            <a:ext cx="18296002" cy="498645"/>
            <a:chOff x="0" y="0"/>
            <a:chExt cx="743491" cy="202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43491" cy="20263"/>
            </a:xfrm>
            <a:custGeom>
              <a:avLst/>
              <a:gdLst/>
              <a:ahLst/>
              <a:cxnLst/>
              <a:rect l="l" t="t" r="r" b="b"/>
              <a:pathLst>
                <a:path w="743491" h="20263">
                  <a:moveTo>
                    <a:pt x="0" y="0"/>
                  </a:moveTo>
                  <a:lnTo>
                    <a:pt x="743491" y="0"/>
                  </a:lnTo>
                  <a:lnTo>
                    <a:pt x="743491" y="20263"/>
                  </a:lnTo>
                  <a:lnTo>
                    <a:pt x="0" y="2026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743491" cy="678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11606" y="5094122"/>
            <a:ext cx="2994984" cy="933652"/>
            <a:chOff x="0" y="0"/>
            <a:chExt cx="803369" cy="2504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3369" cy="250441"/>
            </a:xfrm>
            <a:custGeom>
              <a:avLst/>
              <a:gdLst/>
              <a:ahLst/>
              <a:cxnLst/>
              <a:rect l="l" t="t" r="r" b="b"/>
              <a:pathLst>
                <a:path w="803369" h="250441">
                  <a:moveTo>
                    <a:pt x="48468" y="0"/>
                  </a:moveTo>
                  <a:lnTo>
                    <a:pt x="754901" y="0"/>
                  </a:lnTo>
                  <a:cubicBezTo>
                    <a:pt x="781670" y="0"/>
                    <a:pt x="803369" y="21700"/>
                    <a:pt x="803369" y="48468"/>
                  </a:cubicBezTo>
                  <a:lnTo>
                    <a:pt x="803369" y="201973"/>
                  </a:lnTo>
                  <a:cubicBezTo>
                    <a:pt x="803369" y="214828"/>
                    <a:pt x="798263" y="227156"/>
                    <a:pt x="789173" y="236245"/>
                  </a:cubicBezTo>
                  <a:cubicBezTo>
                    <a:pt x="780084" y="245335"/>
                    <a:pt x="767756" y="250441"/>
                    <a:pt x="754901" y="250441"/>
                  </a:cubicBezTo>
                  <a:lnTo>
                    <a:pt x="48468" y="250441"/>
                  </a:lnTo>
                  <a:cubicBezTo>
                    <a:pt x="35614" y="250441"/>
                    <a:pt x="23285" y="245335"/>
                    <a:pt x="14196" y="236245"/>
                  </a:cubicBezTo>
                  <a:cubicBezTo>
                    <a:pt x="5106" y="227156"/>
                    <a:pt x="0" y="214828"/>
                    <a:pt x="0" y="201973"/>
                  </a:cubicBezTo>
                  <a:lnTo>
                    <a:pt x="0" y="48468"/>
                  </a:lnTo>
                  <a:cubicBezTo>
                    <a:pt x="0" y="35614"/>
                    <a:pt x="5106" y="23285"/>
                    <a:pt x="14196" y="14196"/>
                  </a:cubicBezTo>
                  <a:cubicBezTo>
                    <a:pt x="23285" y="5106"/>
                    <a:pt x="35614" y="0"/>
                    <a:pt x="48468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03369" cy="298066"/>
            </a:xfrm>
            <a:prstGeom prst="rect">
              <a:avLst/>
            </a:prstGeom>
          </p:spPr>
          <p:txBody>
            <a:bodyPr lIns="38968" tIns="38968" rIns="38968" bIns="38968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240404" y="5151761"/>
            <a:ext cx="2737388" cy="77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0"/>
              </a:lnSpc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Parent's phone: orange banner appears, warning card ANIMATES to the top, school-run verdict flips to "Avoid" /home served in 17.7 ms ✅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544364" y="5084603"/>
            <a:ext cx="2706631" cy="952690"/>
            <a:chOff x="0" y="0"/>
            <a:chExt cx="674624" cy="2374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4624" cy="237457"/>
            </a:xfrm>
            <a:custGeom>
              <a:avLst/>
              <a:gdLst/>
              <a:ahLst/>
              <a:cxnLst/>
              <a:rect l="l" t="t" r="r" b="b"/>
              <a:pathLst>
                <a:path w="674624" h="237457">
                  <a:moveTo>
                    <a:pt x="53632" y="0"/>
                  </a:moveTo>
                  <a:lnTo>
                    <a:pt x="620992" y="0"/>
                  </a:lnTo>
                  <a:cubicBezTo>
                    <a:pt x="635216" y="0"/>
                    <a:pt x="648858" y="5650"/>
                    <a:pt x="658916" y="15708"/>
                  </a:cubicBezTo>
                  <a:cubicBezTo>
                    <a:pt x="668973" y="25766"/>
                    <a:pt x="674624" y="39408"/>
                    <a:pt x="674624" y="53632"/>
                  </a:cubicBezTo>
                  <a:lnTo>
                    <a:pt x="674624" y="183825"/>
                  </a:lnTo>
                  <a:cubicBezTo>
                    <a:pt x="674624" y="198049"/>
                    <a:pt x="668973" y="211690"/>
                    <a:pt x="658916" y="221748"/>
                  </a:cubicBezTo>
                  <a:cubicBezTo>
                    <a:pt x="648858" y="231806"/>
                    <a:pt x="635216" y="237457"/>
                    <a:pt x="620992" y="237457"/>
                  </a:cubicBezTo>
                  <a:lnTo>
                    <a:pt x="53632" y="237457"/>
                  </a:lnTo>
                  <a:cubicBezTo>
                    <a:pt x="39408" y="237457"/>
                    <a:pt x="25766" y="231806"/>
                    <a:pt x="15708" y="221748"/>
                  </a:cubicBezTo>
                  <a:cubicBezTo>
                    <a:pt x="5650" y="211690"/>
                    <a:pt x="0" y="198049"/>
                    <a:pt x="0" y="183825"/>
                  </a:cubicBezTo>
                  <a:lnTo>
                    <a:pt x="0" y="53632"/>
                  </a:lnTo>
                  <a:cubicBezTo>
                    <a:pt x="0" y="39408"/>
                    <a:pt x="5650" y="25766"/>
                    <a:pt x="15708" y="15708"/>
                  </a:cubicBezTo>
                  <a:cubicBezTo>
                    <a:pt x="25766" y="5650"/>
                    <a:pt x="39408" y="0"/>
                    <a:pt x="53632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74624" cy="285082"/>
            </a:xfrm>
            <a:prstGeom prst="rect">
              <a:avLst/>
            </a:prstGeom>
          </p:spPr>
          <p:txBody>
            <a:bodyPr lIns="41937" tIns="41937" rIns="41937" bIns="4193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626820" y="5209373"/>
            <a:ext cx="2541719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0"/>
              </a:lnSpc>
              <a:spcBef>
                <a:spcPct val="0"/>
              </a:spcBef>
            </a:pPr>
            <a:r>
              <a:rPr lang="en-US" sz="125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/ws/alerts pushes warning_issued{affects_you:true} to every connected client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583876" y="5094122"/>
            <a:ext cx="2221860" cy="977475"/>
            <a:chOff x="0" y="0"/>
            <a:chExt cx="952640" cy="419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52640" cy="419100"/>
            </a:xfrm>
            <a:custGeom>
              <a:avLst/>
              <a:gdLst/>
              <a:ahLst/>
              <a:cxnLst/>
              <a:rect l="l" t="t" r="r" b="b"/>
              <a:pathLst>
                <a:path w="952640" h="419100">
                  <a:moveTo>
                    <a:pt x="65333" y="0"/>
                  </a:moveTo>
                  <a:lnTo>
                    <a:pt x="887306" y="0"/>
                  </a:lnTo>
                  <a:cubicBezTo>
                    <a:pt x="904634" y="0"/>
                    <a:pt x="921252" y="6883"/>
                    <a:pt x="933504" y="19136"/>
                  </a:cubicBezTo>
                  <a:cubicBezTo>
                    <a:pt x="945756" y="31388"/>
                    <a:pt x="952640" y="48006"/>
                    <a:pt x="952640" y="65333"/>
                  </a:cubicBezTo>
                  <a:lnTo>
                    <a:pt x="952640" y="353767"/>
                  </a:lnTo>
                  <a:cubicBezTo>
                    <a:pt x="952640" y="389849"/>
                    <a:pt x="923389" y="419100"/>
                    <a:pt x="887306" y="419100"/>
                  </a:cubicBezTo>
                  <a:lnTo>
                    <a:pt x="65333" y="419100"/>
                  </a:lnTo>
                  <a:cubicBezTo>
                    <a:pt x="29251" y="419100"/>
                    <a:pt x="0" y="389849"/>
                    <a:pt x="0" y="353767"/>
                  </a:cubicBezTo>
                  <a:lnTo>
                    <a:pt x="0" y="65333"/>
                  </a:lnTo>
                  <a:cubicBezTo>
                    <a:pt x="0" y="29251"/>
                    <a:pt x="29251" y="0"/>
                    <a:pt x="65333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952640" cy="466725"/>
            </a:xfrm>
            <a:prstGeom prst="rect">
              <a:avLst/>
            </a:prstGeom>
          </p:spPr>
          <p:txBody>
            <a:bodyPr lIns="41643" tIns="41643" rIns="41643" bIns="4164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742151" y="5210551"/>
            <a:ext cx="1923064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"/>
              </a:lnSpc>
              <a:spcBef>
                <a:spcPct val="0"/>
              </a:spcBef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merges it into the snapshot, urgency = 0.8 → PINNED for every persona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77417" y="5133421"/>
            <a:ext cx="2750636" cy="816956"/>
            <a:chOff x="0" y="0"/>
            <a:chExt cx="1411082" cy="419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11082" cy="419100"/>
            </a:xfrm>
            <a:custGeom>
              <a:avLst/>
              <a:gdLst/>
              <a:ahLst/>
              <a:cxnLst/>
              <a:rect l="l" t="t" r="r" b="b"/>
              <a:pathLst>
                <a:path w="1411082" h="419100">
                  <a:moveTo>
                    <a:pt x="52774" y="0"/>
                  </a:moveTo>
                  <a:lnTo>
                    <a:pt x="1358308" y="0"/>
                  </a:lnTo>
                  <a:cubicBezTo>
                    <a:pt x="1387454" y="0"/>
                    <a:pt x="1411082" y="23628"/>
                    <a:pt x="1411082" y="52774"/>
                  </a:cubicBezTo>
                  <a:lnTo>
                    <a:pt x="1411082" y="366326"/>
                  </a:lnTo>
                  <a:cubicBezTo>
                    <a:pt x="1411082" y="380323"/>
                    <a:pt x="1405522" y="393746"/>
                    <a:pt x="1395625" y="403643"/>
                  </a:cubicBezTo>
                  <a:cubicBezTo>
                    <a:pt x="1385728" y="413540"/>
                    <a:pt x="1372305" y="419100"/>
                    <a:pt x="1358308" y="419100"/>
                  </a:cubicBezTo>
                  <a:lnTo>
                    <a:pt x="52774" y="419100"/>
                  </a:lnTo>
                  <a:cubicBezTo>
                    <a:pt x="38777" y="419100"/>
                    <a:pt x="25354" y="413540"/>
                    <a:pt x="15457" y="403643"/>
                  </a:cubicBezTo>
                  <a:cubicBezTo>
                    <a:pt x="5560" y="393746"/>
                    <a:pt x="0" y="380323"/>
                    <a:pt x="0" y="366326"/>
                  </a:cubicBezTo>
                  <a:lnTo>
                    <a:pt x="0" y="52774"/>
                  </a:lnTo>
                  <a:cubicBezTo>
                    <a:pt x="0" y="38777"/>
                    <a:pt x="5560" y="25354"/>
                    <a:pt x="15457" y="15457"/>
                  </a:cubicBezTo>
                  <a:cubicBezTo>
                    <a:pt x="25354" y="5560"/>
                    <a:pt x="38777" y="0"/>
                    <a:pt x="52774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411082" cy="466725"/>
            </a:xfrm>
            <a:prstGeom prst="rect">
              <a:avLst/>
            </a:prstGeom>
          </p:spPr>
          <p:txBody>
            <a:bodyPr lIns="42274" tIns="42274" rIns="42274" bIns="42274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64255" y="5194255"/>
            <a:ext cx="2541072" cy="66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7"/>
              </a:lnSpc>
              <a:spcBef>
                <a:spcPct val="0"/>
              </a:spcBef>
            </a:pPr>
            <a:r>
              <a:rPr lang="en-US" sz="124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IMD / admin issues an ORANGE THUNDERSTORM warning for Delhi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5028106" y="5075084"/>
            <a:ext cx="2886940" cy="952690"/>
            <a:chOff x="0" y="0"/>
            <a:chExt cx="635000" cy="2095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5000" cy="209550"/>
            </a:xfrm>
            <a:custGeom>
              <a:avLst/>
              <a:gdLst/>
              <a:ahLst/>
              <a:cxnLst/>
              <a:rect l="l" t="t" r="r" b="b"/>
              <a:pathLst>
                <a:path w="635000" h="209550">
                  <a:moveTo>
                    <a:pt x="50282" y="0"/>
                  </a:moveTo>
                  <a:lnTo>
                    <a:pt x="584718" y="0"/>
                  </a:lnTo>
                  <a:cubicBezTo>
                    <a:pt x="598054" y="0"/>
                    <a:pt x="610843" y="5298"/>
                    <a:pt x="620273" y="14727"/>
                  </a:cubicBezTo>
                  <a:cubicBezTo>
                    <a:pt x="629702" y="24157"/>
                    <a:pt x="635000" y="36946"/>
                    <a:pt x="635000" y="50282"/>
                  </a:cubicBezTo>
                  <a:lnTo>
                    <a:pt x="635000" y="159268"/>
                  </a:lnTo>
                  <a:cubicBezTo>
                    <a:pt x="635000" y="172604"/>
                    <a:pt x="629702" y="185393"/>
                    <a:pt x="620273" y="194823"/>
                  </a:cubicBezTo>
                  <a:cubicBezTo>
                    <a:pt x="610843" y="204252"/>
                    <a:pt x="598054" y="209550"/>
                    <a:pt x="584718" y="209550"/>
                  </a:cubicBezTo>
                  <a:lnTo>
                    <a:pt x="50282" y="209550"/>
                  </a:lnTo>
                  <a:cubicBezTo>
                    <a:pt x="36946" y="209550"/>
                    <a:pt x="24157" y="204252"/>
                    <a:pt x="14727" y="194823"/>
                  </a:cubicBezTo>
                  <a:cubicBezTo>
                    <a:pt x="5298" y="185393"/>
                    <a:pt x="0" y="172604"/>
                    <a:pt x="0" y="159268"/>
                  </a:cubicBezTo>
                  <a:lnTo>
                    <a:pt x="0" y="50282"/>
                  </a:lnTo>
                  <a:cubicBezTo>
                    <a:pt x="0" y="36946"/>
                    <a:pt x="5298" y="24157"/>
                    <a:pt x="14727" y="14727"/>
                  </a:cubicBezTo>
                  <a:cubicBezTo>
                    <a:pt x="24157" y="5298"/>
                    <a:pt x="36946" y="0"/>
                    <a:pt x="50282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635000" cy="257175"/>
            </a:xfrm>
            <a:prstGeom prst="rect">
              <a:avLst/>
            </a:prstGeom>
          </p:spPr>
          <p:txBody>
            <a:bodyPr lIns="47522" tIns="47522" rIns="47522" bIns="47522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5228770" y="5178997"/>
            <a:ext cx="2485613" cy="70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4"/>
              </a:lnSpc>
              <a:spcBef>
                <a:spcPct val="0"/>
              </a:spcBef>
            </a:pPr>
            <a:r>
              <a:rPr lang="en-US" sz="130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parent did not have to be looking for it. That is the whole point.</a:t>
            </a:r>
          </a:p>
        </p:txBody>
      </p:sp>
      <p:sp>
        <p:nvSpPr>
          <p:cNvPr id="37" name="Freeform 37"/>
          <p:cNvSpPr/>
          <p:nvPr/>
        </p:nvSpPr>
        <p:spPr>
          <a:xfrm>
            <a:off x="3791078" y="5472780"/>
            <a:ext cx="629774" cy="176337"/>
          </a:xfrm>
          <a:custGeom>
            <a:avLst/>
            <a:gdLst/>
            <a:ahLst/>
            <a:cxnLst/>
            <a:rect l="l" t="t" r="r" b="b"/>
            <a:pathLst>
              <a:path w="629774" h="176337">
                <a:moveTo>
                  <a:pt x="0" y="0"/>
                </a:moveTo>
                <a:lnTo>
                  <a:pt x="629773" y="0"/>
                </a:lnTo>
                <a:lnTo>
                  <a:pt x="629773" y="176336"/>
                </a:lnTo>
                <a:lnTo>
                  <a:pt x="0" y="176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855401" y="5489187"/>
            <a:ext cx="629774" cy="176337"/>
          </a:xfrm>
          <a:custGeom>
            <a:avLst/>
            <a:gdLst/>
            <a:ahLst/>
            <a:cxnLst/>
            <a:rect l="l" t="t" r="r" b="b"/>
            <a:pathLst>
              <a:path w="629774" h="176337">
                <a:moveTo>
                  <a:pt x="0" y="0"/>
                </a:moveTo>
                <a:lnTo>
                  <a:pt x="629773" y="0"/>
                </a:lnTo>
                <a:lnTo>
                  <a:pt x="629773" y="176337"/>
                </a:lnTo>
                <a:lnTo>
                  <a:pt x="0" y="176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0361651" y="5472780"/>
            <a:ext cx="629774" cy="176337"/>
          </a:xfrm>
          <a:custGeom>
            <a:avLst/>
            <a:gdLst/>
            <a:ahLst/>
            <a:cxnLst/>
            <a:rect l="l" t="t" r="r" b="b"/>
            <a:pathLst>
              <a:path w="629774" h="176337">
                <a:moveTo>
                  <a:pt x="0" y="0"/>
                </a:moveTo>
                <a:lnTo>
                  <a:pt x="629774" y="0"/>
                </a:lnTo>
                <a:lnTo>
                  <a:pt x="629774" y="176336"/>
                </a:lnTo>
                <a:lnTo>
                  <a:pt x="0" y="176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344715" y="5463261"/>
            <a:ext cx="629774" cy="176337"/>
          </a:xfrm>
          <a:custGeom>
            <a:avLst/>
            <a:gdLst/>
            <a:ahLst/>
            <a:cxnLst/>
            <a:rect l="l" t="t" r="r" b="b"/>
            <a:pathLst>
              <a:path w="629774" h="176337">
                <a:moveTo>
                  <a:pt x="0" y="0"/>
                </a:moveTo>
                <a:lnTo>
                  <a:pt x="629773" y="0"/>
                </a:lnTo>
                <a:lnTo>
                  <a:pt x="629773" y="176336"/>
                </a:lnTo>
                <a:lnTo>
                  <a:pt x="0" y="176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498315" y="5323831"/>
            <a:ext cx="310019" cy="285218"/>
          </a:xfrm>
          <a:custGeom>
            <a:avLst/>
            <a:gdLst/>
            <a:ahLst/>
            <a:cxnLst/>
            <a:rect l="l" t="t" r="r" b="b"/>
            <a:pathLst>
              <a:path w="310019" h="285218">
                <a:moveTo>
                  <a:pt x="0" y="0"/>
                </a:moveTo>
                <a:lnTo>
                  <a:pt x="310020" y="0"/>
                </a:lnTo>
                <a:lnTo>
                  <a:pt x="310020" y="285217"/>
                </a:lnTo>
                <a:lnTo>
                  <a:pt x="0" y="2852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3947093" y="5129304"/>
            <a:ext cx="303408" cy="303408"/>
          </a:xfrm>
          <a:custGeom>
            <a:avLst/>
            <a:gdLst/>
            <a:ahLst/>
            <a:cxnLst/>
            <a:rect l="l" t="t" r="r" b="b"/>
            <a:pathLst>
              <a:path w="303408" h="303408">
                <a:moveTo>
                  <a:pt x="0" y="0"/>
                </a:moveTo>
                <a:lnTo>
                  <a:pt x="303408" y="0"/>
                </a:lnTo>
                <a:lnTo>
                  <a:pt x="303408" y="303408"/>
                </a:lnTo>
                <a:lnTo>
                  <a:pt x="0" y="303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6929561" y="5008999"/>
            <a:ext cx="463356" cy="433238"/>
          </a:xfrm>
          <a:custGeom>
            <a:avLst/>
            <a:gdLst/>
            <a:ahLst/>
            <a:cxnLst/>
            <a:rect l="l" t="t" r="r" b="b"/>
            <a:pathLst>
              <a:path w="463356" h="433238">
                <a:moveTo>
                  <a:pt x="0" y="0"/>
                </a:moveTo>
                <a:lnTo>
                  <a:pt x="463356" y="0"/>
                </a:lnTo>
                <a:lnTo>
                  <a:pt x="463356" y="433238"/>
                </a:lnTo>
                <a:lnTo>
                  <a:pt x="0" y="433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0461253" y="4991459"/>
            <a:ext cx="439508" cy="450778"/>
          </a:xfrm>
          <a:custGeom>
            <a:avLst/>
            <a:gdLst/>
            <a:ahLst/>
            <a:cxnLst/>
            <a:rect l="l" t="t" r="r" b="b"/>
            <a:pathLst>
              <a:path w="439508" h="450778">
                <a:moveTo>
                  <a:pt x="0" y="0"/>
                </a:moveTo>
                <a:lnTo>
                  <a:pt x="439508" y="0"/>
                </a:lnTo>
                <a:lnTo>
                  <a:pt x="439508" y="450778"/>
                </a:lnTo>
                <a:lnTo>
                  <a:pt x="0" y="450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4344715" y="4824606"/>
            <a:ext cx="413813" cy="617631"/>
          </a:xfrm>
          <a:custGeom>
            <a:avLst/>
            <a:gdLst/>
            <a:ahLst/>
            <a:cxnLst/>
            <a:rect l="l" t="t" r="r" b="b"/>
            <a:pathLst>
              <a:path w="413813" h="617631">
                <a:moveTo>
                  <a:pt x="0" y="0"/>
                </a:moveTo>
                <a:lnTo>
                  <a:pt x="413812" y="0"/>
                </a:lnTo>
                <a:lnTo>
                  <a:pt x="413812" y="617631"/>
                </a:lnTo>
                <a:lnTo>
                  <a:pt x="0" y="6176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502952" y="4624208"/>
            <a:ext cx="2942332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 A LIVE JOURNEY  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596792" y="1172663"/>
            <a:ext cx="5415797" cy="1534874"/>
            <a:chOff x="0" y="0"/>
            <a:chExt cx="922137" cy="2613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22137" cy="261340"/>
            </a:xfrm>
            <a:custGeom>
              <a:avLst/>
              <a:gdLst/>
              <a:ahLst/>
              <a:cxnLst/>
              <a:rect l="l" t="t" r="r" b="b"/>
              <a:pathLst>
                <a:path w="922137" h="261340">
                  <a:moveTo>
                    <a:pt x="27920" y="0"/>
                  </a:moveTo>
                  <a:lnTo>
                    <a:pt x="894216" y="0"/>
                  </a:lnTo>
                  <a:cubicBezTo>
                    <a:pt x="901621" y="0"/>
                    <a:pt x="908723" y="2942"/>
                    <a:pt x="913959" y="8178"/>
                  </a:cubicBezTo>
                  <a:cubicBezTo>
                    <a:pt x="919195" y="13414"/>
                    <a:pt x="922137" y="20515"/>
                    <a:pt x="922137" y="27920"/>
                  </a:cubicBezTo>
                  <a:lnTo>
                    <a:pt x="922137" y="233420"/>
                  </a:lnTo>
                  <a:cubicBezTo>
                    <a:pt x="922137" y="248840"/>
                    <a:pt x="909636" y="261340"/>
                    <a:pt x="894216" y="261340"/>
                  </a:cubicBezTo>
                  <a:lnTo>
                    <a:pt x="27920" y="261340"/>
                  </a:lnTo>
                  <a:cubicBezTo>
                    <a:pt x="12500" y="261340"/>
                    <a:pt x="0" y="248840"/>
                    <a:pt x="0" y="233420"/>
                  </a:cubicBezTo>
                  <a:lnTo>
                    <a:pt x="0" y="27920"/>
                  </a:lnTo>
                  <a:cubicBezTo>
                    <a:pt x="0" y="12500"/>
                    <a:pt x="12500" y="0"/>
                    <a:pt x="27920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922137" cy="299440"/>
            </a:xfrm>
            <a:prstGeom prst="rect">
              <a:avLst/>
            </a:prstGeom>
          </p:spPr>
          <p:txBody>
            <a:bodyPr lIns="49177" tIns="49177" rIns="49177" bIns="49177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350193" y="1172663"/>
            <a:ext cx="5938609" cy="1534874"/>
            <a:chOff x="0" y="0"/>
            <a:chExt cx="1011155" cy="2613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11155" cy="261340"/>
            </a:xfrm>
            <a:custGeom>
              <a:avLst/>
              <a:gdLst/>
              <a:ahLst/>
              <a:cxnLst/>
              <a:rect l="l" t="t" r="r" b="b"/>
              <a:pathLst>
                <a:path w="1011155" h="261340">
                  <a:moveTo>
                    <a:pt x="25462" y="0"/>
                  </a:moveTo>
                  <a:lnTo>
                    <a:pt x="985693" y="0"/>
                  </a:lnTo>
                  <a:cubicBezTo>
                    <a:pt x="992446" y="0"/>
                    <a:pt x="998922" y="2683"/>
                    <a:pt x="1003697" y="7458"/>
                  </a:cubicBezTo>
                  <a:cubicBezTo>
                    <a:pt x="1008472" y="12233"/>
                    <a:pt x="1011155" y="18709"/>
                    <a:pt x="1011155" y="25462"/>
                  </a:cubicBezTo>
                  <a:lnTo>
                    <a:pt x="1011155" y="235878"/>
                  </a:lnTo>
                  <a:cubicBezTo>
                    <a:pt x="1011155" y="249940"/>
                    <a:pt x="999755" y="261340"/>
                    <a:pt x="985693" y="261340"/>
                  </a:cubicBezTo>
                  <a:lnTo>
                    <a:pt x="25462" y="261340"/>
                  </a:lnTo>
                  <a:cubicBezTo>
                    <a:pt x="11400" y="261340"/>
                    <a:pt x="0" y="249940"/>
                    <a:pt x="0" y="235878"/>
                  </a:cubicBezTo>
                  <a:lnTo>
                    <a:pt x="0" y="25462"/>
                  </a:lnTo>
                  <a:cubicBezTo>
                    <a:pt x="0" y="11400"/>
                    <a:pt x="11400" y="0"/>
                    <a:pt x="25462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011155" cy="299440"/>
            </a:xfrm>
            <a:prstGeom prst="rect">
              <a:avLst/>
            </a:prstGeom>
          </p:spPr>
          <p:txBody>
            <a:bodyPr lIns="49177" tIns="49177" rIns="49177" bIns="49177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92043" y="1190386"/>
            <a:ext cx="5704245" cy="1534874"/>
            <a:chOff x="0" y="0"/>
            <a:chExt cx="971250" cy="2613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71250" cy="261340"/>
            </a:xfrm>
            <a:custGeom>
              <a:avLst/>
              <a:gdLst/>
              <a:ahLst/>
              <a:cxnLst/>
              <a:rect l="l" t="t" r="r" b="b"/>
              <a:pathLst>
                <a:path w="971250" h="261340">
                  <a:moveTo>
                    <a:pt x="26508" y="0"/>
                  </a:moveTo>
                  <a:lnTo>
                    <a:pt x="944742" y="0"/>
                  </a:lnTo>
                  <a:cubicBezTo>
                    <a:pt x="951772" y="0"/>
                    <a:pt x="958515" y="2793"/>
                    <a:pt x="963486" y="7764"/>
                  </a:cubicBezTo>
                  <a:cubicBezTo>
                    <a:pt x="968457" y="12735"/>
                    <a:pt x="971250" y="19478"/>
                    <a:pt x="971250" y="26508"/>
                  </a:cubicBezTo>
                  <a:lnTo>
                    <a:pt x="971250" y="234832"/>
                  </a:lnTo>
                  <a:cubicBezTo>
                    <a:pt x="971250" y="249472"/>
                    <a:pt x="959382" y="261340"/>
                    <a:pt x="944742" y="261340"/>
                  </a:cubicBezTo>
                  <a:lnTo>
                    <a:pt x="26508" y="261340"/>
                  </a:lnTo>
                  <a:cubicBezTo>
                    <a:pt x="11868" y="261340"/>
                    <a:pt x="0" y="249472"/>
                    <a:pt x="0" y="234832"/>
                  </a:cubicBezTo>
                  <a:lnTo>
                    <a:pt x="0" y="26508"/>
                  </a:lnTo>
                  <a:cubicBezTo>
                    <a:pt x="0" y="11868"/>
                    <a:pt x="11868" y="0"/>
                    <a:pt x="26508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971250" cy="299440"/>
            </a:xfrm>
            <a:prstGeom prst="rect">
              <a:avLst/>
            </a:prstGeom>
          </p:spPr>
          <p:txBody>
            <a:bodyPr lIns="49177" tIns="49177" rIns="49177" bIns="49177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92043" y="2963385"/>
            <a:ext cx="17620546" cy="1479848"/>
            <a:chOff x="0" y="0"/>
            <a:chExt cx="23494062" cy="1973130"/>
          </a:xfrm>
        </p:grpSpPr>
        <p:grpSp>
          <p:nvGrpSpPr>
            <p:cNvPr id="57" name="Group 57"/>
            <p:cNvGrpSpPr/>
            <p:nvPr/>
          </p:nvGrpSpPr>
          <p:grpSpPr>
            <a:xfrm>
              <a:off x="18566054" y="0"/>
              <a:ext cx="4928008" cy="1972564"/>
              <a:chOff x="0" y="0"/>
              <a:chExt cx="671736" cy="26888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671736" cy="268880"/>
              </a:xfrm>
              <a:custGeom>
                <a:avLst/>
                <a:gdLst/>
                <a:ahLst/>
                <a:cxnLst/>
                <a:rect l="l" t="t" r="r" b="b"/>
                <a:pathLst>
                  <a:path w="671736" h="268880">
                    <a:moveTo>
                      <a:pt x="22910" y="0"/>
                    </a:moveTo>
                    <a:lnTo>
                      <a:pt x="648826" y="0"/>
                    </a:lnTo>
                    <a:cubicBezTo>
                      <a:pt x="661479" y="0"/>
                      <a:pt x="671736" y="10257"/>
                      <a:pt x="671736" y="22910"/>
                    </a:cubicBezTo>
                    <a:lnTo>
                      <a:pt x="671736" y="245969"/>
                    </a:lnTo>
                    <a:cubicBezTo>
                      <a:pt x="671736" y="258623"/>
                      <a:pt x="661479" y="268880"/>
                      <a:pt x="648826" y="268880"/>
                    </a:cubicBezTo>
                    <a:lnTo>
                      <a:pt x="22910" y="268880"/>
                    </a:lnTo>
                    <a:cubicBezTo>
                      <a:pt x="10257" y="268880"/>
                      <a:pt x="0" y="258623"/>
                      <a:pt x="0" y="245969"/>
                    </a:cubicBezTo>
                    <a:lnTo>
                      <a:pt x="0" y="22910"/>
                    </a:lnTo>
                    <a:cubicBezTo>
                      <a:pt x="0" y="10257"/>
                      <a:pt x="10257" y="0"/>
                      <a:pt x="2291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671736" cy="306980"/>
              </a:xfrm>
              <a:prstGeom prst="rect">
                <a:avLst/>
              </a:prstGeom>
            </p:spPr>
            <p:txBody>
              <a:bodyPr lIns="47914" tIns="47914" rIns="47914" bIns="47914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0" y="377"/>
              <a:ext cx="4420764" cy="1972564"/>
              <a:chOff x="0" y="0"/>
              <a:chExt cx="602594" cy="26888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602594" cy="268880"/>
              </a:xfrm>
              <a:custGeom>
                <a:avLst/>
                <a:gdLst/>
                <a:ahLst/>
                <a:cxnLst/>
                <a:rect l="l" t="t" r="r" b="b"/>
                <a:pathLst>
                  <a:path w="602594" h="268880">
                    <a:moveTo>
                      <a:pt x="25539" y="0"/>
                    </a:moveTo>
                    <a:lnTo>
                      <a:pt x="577055" y="0"/>
                    </a:lnTo>
                    <a:cubicBezTo>
                      <a:pt x="583828" y="0"/>
                      <a:pt x="590324" y="2691"/>
                      <a:pt x="595113" y="7480"/>
                    </a:cubicBezTo>
                    <a:cubicBezTo>
                      <a:pt x="599903" y="12270"/>
                      <a:pt x="602594" y="18766"/>
                      <a:pt x="602594" y="25539"/>
                    </a:cubicBezTo>
                    <a:lnTo>
                      <a:pt x="602594" y="243341"/>
                    </a:lnTo>
                    <a:cubicBezTo>
                      <a:pt x="602594" y="250114"/>
                      <a:pt x="599903" y="256610"/>
                      <a:pt x="595113" y="261400"/>
                    </a:cubicBezTo>
                    <a:cubicBezTo>
                      <a:pt x="590324" y="266189"/>
                      <a:pt x="583828" y="268880"/>
                      <a:pt x="577055" y="268880"/>
                    </a:cubicBezTo>
                    <a:lnTo>
                      <a:pt x="25539" y="268880"/>
                    </a:lnTo>
                    <a:cubicBezTo>
                      <a:pt x="18766" y="268880"/>
                      <a:pt x="12270" y="266189"/>
                      <a:pt x="7480" y="261400"/>
                    </a:cubicBezTo>
                    <a:cubicBezTo>
                      <a:pt x="2691" y="256610"/>
                      <a:pt x="0" y="250114"/>
                      <a:pt x="0" y="243341"/>
                    </a:cubicBezTo>
                    <a:lnTo>
                      <a:pt x="0" y="25539"/>
                    </a:lnTo>
                    <a:cubicBezTo>
                      <a:pt x="0" y="18766"/>
                      <a:pt x="2691" y="12270"/>
                      <a:pt x="7480" y="7480"/>
                    </a:cubicBezTo>
                    <a:cubicBezTo>
                      <a:pt x="12270" y="2691"/>
                      <a:pt x="18766" y="0"/>
                      <a:pt x="25539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38100"/>
                <a:ext cx="602594" cy="306980"/>
              </a:xfrm>
              <a:prstGeom prst="rect">
                <a:avLst/>
              </a:prstGeom>
            </p:spPr>
            <p:txBody>
              <a:bodyPr lIns="47914" tIns="47914" rIns="47914" bIns="47914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1605345" y="163620"/>
              <a:ext cx="1326331" cy="479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61"/>
                </a:lnSpc>
                <a:spcBef>
                  <a:spcPct val="0"/>
                </a:spcBef>
              </a:pPr>
              <a:r>
                <a:rPr lang="en-US" sz="2115" b="1" dirty="0">
                  <a:solidFill>
                    <a:srgbClr val="FFFFFF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SAFETY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58061" y="589308"/>
              <a:ext cx="4104642" cy="1312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B0DFF5"/>
                  </a:solidFill>
                  <a:latin typeface="Futura"/>
                  <a:ea typeface="Futura"/>
                  <a:cs typeface="Futura"/>
                  <a:sym typeface="Futura"/>
                </a:rPr>
                <a:t>Orange+ pins warnings for every persona and pushes them to connected users in milliseconds.(17.7 ms measured)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4819477" y="566"/>
              <a:ext cx="3254658" cy="1972375"/>
              <a:chOff x="0" y="0"/>
              <a:chExt cx="443642" cy="26885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443642" cy="268854"/>
              </a:xfrm>
              <a:custGeom>
                <a:avLst/>
                <a:gdLst/>
                <a:ahLst/>
                <a:cxnLst/>
                <a:rect l="l" t="t" r="r" b="b"/>
                <a:pathLst>
                  <a:path w="443642" h="268854">
                    <a:moveTo>
                      <a:pt x="34690" y="0"/>
                    </a:moveTo>
                    <a:lnTo>
                      <a:pt x="408952" y="0"/>
                    </a:lnTo>
                    <a:cubicBezTo>
                      <a:pt x="418153" y="0"/>
                      <a:pt x="426976" y="3655"/>
                      <a:pt x="433482" y="10160"/>
                    </a:cubicBezTo>
                    <a:cubicBezTo>
                      <a:pt x="439987" y="16666"/>
                      <a:pt x="443642" y="25489"/>
                      <a:pt x="443642" y="34690"/>
                    </a:cubicBezTo>
                    <a:lnTo>
                      <a:pt x="443642" y="234165"/>
                    </a:lnTo>
                    <a:cubicBezTo>
                      <a:pt x="443642" y="253323"/>
                      <a:pt x="428111" y="268854"/>
                      <a:pt x="408952" y="268854"/>
                    </a:cubicBezTo>
                    <a:lnTo>
                      <a:pt x="34690" y="268854"/>
                    </a:lnTo>
                    <a:cubicBezTo>
                      <a:pt x="15531" y="268854"/>
                      <a:pt x="0" y="253323"/>
                      <a:pt x="0" y="234165"/>
                    </a:cubicBezTo>
                    <a:lnTo>
                      <a:pt x="0" y="34690"/>
                    </a:lnTo>
                    <a:cubicBezTo>
                      <a:pt x="0" y="15531"/>
                      <a:pt x="15531" y="0"/>
                      <a:pt x="3469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0" y="-38100"/>
                <a:ext cx="443642" cy="306954"/>
              </a:xfrm>
              <a:prstGeom prst="rect">
                <a:avLst/>
              </a:prstGeom>
            </p:spPr>
            <p:txBody>
              <a:bodyPr lIns="47914" tIns="47914" rIns="47914" bIns="47914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6056582" y="163619"/>
              <a:ext cx="939095" cy="479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61"/>
                </a:lnSpc>
                <a:spcBef>
                  <a:spcPct val="0"/>
                </a:spcBef>
              </a:pPr>
              <a:r>
                <a:rPr lang="en-US" sz="2115" b="1" dirty="0">
                  <a:solidFill>
                    <a:srgbClr val="FFFFFF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TIME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949560" y="681607"/>
              <a:ext cx="2994492" cy="995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B0DFF5"/>
                  </a:solidFill>
                  <a:latin typeface="Futura"/>
                  <a:ea typeface="Futura"/>
                  <a:cs typeface="Futura"/>
                  <a:sym typeface="Futura"/>
                </a:rPr>
                <a:t>The answer is on the first screen, not three taps down a menu of tables.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8472848" y="377"/>
              <a:ext cx="4374311" cy="1972564"/>
              <a:chOff x="0" y="0"/>
              <a:chExt cx="596262" cy="26888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96262" cy="268880"/>
              </a:xfrm>
              <a:custGeom>
                <a:avLst/>
                <a:gdLst/>
                <a:ahLst/>
                <a:cxnLst/>
                <a:rect l="l" t="t" r="r" b="b"/>
                <a:pathLst>
                  <a:path w="596262" h="268880">
                    <a:moveTo>
                      <a:pt x="25810" y="0"/>
                    </a:moveTo>
                    <a:lnTo>
                      <a:pt x="570451" y="0"/>
                    </a:lnTo>
                    <a:cubicBezTo>
                      <a:pt x="584706" y="0"/>
                      <a:pt x="596262" y="11556"/>
                      <a:pt x="596262" y="25810"/>
                    </a:cubicBezTo>
                    <a:lnTo>
                      <a:pt x="596262" y="243069"/>
                    </a:lnTo>
                    <a:cubicBezTo>
                      <a:pt x="596262" y="257324"/>
                      <a:pt x="584706" y="268880"/>
                      <a:pt x="570451" y="268880"/>
                    </a:cubicBezTo>
                    <a:lnTo>
                      <a:pt x="25810" y="268880"/>
                    </a:lnTo>
                    <a:cubicBezTo>
                      <a:pt x="11556" y="268880"/>
                      <a:pt x="0" y="257324"/>
                      <a:pt x="0" y="243069"/>
                    </a:cubicBezTo>
                    <a:lnTo>
                      <a:pt x="0" y="25810"/>
                    </a:lnTo>
                    <a:cubicBezTo>
                      <a:pt x="0" y="11556"/>
                      <a:pt x="11556" y="0"/>
                      <a:pt x="2581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0" y="-38100"/>
                <a:ext cx="596262" cy="306980"/>
              </a:xfrm>
              <a:prstGeom prst="rect">
                <a:avLst/>
              </a:prstGeom>
            </p:spPr>
            <p:txBody>
              <a:bodyPr lIns="47914" tIns="47914" rIns="47914" bIns="47914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3" name="TextBox 73"/>
            <p:cNvSpPr txBox="1"/>
            <p:nvPr/>
          </p:nvSpPr>
          <p:spPr>
            <a:xfrm>
              <a:off x="10170994" y="96559"/>
              <a:ext cx="1091883" cy="4791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61"/>
                </a:lnSpc>
                <a:spcBef>
                  <a:spcPct val="0"/>
                </a:spcBef>
              </a:pPr>
              <a:r>
                <a:rPr lang="en-US" sz="2115" b="1" dirty="0">
                  <a:solidFill>
                    <a:srgbClr val="FFFFFF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TRUST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28761" y="594947"/>
              <a:ext cx="4262485" cy="1312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B0DFF5"/>
                  </a:solidFill>
                  <a:latin typeface="Futura"/>
                  <a:ea typeface="Futura"/>
                  <a:cs typeface="Futura"/>
                  <a:sym typeface="Futura"/>
                </a:rPr>
                <a:t>Every card shows its reasons, provider status stays visible, and modelled data is marked “Estimated.” Trust comes first.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13240859" y="566"/>
              <a:ext cx="4743987" cy="1972564"/>
              <a:chOff x="0" y="0"/>
              <a:chExt cx="646652" cy="26888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646652" cy="268880"/>
              </a:xfrm>
              <a:custGeom>
                <a:avLst/>
                <a:gdLst/>
                <a:ahLst/>
                <a:cxnLst/>
                <a:rect l="l" t="t" r="r" b="b"/>
                <a:pathLst>
                  <a:path w="646652" h="268880">
                    <a:moveTo>
                      <a:pt x="23799" y="0"/>
                    </a:moveTo>
                    <a:lnTo>
                      <a:pt x="622853" y="0"/>
                    </a:lnTo>
                    <a:cubicBezTo>
                      <a:pt x="635997" y="0"/>
                      <a:pt x="646652" y="10655"/>
                      <a:pt x="646652" y="23799"/>
                    </a:cubicBezTo>
                    <a:lnTo>
                      <a:pt x="646652" y="245081"/>
                    </a:lnTo>
                    <a:cubicBezTo>
                      <a:pt x="646652" y="251393"/>
                      <a:pt x="644145" y="257446"/>
                      <a:pt x="639682" y="261909"/>
                    </a:cubicBezTo>
                    <a:cubicBezTo>
                      <a:pt x="635218" y="266373"/>
                      <a:pt x="629165" y="268880"/>
                      <a:pt x="622853" y="268880"/>
                    </a:cubicBezTo>
                    <a:lnTo>
                      <a:pt x="23799" y="268880"/>
                    </a:lnTo>
                    <a:cubicBezTo>
                      <a:pt x="10655" y="268880"/>
                      <a:pt x="0" y="258225"/>
                      <a:pt x="0" y="245081"/>
                    </a:cubicBezTo>
                    <a:lnTo>
                      <a:pt x="0" y="23799"/>
                    </a:lnTo>
                    <a:cubicBezTo>
                      <a:pt x="0" y="10655"/>
                      <a:pt x="10655" y="0"/>
                      <a:pt x="23799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38100"/>
                <a:ext cx="646652" cy="306980"/>
              </a:xfrm>
              <a:prstGeom prst="rect">
                <a:avLst/>
              </a:prstGeom>
            </p:spPr>
            <p:txBody>
              <a:bodyPr lIns="47914" tIns="47914" rIns="47914" bIns="47914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8" name="TextBox 78"/>
            <p:cNvSpPr txBox="1"/>
            <p:nvPr/>
          </p:nvSpPr>
          <p:spPr>
            <a:xfrm>
              <a:off x="14932148" y="140163"/>
              <a:ext cx="1207528" cy="483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961"/>
                </a:lnSpc>
                <a:spcBef>
                  <a:spcPct val="0"/>
                </a:spcBef>
              </a:pPr>
              <a:r>
                <a:rPr lang="en-US" sz="2115" b="1" dirty="0">
                  <a:solidFill>
                    <a:srgbClr val="FFFFFF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REACH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3407436" y="592966"/>
              <a:ext cx="4437647" cy="1312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B0DFF5"/>
                  </a:solidFill>
                  <a:latin typeface="Futura"/>
                  <a:ea typeface="Futura"/>
                  <a:cs typeface="Futura"/>
                  <a:sym typeface="Futura"/>
                </a:rPr>
                <a:t>Hindi support, low-bandwidth mode, offline cache, Android 7.0+, TalkBack, and AA contrast—built for all devices, not just flagships.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9024780" y="156125"/>
              <a:ext cx="3682702" cy="461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61"/>
                </a:lnSpc>
                <a:spcBef>
                  <a:spcPct val="0"/>
                </a:spcBef>
              </a:pPr>
              <a:r>
                <a:rPr lang="en-US" sz="2115" b="1">
                  <a:solidFill>
                    <a:srgbClr val="FFFFFF"/>
                  </a:solidFill>
                  <a:latin typeface="Caladea Bold"/>
                  <a:ea typeface="Caladea Bold"/>
                  <a:cs typeface="Caladea Bold"/>
                  <a:sym typeface="Caladea Bold"/>
                </a:rPr>
                <a:t>OPERABILITY FOR IMD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8718943" y="589308"/>
              <a:ext cx="4405346" cy="1312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97"/>
                </a:lnSpc>
              </a:pPr>
              <a:r>
                <a:rPr lang="en-US" sz="1650">
                  <a:solidFill>
                    <a:srgbClr val="B0DFF5"/>
                  </a:solidFill>
                  <a:latin typeface="Futura"/>
                  <a:ea typeface="Futura"/>
                  <a:cs typeface="Futura"/>
                  <a:sym typeface="Futura"/>
                </a:rPr>
                <a:t>Server-driven cards enable backend homepage control without release dependencies. IMD provider activates via whitelisting.</a:t>
              </a:r>
            </a:p>
          </p:txBody>
        </p:sp>
      </p:grpSp>
      <p:sp>
        <p:nvSpPr>
          <p:cNvPr id="82" name="Freeform 82"/>
          <p:cNvSpPr/>
          <p:nvPr/>
        </p:nvSpPr>
        <p:spPr>
          <a:xfrm>
            <a:off x="1323667" y="6931752"/>
            <a:ext cx="5200305" cy="1268983"/>
          </a:xfrm>
          <a:custGeom>
            <a:avLst/>
            <a:gdLst/>
            <a:ahLst/>
            <a:cxnLst/>
            <a:rect l="l" t="t" r="r" b="b"/>
            <a:pathLst>
              <a:path w="5200305" h="1268983">
                <a:moveTo>
                  <a:pt x="0" y="0"/>
                </a:moveTo>
                <a:lnTo>
                  <a:pt x="5200304" y="0"/>
                </a:lnTo>
                <a:lnTo>
                  <a:pt x="5200304" y="1268983"/>
                </a:lnTo>
                <a:lnTo>
                  <a:pt x="0" y="1268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83" name="Group 83"/>
          <p:cNvGrpSpPr/>
          <p:nvPr/>
        </p:nvGrpSpPr>
        <p:grpSpPr>
          <a:xfrm>
            <a:off x="1429523" y="7098712"/>
            <a:ext cx="671845" cy="671845"/>
            <a:chOff x="0" y="0"/>
            <a:chExt cx="812800" cy="812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6" name="Freeform 86"/>
          <p:cNvSpPr/>
          <p:nvPr/>
        </p:nvSpPr>
        <p:spPr>
          <a:xfrm>
            <a:off x="1323667" y="8422871"/>
            <a:ext cx="5200305" cy="1268983"/>
          </a:xfrm>
          <a:custGeom>
            <a:avLst/>
            <a:gdLst/>
            <a:ahLst/>
            <a:cxnLst/>
            <a:rect l="l" t="t" r="r" b="b"/>
            <a:pathLst>
              <a:path w="5200305" h="1268983">
                <a:moveTo>
                  <a:pt x="0" y="0"/>
                </a:moveTo>
                <a:lnTo>
                  <a:pt x="5200304" y="0"/>
                </a:lnTo>
                <a:lnTo>
                  <a:pt x="5200304" y="1268983"/>
                </a:lnTo>
                <a:lnTo>
                  <a:pt x="0" y="12689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87" name="Group 87"/>
          <p:cNvGrpSpPr/>
          <p:nvPr/>
        </p:nvGrpSpPr>
        <p:grpSpPr>
          <a:xfrm>
            <a:off x="1429523" y="8589832"/>
            <a:ext cx="671845" cy="671845"/>
            <a:chOff x="0" y="0"/>
            <a:chExt cx="812800" cy="812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0" name="Freeform 90"/>
          <p:cNvSpPr/>
          <p:nvPr/>
        </p:nvSpPr>
        <p:spPr>
          <a:xfrm>
            <a:off x="1576519" y="8742098"/>
            <a:ext cx="403639" cy="367312"/>
          </a:xfrm>
          <a:custGeom>
            <a:avLst/>
            <a:gdLst/>
            <a:ahLst/>
            <a:cxnLst/>
            <a:rect l="l" t="t" r="r" b="b"/>
            <a:pathLst>
              <a:path w="403639" h="367312">
                <a:moveTo>
                  <a:pt x="0" y="0"/>
                </a:moveTo>
                <a:lnTo>
                  <a:pt x="403639" y="0"/>
                </a:lnTo>
                <a:lnTo>
                  <a:pt x="403639" y="367312"/>
                </a:lnTo>
                <a:lnTo>
                  <a:pt x="0" y="3673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1531683" y="7200872"/>
            <a:ext cx="467525" cy="467525"/>
          </a:xfrm>
          <a:custGeom>
            <a:avLst/>
            <a:gdLst/>
            <a:ahLst/>
            <a:cxnLst/>
            <a:rect l="l" t="t" r="r" b="b"/>
            <a:pathLst>
              <a:path w="467525" h="467525">
                <a:moveTo>
                  <a:pt x="0" y="0"/>
                </a:moveTo>
                <a:lnTo>
                  <a:pt x="467525" y="0"/>
                </a:lnTo>
                <a:lnTo>
                  <a:pt x="467525" y="467526"/>
                </a:lnTo>
                <a:lnTo>
                  <a:pt x="0" y="4675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grpSp>
        <p:nvGrpSpPr>
          <p:cNvPr id="92" name="Group 92"/>
          <p:cNvGrpSpPr/>
          <p:nvPr/>
        </p:nvGrpSpPr>
        <p:grpSpPr>
          <a:xfrm>
            <a:off x="15995549" y="6688458"/>
            <a:ext cx="2066069" cy="2951521"/>
            <a:chOff x="0" y="0"/>
            <a:chExt cx="116724" cy="16674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16724" cy="166748"/>
            </a:xfrm>
            <a:custGeom>
              <a:avLst/>
              <a:gdLst/>
              <a:ahLst/>
              <a:cxnLst/>
              <a:rect l="l" t="t" r="r" b="b"/>
              <a:pathLst>
                <a:path w="116724" h="166748">
                  <a:moveTo>
                    <a:pt x="29275" y="0"/>
                  </a:moveTo>
                  <a:lnTo>
                    <a:pt x="87449" y="0"/>
                  </a:lnTo>
                  <a:cubicBezTo>
                    <a:pt x="95213" y="0"/>
                    <a:pt x="102660" y="3084"/>
                    <a:pt x="108150" y="8574"/>
                  </a:cubicBezTo>
                  <a:cubicBezTo>
                    <a:pt x="113640" y="14064"/>
                    <a:pt x="116724" y="21511"/>
                    <a:pt x="116724" y="29275"/>
                  </a:cubicBezTo>
                  <a:lnTo>
                    <a:pt x="116724" y="137473"/>
                  </a:lnTo>
                  <a:cubicBezTo>
                    <a:pt x="116724" y="153641"/>
                    <a:pt x="103617" y="166748"/>
                    <a:pt x="87449" y="166748"/>
                  </a:cubicBezTo>
                  <a:lnTo>
                    <a:pt x="29275" y="166748"/>
                  </a:lnTo>
                  <a:cubicBezTo>
                    <a:pt x="13107" y="166748"/>
                    <a:pt x="0" y="153641"/>
                    <a:pt x="0" y="137473"/>
                  </a:cubicBezTo>
                  <a:lnTo>
                    <a:pt x="0" y="29275"/>
                  </a:lnTo>
                  <a:cubicBezTo>
                    <a:pt x="0" y="13107"/>
                    <a:pt x="13107" y="0"/>
                    <a:pt x="29275" y="0"/>
                  </a:cubicBezTo>
                  <a:close/>
                </a:path>
              </a:pathLst>
            </a:custGeom>
            <a:solidFill>
              <a:srgbClr val="E2CBF6">
                <a:alpha val="60000"/>
              </a:srgbClr>
            </a:solid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116724" cy="204848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6106326" y="6757257"/>
            <a:ext cx="396217" cy="385147"/>
            <a:chOff x="0" y="0"/>
            <a:chExt cx="836162" cy="812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36162" cy="812800"/>
            </a:xfrm>
            <a:custGeom>
              <a:avLst/>
              <a:gdLst/>
              <a:ahLst/>
              <a:cxnLst/>
              <a:rect l="l" t="t" r="r" b="b"/>
              <a:pathLst>
                <a:path w="836162" h="812800">
                  <a:moveTo>
                    <a:pt x="418081" y="0"/>
                  </a:moveTo>
                  <a:cubicBezTo>
                    <a:pt x="187181" y="0"/>
                    <a:pt x="0" y="181951"/>
                    <a:pt x="0" y="406400"/>
                  </a:cubicBezTo>
                  <a:cubicBezTo>
                    <a:pt x="0" y="630849"/>
                    <a:pt x="187181" y="812800"/>
                    <a:pt x="418081" y="812800"/>
                  </a:cubicBezTo>
                  <a:cubicBezTo>
                    <a:pt x="648981" y="812800"/>
                    <a:pt x="836162" y="630849"/>
                    <a:pt x="836162" y="406400"/>
                  </a:cubicBezTo>
                  <a:cubicBezTo>
                    <a:pt x="836162" y="181951"/>
                    <a:pt x="648981" y="0"/>
                    <a:pt x="418081" y="0"/>
                  </a:cubicBezTo>
                  <a:close/>
                </a:path>
              </a:pathLst>
            </a:custGeom>
            <a:solidFill>
              <a:srgbClr val="CEA8F0"/>
            </a:solidFill>
          </p:spPr>
        </p:sp>
        <p:sp>
          <p:nvSpPr>
            <p:cNvPr id="97" name="TextBox 97"/>
            <p:cNvSpPr txBox="1"/>
            <p:nvPr/>
          </p:nvSpPr>
          <p:spPr>
            <a:xfrm>
              <a:off x="78390" y="28575"/>
              <a:ext cx="679382" cy="708025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6098342" y="9053780"/>
            <a:ext cx="1880071" cy="459521"/>
            <a:chOff x="0" y="0"/>
            <a:chExt cx="164422" cy="40187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64422" cy="40187"/>
            </a:xfrm>
            <a:custGeom>
              <a:avLst/>
              <a:gdLst/>
              <a:ahLst/>
              <a:cxnLst/>
              <a:rect l="l" t="t" r="r" b="b"/>
              <a:pathLst>
                <a:path w="164422" h="40187">
                  <a:moveTo>
                    <a:pt x="20094" y="0"/>
                  </a:moveTo>
                  <a:lnTo>
                    <a:pt x="144328" y="0"/>
                  </a:lnTo>
                  <a:cubicBezTo>
                    <a:pt x="155425" y="0"/>
                    <a:pt x="164422" y="8996"/>
                    <a:pt x="164422" y="20094"/>
                  </a:cubicBezTo>
                  <a:lnTo>
                    <a:pt x="164422" y="20094"/>
                  </a:lnTo>
                  <a:cubicBezTo>
                    <a:pt x="164422" y="31191"/>
                    <a:pt x="155425" y="40187"/>
                    <a:pt x="144328" y="40187"/>
                  </a:cubicBezTo>
                  <a:lnTo>
                    <a:pt x="20094" y="40187"/>
                  </a:lnTo>
                  <a:cubicBezTo>
                    <a:pt x="8996" y="40187"/>
                    <a:pt x="0" y="31191"/>
                    <a:pt x="0" y="20094"/>
                  </a:cubicBezTo>
                  <a:lnTo>
                    <a:pt x="0" y="20094"/>
                  </a:lnTo>
                  <a:cubicBezTo>
                    <a:pt x="0" y="8996"/>
                    <a:pt x="8996" y="0"/>
                    <a:pt x="20094" y="0"/>
                  </a:cubicBezTo>
                  <a:close/>
                </a:path>
              </a:pathLst>
            </a:custGeom>
            <a:solidFill>
              <a:srgbClr val="CEA8F0">
                <a:alpha val="60000"/>
              </a:srgbClr>
            </a:solidFill>
            <a:ln w="9525" cap="sq">
              <a:solidFill>
                <a:srgbClr val="000000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164422" cy="78287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3801483" y="6688458"/>
            <a:ext cx="2003565" cy="2972403"/>
            <a:chOff x="0" y="0"/>
            <a:chExt cx="112398" cy="16674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12398" cy="166748"/>
            </a:xfrm>
            <a:custGeom>
              <a:avLst/>
              <a:gdLst/>
              <a:ahLst/>
              <a:cxnLst/>
              <a:rect l="l" t="t" r="r" b="b"/>
              <a:pathLst>
                <a:path w="112398" h="166748">
                  <a:moveTo>
                    <a:pt x="30188" y="0"/>
                  </a:moveTo>
                  <a:lnTo>
                    <a:pt x="82210" y="0"/>
                  </a:lnTo>
                  <a:cubicBezTo>
                    <a:pt x="98882" y="0"/>
                    <a:pt x="112398" y="13516"/>
                    <a:pt x="112398" y="30188"/>
                  </a:cubicBezTo>
                  <a:lnTo>
                    <a:pt x="112398" y="136560"/>
                  </a:lnTo>
                  <a:cubicBezTo>
                    <a:pt x="112398" y="153233"/>
                    <a:pt x="98882" y="166748"/>
                    <a:pt x="82210" y="166748"/>
                  </a:cubicBezTo>
                  <a:lnTo>
                    <a:pt x="30188" y="166748"/>
                  </a:lnTo>
                  <a:cubicBezTo>
                    <a:pt x="13516" y="166748"/>
                    <a:pt x="0" y="153233"/>
                    <a:pt x="0" y="136560"/>
                  </a:cubicBezTo>
                  <a:lnTo>
                    <a:pt x="0" y="30188"/>
                  </a:lnTo>
                  <a:cubicBezTo>
                    <a:pt x="0" y="13516"/>
                    <a:pt x="13516" y="0"/>
                    <a:pt x="30188" y="0"/>
                  </a:cubicBezTo>
                  <a:close/>
                </a:path>
              </a:pathLst>
            </a:custGeom>
            <a:solidFill>
              <a:srgbClr val="FFD6D6">
                <a:alpha val="60000"/>
              </a:srgbClr>
            </a:solidFill>
          </p:spPr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112398" cy="204848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3858861" y="8236727"/>
            <a:ext cx="885248" cy="1322635"/>
            <a:chOff x="0" y="0"/>
            <a:chExt cx="76875" cy="11485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6875" cy="114858"/>
            </a:xfrm>
            <a:custGeom>
              <a:avLst/>
              <a:gdLst/>
              <a:ahLst/>
              <a:cxnLst/>
              <a:rect l="l" t="t" r="r" b="b"/>
              <a:pathLst>
                <a:path w="76875" h="114858">
                  <a:moveTo>
                    <a:pt x="38438" y="0"/>
                  </a:moveTo>
                  <a:lnTo>
                    <a:pt x="38438" y="0"/>
                  </a:lnTo>
                  <a:cubicBezTo>
                    <a:pt x="59666" y="0"/>
                    <a:pt x="76875" y="17209"/>
                    <a:pt x="76875" y="38438"/>
                  </a:cubicBezTo>
                  <a:lnTo>
                    <a:pt x="76875" y="76421"/>
                  </a:lnTo>
                  <a:cubicBezTo>
                    <a:pt x="76875" y="86615"/>
                    <a:pt x="72826" y="96392"/>
                    <a:pt x="65617" y="103600"/>
                  </a:cubicBezTo>
                  <a:cubicBezTo>
                    <a:pt x="58409" y="110809"/>
                    <a:pt x="48632" y="114858"/>
                    <a:pt x="38438" y="114858"/>
                  </a:cubicBezTo>
                  <a:lnTo>
                    <a:pt x="38438" y="114858"/>
                  </a:lnTo>
                  <a:cubicBezTo>
                    <a:pt x="28243" y="114858"/>
                    <a:pt x="18467" y="110809"/>
                    <a:pt x="11258" y="103600"/>
                  </a:cubicBezTo>
                  <a:cubicBezTo>
                    <a:pt x="4050" y="96392"/>
                    <a:pt x="0" y="86615"/>
                    <a:pt x="0" y="76421"/>
                  </a:cubicBezTo>
                  <a:lnTo>
                    <a:pt x="0" y="38438"/>
                  </a:lnTo>
                  <a:cubicBezTo>
                    <a:pt x="0" y="28243"/>
                    <a:pt x="4050" y="18467"/>
                    <a:pt x="11258" y="11258"/>
                  </a:cubicBezTo>
                  <a:cubicBezTo>
                    <a:pt x="18467" y="4050"/>
                    <a:pt x="28243" y="0"/>
                    <a:pt x="38438" y="0"/>
                  </a:cubicBezTo>
                  <a:close/>
                </a:path>
              </a:pathLst>
            </a:custGeom>
            <a:solidFill>
              <a:srgbClr val="FFADAD">
                <a:alpha val="60000"/>
              </a:srgbClr>
            </a:solidFill>
            <a:ln w="9525" cap="sq">
              <a:solidFill>
                <a:srgbClr val="000000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76875" cy="152958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3914485" y="6769142"/>
            <a:ext cx="422130" cy="422130"/>
            <a:chOff x="0" y="0"/>
            <a:chExt cx="812800" cy="8128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AD"/>
            </a:solidFill>
          </p:spPr>
        </p:sp>
        <p:sp>
          <p:nvSpPr>
            <p:cNvPr id="109" name="TextBox 10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1527776" y="6709340"/>
            <a:ext cx="2083207" cy="2951521"/>
            <a:chOff x="0" y="0"/>
            <a:chExt cx="117692" cy="166748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17692" cy="166748"/>
            </a:xfrm>
            <a:custGeom>
              <a:avLst/>
              <a:gdLst/>
              <a:ahLst/>
              <a:cxnLst/>
              <a:rect l="l" t="t" r="r" b="b"/>
              <a:pathLst>
                <a:path w="117692" h="166748">
                  <a:moveTo>
                    <a:pt x="29034" y="0"/>
                  </a:moveTo>
                  <a:lnTo>
                    <a:pt x="88658" y="0"/>
                  </a:lnTo>
                  <a:cubicBezTo>
                    <a:pt x="104693" y="0"/>
                    <a:pt x="117692" y="12999"/>
                    <a:pt x="117692" y="29034"/>
                  </a:cubicBezTo>
                  <a:lnTo>
                    <a:pt x="117692" y="137714"/>
                  </a:lnTo>
                  <a:cubicBezTo>
                    <a:pt x="117692" y="145415"/>
                    <a:pt x="114633" y="152799"/>
                    <a:pt x="109188" y="158244"/>
                  </a:cubicBezTo>
                  <a:cubicBezTo>
                    <a:pt x="103743" y="163689"/>
                    <a:pt x="96359" y="166748"/>
                    <a:pt x="88658" y="166748"/>
                  </a:cubicBezTo>
                  <a:lnTo>
                    <a:pt x="29034" y="166748"/>
                  </a:lnTo>
                  <a:cubicBezTo>
                    <a:pt x="12999" y="166748"/>
                    <a:pt x="0" y="153749"/>
                    <a:pt x="0" y="137714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solidFill>
              <a:srgbClr val="E4FFC2">
                <a:alpha val="60000"/>
              </a:srgbClr>
            </a:solid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117692" cy="204848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1605360" y="6772505"/>
            <a:ext cx="419164" cy="419164"/>
            <a:chOff x="0" y="0"/>
            <a:chExt cx="812800" cy="8128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FF99"/>
            </a:solidFill>
          </p:spPr>
        </p:sp>
        <p:sp>
          <p:nvSpPr>
            <p:cNvPr id="115" name="TextBox 1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9294234" y="6760967"/>
            <a:ext cx="2043042" cy="2951521"/>
            <a:chOff x="0" y="0"/>
            <a:chExt cx="115423" cy="166748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15423" cy="166748"/>
            </a:xfrm>
            <a:custGeom>
              <a:avLst/>
              <a:gdLst/>
              <a:ahLst/>
              <a:cxnLst/>
              <a:rect l="l" t="t" r="r" b="b"/>
              <a:pathLst>
                <a:path w="115423" h="166748">
                  <a:moveTo>
                    <a:pt x="29605" y="0"/>
                  </a:moveTo>
                  <a:lnTo>
                    <a:pt x="85818" y="0"/>
                  </a:lnTo>
                  <a:cubicBezTo>
                    <a:pt x="93670" y="0"/>
                    <a:pt x="101200" y="3119"/>
                    <a:pt x="106752" y="8671"/>
                  </a:cubicBezTo>
                  <a:cubicBezTo>
                    <a:pt x="112304" y="14223"/>
                    <a:pt x="115423" y="21753"/>
                    <a:pt x="115423" y="29605"/>
                  </a:cubicBezTo>
                  <a:lnTo>
                    <a:pt x="115423" y="137143"/>
                  </a:lnTo>
                  <a:cubicBezTo>
                    <a:pt x="115423" y="144995"/>
                    <a:pt x="112304" y="152525"/>
                    <a:pt x="106752" y="158077"/>
                  </a:cubicBezTo>
                  <a:cubicBezTo>
                    <a:pt x="101200" y="163629"/>
                    <a:pt x="93670" y="166748"/>
                    <a:pt x="85818" y="166748"/>
                  </a:cubicBezTo>
                  <a:lnTo>
                    <a:pt x="29605" y="166748"/>
                  </a:lnTo>
                  <a:cubicBezTo>
                    <a:pt x="21753" y="166748"/>
                    <a:pt x="14223" y="163629"/>
                    <a:pt x="8671" y="158077"/>
                  </a:cubicBezTo>
                  <a:cubicBezTo>
                    <a:pt x="3119" y="152525"/>
                    <a:pt x="0" y="144995"/>
                    <a:pt x="0" y="137143"/>
                  </a:cubicBezTo>
                  <a:lnTo>
                    <a:pt x="0" y="29605"/>
                  </a:lnTo>
                  <a:cubicBezTo>
                    <a:pt x="0" y="21753"/>
                    <a:pt x="3119" y="14223"/>
                    <a:pt x="8671" y="8671"/>
                  </a:cubicBezTo>
                  <a:cubicBezTo>
                    <a:pt x="14223" y="3119"/>
                    <a:pt x="21753" y="0"/>
                    <a:pt x="29605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115423" cy="204848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358823" y="6819635"/>
            <a:ext cx="419164" cy="419164"/>
            <a:chOff x="0" y="0"/>
            <a:chExt cx="812800" cy="8128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121" name="TextBox 1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6752571" y="6740085"/>
            <a:ext cx="2351163" cy="2972403"/>
            <a:chOff x="0" y="0"/>
            <a:chExt cx="131897" cy="166748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31897" cy="166748"/>
            </a:xfrm>
            <a:custGeom>
              <a:avLst/>
              <a:gdLst/>
              <a:ahLst/>
              <a:cxnLst/>
              <a:rect l="l" t="t" r="r" b="b"/>
              <a:pathLst>
                <a:path w="131897" h="166748">
                  <a:moveTo>
                    <a:pt x="25725" y="0"/>
                  </a:moveTo>
                  <a:lnTo>
                    <a:pt x="106172" y="0"/>
                  </a:lnTo>
                  <a:cubicBezTo>
                    <a:pt x="120380" y="0"/>
                    <a:pt x="131897" y="11517"/>
                    <a:pt x="131897" y="25725"/>
                  </a:cubicBezTo>
                  <a:lnTo>
                    <a:pt x="131897" y="141023"/>
                  </a:lnTo>
                  <a:cubicBezTo>
                    <a:pt x="131897" y="155231"/>
                    <a:pt x="120380" y="166748"/>
                    <a:pt x="106172" y="166748"/>
                  </a:cubicBezTo>
                  <a:lnTo>
                    <a:pt x="25725" y="166748"/>
                  </a:lnTo>
                  <a:cubicBezTo>
                    <a:pt x="11517" y="166748"/>
                    <a:pt x="0" y="155231"/>
                    <a:pt x="0" y="141023"/>
                  </a:cubicBezTo>
                  <a:lnTo>
                    <a:pt x="0" y="25725"/>
                  </a:lnTo>
                  <a:cubicBezTo>
                    <a:pt x="0" y="11517"/>
                    <a:pt x="11517" y="0"/>
                    <a:pt x="25725" y="0"/>
                  </a:cubicBezTo>
                  <a:close/>
                </a:path>
              </a:pathLst>
            </a:custGeom>
            <a:solidFill>
              <a:srgbClr val="FFC2E8">
                <a:alpha val="60000"/>
              </a:srgbClr>
            </a:solidFill>
          </p:spPr>
        </p:sp>
        <p:sp>
          <p:nvSpPr>
            <p:cNvPr id="124" name="TextBox 124"/>
            <p:cNvSpPr txBox="1"/>
            <p:nvPr/>
          </p:nvSpPr>
          <p:spPr>
            <a:xfrm>
              <a:off x="0" y="-38100"/>
              <a:ext cx="131897" cy="204848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6816671" y="8708195"/>
            <a:ext cx="2229913" cy="940027"/>
            <a:chOff x="0" y="0"/>
            <a:chExt cx="193647" cy="81633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193647" cy="81633"/>
            </a:xfrm>
            <a:custGeom>
              <a:avLst/>
              <a:gdLst/>
              <a:ahLst/>
              <a:cxnLst/>
              <a:rect l="l" t="t" r="r" b="b"/>
              <a:pathLst>
                <a:path w="193647" h="81633">
                  <a:moveTo>
                    <a:pt x="27124" y="0"/>
                  </a:moveTo>
                  <a:lnTo>
                    <a:pt x="166523" y="0"/>
                  </a:lnTo>
                  <a:cubicBezTo>
                    <a:pt x="181503" y="0"/>
                    <a:pt x="193647" y="12144"/>
                    <a:pt x="193647" y="27124"/>
                  </a:cubicBezTo>
                  <a:lnTo>
                    <a:pt x="193647" y="54509"/>
                  </a:lnTo>
                  <a:cubicBezTo>
                    <a:pt x="193647" y="61702"/>
                    <a:pt x="190789" y="68602"/>
                    <a:pt x="185703" y="73688"/>
                  </a:cubicBezTo>
                  <a:cubicBezTo>
                    <a:pt x="180616" y="78775"/>
                    <a:pt x="173717" y="81633"/>
                    <a:pt x="166523" y="81633"/>
                  </a:cubicBezTo>
                  <a:lnTo>
                    <a:pt x="27124" y="81633"/>
                  </a:lnTo>
                  <a:cubicBezTo>
                    <a:pt x="19930" y="81633"/>
                    <a:pt x="13031" y="78775"/>
                    <a:pt x="7944" y="73688"/>
                  </a:cubicBezTo>
                  <a:cubicBezTo>
                    <a:pt x="2858" y="68602"/>
                    <a:pt x="0" y="61702"/>
                    <a:pt x="0" y="54509"/>
                  </a:cubicBezTo>
                  <a:lnTo>
                    <a:pt x="0" y="27124"/>
                  </a:lnTo>
                  <a:cubicBezTo>
                    <a:pt x="0" y="19930"/>
                    <a:pt x="2858" y="13031"/>
                    <a:pt x="7944" y="7944"/>
                  </a:cubicBezTo>
                  <a:cubicBezTo>
                    <a:pt x="13031" y="2858"/>
                    <a:pt x="19930" y="0"/>
                    <a:pt x="27124" y="0"/>
                  </a:cubicBezTo>
                  <a:close/>
                </a:path>
              </a:pathLst>
            </a:custGeom>
            <a:solidFill>
              <a:srgbClr val="EDCBF6">
                <a:alpha val="60000"/>
              </a:srgbClr>
            </a:solidFill>
            <a:ln w="9525" cap="sq">
              <a:solidFill>
                <a:srgbClr val="000000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0" y="-38100"/>
              <a:ext cx="193647" cy="119733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sp>
        <p:nvSpPr>
          <p:cNvPr id="128" name="Freeform 128"/>
          <p:cNvSpPr/>
          <p:nvPr/>
        </p:nvSpPr>
        <p:spPr>
          <a:xfrm>
            <a:off x="16159621" y="7228299"/>
            <a:ext cx="302433" cy="302433"/>
          </a:xfrm>
          <a:custGeom>
            <a:avLst/>
            <a:gdLst/>
            <a:ahLst/>
            <a:cxnLst/>
            <a:rect l="l" t="t" r="r" b="b"/>
            <a:pathLst>
              <a:path w="302433" h="302433">
                <a:moveTo>
                  <a:pt x="0" y="0"/>
                </a:moveTo>
                <a:lnTo>
                  <a:pt x="302433" y="0"/>
                </a:lnTo>
                <a:lnTo>
                  <a:pt x="302433" y="302433"/>
                </a:lnTo>
                <a:lnTo>
                  <a:pt x="0" y="302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129"/>
          <p:cNvSpPr/>
          <p:nvPr/>
        </p:nvSpPr>
        <p:spPr>
          <a:xfrm>
            <a:off x="16209944" y="7686556"/>
            <a:ext cx="201787" cy="342012"/>
          </a:xfrm>
          <a:custGeom>
            <a:avLst/>
            <a:gdLst/>
            <a:ahLst/>
            <a:cxnLst/>
            <a:rect l="l" t="t" r="r" b="b"/>
            <a:pathLst>
              <a:path w="201787" h="342012">
                <a:moveTo>
                  <a:pt x="0" y="0"/>
                </a:moveTo>
                <a:lnTo>
                  <a:pt x="201787" y="0"/>
                </a:lnTo>
                <a:lnTo>
                  <a:pt x="201787" y="342012"/>
                </a:lnTo>
                <a:lnTo>
                  <a:pt x="0" y="342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30" name="Freeform 130"/>
          <p:cNvSpPr/>
          <p:nvPr/>
        </p:nvSpPr>
        <p:spPr>
          <a:xfrm>
            <a:off x="16219052" y="8164218"/>
            <a:ext cx="218851" cy="329100"/>
          </a:xfrm>
          <a:custGeom>
            <a:avLst/>
            <a:gdLst/>
            <a:ahLst/>
            <a:cxnLst/>
            <a:rect l="l" t="t" r="r" b="b"/>
            <a:pathLst>
              <a:path w="218851" h="329100">
                <a:moveTo>
                  <a:pt x="0" y="0"/>
                </a:moveTo>
                <a:lnTo>
                  <a:pt x="218852" y="0"/>
                </a:lnTo>
                <a:lnTo>
                  <a:pt x="218852" y="329100"/>
                </a:lnTo>
                <a:lnTo>
                  <a:pt x="0" y="329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31" name="Freeform 131"/>
          <p:cNvSpPr/>
          <p:nvPr/>
        </p:nvSpPr>
        <p:spPr>
          <a:xfrm>
            <a:off x="16209944" y="8645718"/>
            <a:ext cx="283291" cy="298201"/>
          </a:xfrm>
          <a:custGeom>
            <a:avLst/>
            <a:gdLst/>
            <a:ahLst/>
            <a:cxnLst/>
            <a:rect l="l" t="t" r="r" b="b"/>
            <a:pathLst>
              <a:path w="283291" h="298201">
                <a:moveTo>
                  <a:pt x="0" y="0"/>
                </a:moveTo>
                <a:lnTo>
                  <a:pt x="283291" y="0"/>
                </a:lnTo>
                <a:lnTo>
                  <a:pt x="283291" y="298201"/>
                </a:lnTo>
                <a:lnTo>
                  <a:pt x="0" y="298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32" name="Group 132"/>
          <p:cNvGrpSpPr/>
          <p:nvPr/>
        </p:nvGrpSpPr>
        <p:grpSpPr>
          <a:xfrm>
            <a:off x="14879768" y="8236727"/>
            <a:ext cx="885248" cy="1322635"/>
            <a:chOff x="0" y="0"/>
            <a:chExt cx="76875" cy="114858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76875" cy="114858"/>
            </a:xfrm>
            <a:custGeom>
              <a:avLst/>
              <a:gdLst/>
              <a:ahLst/>
              <a:cxnLst/>
              <a:rect l="l" t="t" r="r" b="b"/>
              <a:pathLst>
                <a:path w="76875" h="114858">
                  <a:moveTo>
                    <a:pt x="38438" y="0"/>
                  </a:moveTo>
                  <a:lnTo>
                    <a:pt x="38438" y="0"/>
                  </a:lnTo>
                  <a:cubicBezTo>
                    <a:pt x="59666" y="0"/>
                    <a:pt x="76875" y="17209"/>
                    <a:pt x="76875" y="38438"/>
                  </a:cubicBezTo>
                  <a:lnTo>
                    <a:pt x="76875" y="76421"/>
                  </a:lnTo>
                  <a:cubicBezTo>
                    <a:pt x="76875" y="86615"/>
                    <a:pt x="72826" y="96392"/>
                    <a:pt x="65617" y="103600"/>
                  </a:cubicBezTo>
                  <a:cubicBezTo>
                    <a:pt x="58409" y="110809"/>
                    <a:pt x="48632" y="114858"/>
                    <a:pt x="38438" y="114858"/>
                  </a:cubicBezTo>
                  <a:lnTo>
                    <a:pt x="38438" y="114858"/>
                  </a:lnTo>
                  <a:cubicBezTo>
                    <a:pt x="28243" y="114858"/>
                    <a:pt x="18467" y="110809"/>
                    <a:pt x="11258" y="103600"/>
                  </a:cubicBezTo>
                  <a:cubicBezTo>
                    <a:pt x="4050" y="96392"/>
                    <a:pt x="0" y="86615"/>
                    <a:pt x="0" y="76421"/>
                  </a:cubicBezTo>
                  <a:lnTo>
                    <a:pt x="0" y="38438"/>
                  </a:lnTo>
                  <a:cubicBezTo>
                    <a:pt x="0" y="28243"/>
                    <a:pt x="4050" y="18467"/>
                    <a:pt x="11258" y="11258"/>
                  </a:cubicBezTo>
                  <a:cubicBezTo>
                    <a:pt x="18467" y="4050"/>
                    <a:pt x="28243" y="0"/>
                    <a:pt x="38438" y="0"/>
                  </a:cubicBezTo>
                  <a:close/>
                </a:path>
              </a:pathLst>
            </a:custGeom>
            <a:solidFill>
              <a:srgbClr val="FFADAD">
                <a:alpha val="60000"/>
              </a:srgbClr>
            </a:solidFill>
            <a:ln w="9525" cap="sq">
              <a:solidFill>
                <a:srgbClr val="000000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0" y="-38100"/>
              <a:ext cx="76875" cy="152958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sp>
        <p:nvSpPr>
          <p:cNvPr id="135" name="Freeform 135"/>
          <p:cNvSpPr/>
          <p:nvPr/>
        </p:nvSpPr>
        <p:spPr>
          <a:xfrm>
            <a:off x="13966546" y="7476996"/>
            <a:ext cx="370068" cy="611683"/>
          </a:xfrm>
          <a:custGeom>
            <a:avLst/>
            <a:gdLst/>
            <a:ahLst/>
            <a:cxnLst/>
            <a:rect l="l" t="t" r="r" b="b"/>
            <a:pathLst>
              <a:path w="370068" h="611683">
                <a:moveTo>
                  <a:pt x="0" y="0"/>
                </a:moveTo>
                <a:lnTo>
                  <a:pt x="370069" y="0"/>
                </a:lnTo>
                <a:lnTo>
                  <a:pt x="370069" y="611683"/>
                </a:lnTo>
                <a:lnTo>
                  <a:pt x="0" y="611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36" name="Freeform 136"/>
          <p:cNvSpPr/>
          <p:nvPr/>
        </p:nvSpPr>
        <p:spPr>
          <a:xfrm>
            <a:off x="15124749" y="8317500"/>
            <a:ext cx="348780" cy="348780"/>
          </a:xfrm>
          <a:custGeom>
            <a:avLst/>
            <a:gdLst/>
            <a:ahLst/>
            <a:cxnLst/>
            <a:rect l="l" t="t" r="r" b="b"/>
            <a:pathLst>
              <a:path w="348780" h="348780">
                <a:moveTo>
                  <a:pt x="0" y="0"/>
                </a:moveTo>
                <a:lnTo>
                  <a:pt x="348780" y="0"/>
                </a:lnTo>
                <a:lnTo>
                  <a:pt x="348780" y="348780"/>
                </a:lnTo>
                <a:lnTo>
                  <a:pt x="0" y="348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7" name="Freeform 137"/>
          <p:cNvSpPr/>
          <p:nvPr/>
        </p:nvSpPr>
        <p:spPr>
          <a:xfrm>
            <a:off x="14120947" y="8352146"/>
            <a:ext cx="361074" cy="314134"/>
          </a:xfrm>
          <a:custGeom>
            <a:avLst/>
            <a:gdLst/>
            <a:ahLst/>
            <a:cxnLst/>
            <a:rect l="l" t="t" r="r" b="b"/>
            <a:pathLst>
              <a:path w="361074" h="314134">
                <a:moveTo>
                  <a:pt x="0" y="0"/>
                </a:moveTo>
                <a:lnTo>
                  <a:pt x="361074" y="0"/>
                </a:lnTo>
                <a:lnTo>
                  <a:pt x="361074" y="314134"/>
                </a:lnTo>
                <a:lnTo>
                  <a:pt x="0" y="314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8" name="Freeform 138"/>
          <p:cNvSpPr/>
          <p:nvPr/>
        </p:nvSpPr>
        <p:spPr>
          <a:xfrm>
            <a:off x="11670028" y="7542977"/>
            <a:ext cx="423893" cy="423893"/>
          </a:xfrm>
          <a:custGeom>
            <a:avLst/>
            <a:gdLst/>
            <a:ahLst/>
            <a:cxnLst/>
            <a:rect l="l" t="t" r="r" b="b"/>
            <a:pathLst>
              <a:path w="423893" h="423893">
                <a:moveTo>
                  <a:pt x="0" y="0"/>
                </a:moveTo>
                <a:lnTo>
                  <a:pt x="423893" y="0"/>
                </a:lnTo>
                <a:lnTo>
                  <a:pt x="423893" y="423893"/>
                </a:lnTo>
                <a:lnTo>
                  <a:pt x="0" y="423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39" name="Freeform 139"/>
          <p:cNvSpPr/>
          <p:nvPr/>
        </p:nvSpPr>
        <p:spPr>
          <a:xfrm>
            <a:off x="11673373" y="8147845"/>
            <a:ext cx="458648" cy="628285"/>
          </a:xfrm>
          <a:custGeom>
            <a:avLst/>
            <a:gdLst/>
            <a:ahLst/>
            <a:cxnLst/>
            <a:rect l="l" t="t" r="r" b="b"/>
            <a:pathLst>
              <a:path w="458648" h="628285">
                <a:moveTo>
                  <a:pt x="0" y="0"/>
                </a:moveTo>
                <a:lnTo>
                  <a:pt x="458648" y="0"/>
                </a:lnTo>
                <a:lnTo>
                  <a:pt x="458648" y="628285"/>
                </a:lnTo>
                <a:lnTo>
                  <a:pt x="0" y="628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0" name="Freeform 140"/>
          <p:cNvSpPr/>
          <p:nvPr/>
        </p:nvSpPr>
        <p:spPr>
          <a:xfrm>
            <a:off x="11717462" y="8898044"/>
            <a:ext cx="419387" cy="473883"/>
          </a:xfrm>
          <a:custGeom>
            <a:avLst/>
            <a:gdLst/>
            <a:ahLst/>
            <a:cxnLst/>
            <a:rect l="l" t="t" r="r" b="b"/>
            <a:pathLst>
              <a:path w="419387" h="473883">
                <a:moveTo>
                  <a:pt x="0" y="0"/>
                </a:moveTo>
                <a:lnTo>
                  <a:pt x="419387" y="0"/>
                </a:lnTo>
                <a:lnTo>
                  <a:pt x="419387" y="473884"/>
                </a:lnTo>
                <a:lnTo>
                  <a:pt x="0" y="473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141" name="Group 141"/>
          <p:cNvGrpSpPr/>
          <p:nvPr/>
        </p:nvGrpSpPr>
        <p:grpSpPr>
          <a:xfrm>
            <a:off x="6954853" y="6860592"/>
            <a:ext cx="419164" cy="419164"/>
            <a:chOff x="0" y="0"/>
            <a:chExt cx="812800" cy="812800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DAD"/>
            </a:solidFill>
          </p:spPr>
        </p:sp>
        <p:sp>
          <p:nvSpPr>
            <p:cNvPr id="143" name="TextBox 1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60121" tIns="60121" rIns="60121" bIns="60121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4" name="Freeform 144"/>
          <p:cNvSpPr/>
          <p:nvPr/>
        </p:nvSpPr>
        <p:spPr>
          <a:xfrm>
            <a:off x="9484750" y="7330780"/>
            <a:ext cx="337370" cy="576702"/>
          </a:xfrm>
          <a:custGeom>
            <a:avLst/>
            <a:gdLst/>
            <a:ahLst/>
            <a:cxnLst/>
            <a:rect l="l" t="t" r="r" b="b"/>
            <a:pathLst>
              <a:path w="337370" h="576702">
                <a:moveTo>
                  <a:pt x="0" y="0"/>
                </a:moveTo>
                <a:lnTo>
                  <a:pt x="337370" y="0"/>
                </a:lnTo>
                <a:lnTo>
                  <a:pt x="337370" y="576702"/>
                </a:lnTo>
                <a:lnTo>
                  <a:pt x="0" y="576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45" name="Freeform 145"/>
          <p:cNvSpPr/>
          <p:nvPr/>
        </p:nvSpPr>
        <p:spPr>
          <a:xfrm>
            <a:off x="9339662" y="8206763"/>
            <a:ext cx="604317" cy="308202"/>
          </a:xfrm>
          <a:custGeom>
            <a:avLst/>
            <a:gdLst/>
            <a:ahLst/>
            <a:cxnLst/>
            <a:rect l="l" t="t" r="r" b="b"/>
            <a:pathLst>
              <a:path w="604317" h="308202">
                <a:moveTo>
                  <a:pt x="0" y="0"/>
                </a:moveTo>
                <a:lnTo>
                  <a:pt x="604317" y="0"/>
                </a:lnTo>
                <a:lnTo>
                  <a:pt x="604317" y="308202"/>
                </a:lnTo>
                <a:lnTo>
                  <a:pt x="0" y="3082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46" name="Freeform 146"/>
          <p:cNvSpPr/>
          <p:nvPr/>
        </p:nvSpPr>
        <p:spPr>
          <a:xfrm>
            <a:off x="9526758" y="8863994"/>
            <a:ext cx="295362" cy="522765"/>
          </a:xfrm>
          <a:custGeom>
            <a:avLst/>
            <a:gdLst/>
            <a:ahLst/>
            <a:cxnLst/>
            <a:rect l="l" t="t" r="r" b="b"/>
            <a:pathLst>
              <a:path w="295362" h="522765">
                <a:moveTo>
                  <a:pt x="0" y="0"/>
                </a:moveTo>
                <a:lnTo>
                  <a:pt x="295362" y="0"/>
                </a:lnTo>
                <a:lnTo>
                  <a:pt x="295362" y="522765"/>
                </a:lnTo>
                <a:lnTo>
                  <a:pt x="0" y="5227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grpSp>
        <p:nvGrpSpPr>
          <p:cNvPr id="147" name="Group 147"/>
          <p:cNvGrpSpPr/>
          <p:nvPr/>
        </p:nvGrpSpPr>
        <p:grpSpPr>
          <a:xfrm>
            <a:off x="6835558" y="7573356"/>
            <a:ext cx="502608" cy="462473"/>
            <a:chOff x="0" y="0"/>
            <a:chExt cx="111655" cy="102739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111655" cy="102739"/>
            </a:xfrm>
            <a:custGeom>
              <a:avLst/>
              <a:gdLst/>
              <a:ahLst/>
              <a:cxnLst/>
              <a:rect l="l" t="t" r="r" b="b"/>
              <a:pathLst>
                <a:path w="111655" h="102739">
                  <a:moveTo>
                    <a:pt x="51369" y="0"/>
                  </a:moveTo>
                  <a:lnTo>
                    <a:pt x="60285" y="0"/>
                  </a:lnTo>
                  <a:cubicBezTo>
                    <a:pt x="88656" y="0"/>
                    <a:pt x="111655" y="22999"/>
                    <a:pt x="111655" y="51369"/>
                  </a:cubicBezTo>
                  <a:lnTo>
                    <a:pt x="111655" y="51369"/>
                  </a:lnTo>
                  <a:cubicBezTo>
                    <a:pt x="111655" y="64993"/>
                    <a:pt x="106243" y="78059"/>
                    <a:pt x="96609" y="87693"/>
                  </a:cubicBezTo>
                  <a:cubicBezTo>
                    <a:pt x="86975" y="97326"/>
                    <a:pt x="73909" y="102739"/>
                    <a:pt x="60285" y="102739"/>
                  </a:cubicBezTo>
                  <a:lnTo>
                    <a:pt x="51369" y="102739"/>
                  </a:lnTo>
                  <a:cubicBezTo>
                    <a:pt x="37745" y="102739"/>
                    <a:pt x="24679" y="97326"/>
                    <a:pt x="15046" y="87693"/>
                  </a:cubicBezTo>
                  <a:cubicBezTo>
                    <a:pt x="5412" y="78059"/>
                    <a:pt x="0" y="64993"/>
                    <a:pt x="0" y="51369"/>
                  </a:cubicBezTo>
                  <a:lnTo>
                    <a:pt x="0" y="51369"/>
                  </a:lnTo>
                  <a:cubicBezTo>
                    <a:pt x="0" y="37745"/>
                    <a:pt x="5412" y="24679"/>
                    <a:pt x="15046" y="15046"/>
                  </a:cubicBezTo>
                  <a:cubicBezTo>
                    <a:pt x="24679" y="5412"/>
                    <a:pt x="37745" y="0"/>
                    <a:pt x="51369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149" name="TextBox 149"/>
            <p:cNvSpPr txBox="1"/>
            <p:nvPr/>
          </p:nvSpPr>
          <p:spPr>
            <a:xfrm>
              <a:off x="0" y="-38100"/>
              <a:ext cx="111655" cy="140839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sp>
        <p:nvSpPr>
          <p:cNvPr id="150" name="Freeform 150"/>
          <p:cNvSpPr/>
          <p:nvPr/>
        </p:nvSpPr>
        <p:spPr>
          <a:xfrm>
            <a:off x="6887010" y="7605986"/>
            <a:ext cx="431752" cy="397212"/>
          </a:xfrm>
          <a:custGeom>
            <a:avLst/>
            <a:gdLst/>
            <a:ahLst/>
            <a:cxnLst/>
            <a:rect l="l" t="t" r="r" b="b"/>
            <a:pathLst>
              <a:path w="431752" h="397212">
                <a:moveTo>
                  <a:pt x="0" y="0"/>
                </a:moveTo>
                <a:lnTo>
                  <a:pt x="431752" y="0"/>
                </a:lnTo>
                <a:lnTo>
                  <a:pt x="431752" y="397212"/>
                </a:lnTo>
                <a:lnTo>
                  <a:pt x="0" y="397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51" name="Freeform 151"/>
          <p:cNvSpPr/>
          <p:nvPr/>
        </p:nvSpPr>
        <p:spPr>
          <a:xfrm>
            <a:off x="8232228" y="7642957"/>
            <a:ext cx="182857" cy="182857"/>
          </a:xfrm>
          <a:custGeom>
            <a:avLst/>
            <a:gdLst/>
            <a:ahLst/>
            <a:cxnLst/>
            <a:rect l="l" t="t" r="r" b="b"/>
            <a:pathLst>
              <a:path w="182857" h="182857">
                <a:moveTo>
                  <a:pt x="0" y="0"/>
                </a:moveTo>
                <a:lnTo>
                  <a:pt x="182857" y="0"/>
                </a:lnTo>
                <a:lnTo>
                  <a:pt x="182857" y="182856"/>
                </a:lnTo>
                <a:lnTo>
                  <a:pt x="0" y="182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grpSp>
        <p:nvGrpSpPr>
          <p:cNvPr id="152" name="Group 152"/>
          <p:cNvGrpSpPr/>
          <p:nvPr/>
        </p:nvGrpSpPr>
        <p:grpSpPr>
          <a:xfrm>
            <a:off x="6862746" y="8251934"/>
            <a:ext cx="2229913" cy="373348"/>
            <a:chOff x="0" y="0"/>
            <a:chExt cx="193647" cy="32422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193647" cy="32422"/>
            </a:xfrm>
            <a:custGeom>
              <a:avLst/>
              <a:gdLst/>
              <a:ahLst/>
              <a:cxnLst/>
              <a:rect l="l" t="t" r="r" b="b"/>
              <a:pathLst>
                <a:path w="193647" h="32422">
                  <a:moveTo>
                    <a:pt x="16211" y="0"/>
                  </a:moveTo>
                  <a:lnTo>
                    <a:pt x="177436" y="0"/>
                  </a:lnTo>
                  <a:cubicBezTo>
                    <a:pt x="186389" y="0"/>
                    <a:pt x="193647" y="7258"/>
                    <a:pt x="193647" y="16211"/>
                  </a:cubicBezTo>
                  <a:lnTo>
                    <a:pt x="193647" y="16211"/>
                  </a:lnTo>
                  <a:cubicBezTo>
                    <a:pt x="193647" y="25164"/>
                    <a:pt x="186389" y="32422"/>
                    <a:pt x="177436" y="32422"/>
                  </a:cubicBezTo>
                  <a:lnTo>
                    <a:pt x="16211" y="32422"/>
                  </a:lnTo>
                  <a:cubicBezTo>
                    <a:pt x="7258" y="32422"/>
                    <a:pt x="0" y="25164"/>
                    <a:pt x="0" y="16211"/>
                  </a:cubicBezTo>
                  <a:lnTo>
                    <a:pt x="0" y="16211"/>
                  </a:lnTo>
                  <a:cubicBezTo>
                    <a:pt x="0" y="7258"/>
                    <a:pt x="7258" y="0"/>
                    <a:pt x="16211" y="0"/>
                  </a:cubicBezTo>
                  <a:close/>
                </a:path>
              </a:pathLst>
            </a:custGeom>
            <a:solidFill>
              <a:srgbClr val="EDCBF6">
                <a:alpha val="60000"/>
              </a:srgbClr>
            </a:solidFill>
            <a:ln w="9525" cap="sq">
              <a:solidFill>
                <a:srgbClr val="000000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0" y="-38100"/>
              <a:ext cx="193647" cy="70522"/>
            </a:xfrm>
            <a:prstGeom prst="rect">
              <a:avLst/>
            </a:prstGeom>
          </p:spPr>
          <p:txBody>
            <a:bodyPr lIns="60546" tIns="60546" rIns="60546" bIns="60546" rtlCol="0" anchor="ctr"/>
            <a:lstStyle/>
            <a:p>
              <a:pPr algn="ctr">
                <a:lnSpc>
                  <a:spcPts val="2093"/>
                </a:lnSpc>
              </a:pPr>
              <a:endParaRPr/>
            </a:p>
          </p:txBody>
        </p:sp>
      </p:grpSp>
      <p:sp>
        <p:nvSpPr>
          <p:cNvPr id="155" name="Freeform 155"/>
          <p:cNvSpPr/>
          <p:nvPr/>
        </p:nvSpPr>
        <p:spPr>
          <a:xfrm>
            <a:off x="6926121" y="8300553"/>
            <a:ext cx="255972" cy="289234"/>
          </a:xfrm>
          <a:custGeom>
            <a:avLst/>
            <a:gdLst/>
            <a:ahLst/>
            <a:cxnLst/>
            <a:rect l="l" t="t" r="r" b="b"/>
            <a:pathLst>
              <a:path w="255972" h="289234">
                <a:moveTo>
                  <a:pt x="0" y="0"/>
                </a:moveTo>
                <a:lnTo>
                  <a:pt x="255972" y="0"/>
                </a:lnTo>
                <a:lnTo>
                  <a:pt x="255972" y="289234"/>
                </a:lnTo>
                <a:lnTo>
                  <a:pt x="0" y="289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156"/>
          <p:cNvSpPr/>
          <p:nvPr/>
        </p:nvSpPr>
        <p:spPr>
          <a:xfrm>
            <a:off x="7417750" y="7762542"/>
            <a:ext cx="151769" cy="144939"/>
          </a:xfrm>
          <a:custGeom>
            <a:avLst/>
            <a:gdLst/>
            <a:ahLst/>
            <a:cxnLst/>
            <a:rect l="l" t="t" r="r" b="b"/>
            <a:pathLst>
              <a:path w="151769" h="144939">
                <a:moveTo>
                  <a:pt x="0" y="0"/>
                </a:moveTo>
                <a:lnTo>
                  <a:pt x="151769" y="0"/>
                </a:lnTo>
                <a:lnTo>
                  <a:pt x="151769" y="144940"/>
                </a:lnTo>
                <a:lnTo>
                  <a:pt x="0" y="144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57" name="TextBox 157"/>
          <p:cNvSpPr txBox="1"/>
          <p:nvPr/>
        </p:nvSpPr>
        <p:spPr>
          <a:xfrm>
            <a:off x="7417750" y="7493085"/>
            <a:ext cx="673549" cy="24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374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Mausam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6929493" y="8768156"/>
            <a:ext cx="2031366" cy="813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1049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Top reviews complain about</a:t>
            </a:r>
            <a:r>
              <a:rPr lang="en-US" sz="104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(exactly what this prototype fixes):</a:t>
            </a:r>
          </a:p>
          <a:p>
            <a:pPr marL="226557" lvl="1" indent="-113279" algn="l">
              <a:lnSpc>
                <a:spcPts val="1080"/>
              </a:lnSpc>
              <a:buFont typeface="Arial"/>
              <a:buChar char="•"/>
            </a:pPr>
            <a:r>
              <a:rPr lang="en-US" sz="104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No saved favourites</a:t>
            </a:r>
          </a:p>
          <a:p>
            <a:pPr marL="226557" lvl="1" indent="-113279" algn="l">
              <a:lnSpc>
                <a:spcPts val="1080"/>
              </a:lnSpc>
              <a:buFont typeface="Arial"/>
              <a:buChar char="•"/>
            </a:pPr>
            <a:r>
              <a:rPr lang="en-US" sz="104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District-level only</a:t>
            </a:r>
          </a:p>
          <a:p>
            <a:pPr marL="226557" lvl="1" indent="-113279" algn="l">
              <a:lnSpc>
                <a:spcPts val="1080"/>
              </a:lnSpc>
              <a:buFont typeface="Arial"/>
              <a:buChar char="•"/>
            </a:pPr>
            <a:r>
              <a:rPr lang="en-US" sz="104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Charts not understandable</a:t>
            </a:r>
          </a:p>
          <a:p>
            <a:pPr marL="226557" lvl="1" indent="-113279" algn="l">
              <a:lnSpc>
                <a:spcPts val="1080"/>
              </a:lnSpc>
              <a:buFont typeface="Arial"/>
              <a:buChar char="•"/>
            </a:pPr>
            <a:r>
              <a:rPr lang="en-US" sz="104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Slow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6796654" y="6221611"/>
            <a:ext cx="4380682" cy="497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 dirty="0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NATIONAL-SCALE IMPACT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9769896" y="6856389"/>
            <a:ext cx="1407440" cy="31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2"/>
              </a:lnSpc>
            </a:pPr>
            <a:r>
              <a:rPr lang="en-US" sz="1802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THE HARM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9483374" y="6804482"/>
            <a:ext cx="170061" cy="40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sz="240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7417750" y="6813034"/>
            <a:ext cx="1609784" cy="49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THE INCUMBENT’S OWN STORE PAGE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2073284" y="6724880"/>
            <a:ext cx="1451974" cy="633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802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THE MULLTIPLIER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1717462" y="6774060"/>
            <a:ext cx="180392" cy="40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sz="240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14500514" y="6719157"/>
            <a:ext cx="1005771" cy="591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5"/>
              </a:lnSpc>
            </a:pPr>
            <a:r>
              <a:rPr lang="en-US" sz="1703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OUR PROMISE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4037676" y="6753905"/>
            <a:ext cx="191272" cy="403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41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5930292" y="63520"/>
            <a:ext cx="6644660" cy="873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 dirty="0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IMPACT AND BENEFITS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370045" y="6221611"/>
            <a:ext cx="2132578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ALIGNMENT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3625609" y="1242345"/>
            <a:ext cx="3069716" cy="41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41"/>
              </a:lnSpc>
              <a:spcBef>
                <a:spcPct val="0"/>
              </a:spcBef>
            </a:pPr>
            <a:r>
              <a:rPr lang="en-US" sz="2458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SOCIAL BENIFITS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12574952" y="1675189"/>
            <a:ext cx="545947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9"/>
              </a:lnSpc>
              <a:spcBef>
                <a:spcPct val="0"/>
              </a:spcBef>
            </a:pPr>
            <a:r>
              <a:rPr lang="en-US" sz="1999" b="1" u="none" strike="noStrike">
                <a:solidFill>
                  <a:srgbClr val="000000"/>
                </a:solidFill>
                <a:latin typeface="Futura Medium"/>
                <a:ea typeface="Futura Medium"/>
                <a:cs typeface="Futura Medium"/>
                <a:sym typeface="Futura Medium"/>
              </a:rPr>
              <a:t>CPCB AQI categories prompt mask and asthma advisories, helping vulnerable groups take timely precautions against harmful pollution.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7102886" y="1242345"/>
            <a:ext cx="3979546" cy="41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1"/>
              </a:lnSpc>
            </a:pPr>
            <a:r>
              <a:rPr lang="en-US" sz="2458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ENVIRONMENTAL BENEFITS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6414052" y="1675189"/>
            <a:ext cx="5771376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sz="1999" b="1">
                <a:solidFill>
                  <a:srgbClr val="000000"/>
                </a:solidFill>
                <a:latin typeface="Futura Medium"/>
                <a:ea typeface="Futura Medium"/>
                <a:cs typeface="Futura Medium"/>
                <a:sym typeface="Futura Medium"/>
              </a:rPr>
              <a:t>Root-zone moisture, rainfall, AQI, Douglas Sea State, and harmonic tides help farmers, communities, and coastal users make safer environmental decisions.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1509318" y="1270898"/>
            <a:ext cx="3098012" cy="41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41"/>
              </a:lnSpc>
              <a:spcBef>
                <a:spcPct val="0"/>
              </a:spcBef>
            </a:pPr>
            <a:r>
              <a:rPr lang="en-US" sz="2458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ECONOMIC BENEFITS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498315" y="1678355"/>
            <a:ext cx="5526132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Futura Medium"/>
                <a:ea typeface="Futura Medium"/>
                <a:cs typeface="Futura Medium"/>
                <a:sym typeface="Futura Medium"/>
              </a:rPr>
              <a:t>Prot</a:t>
            </a:r>
            <a:r>
              <a:rPr lang="en-US" sz="1999" b="1" u="none" strike="noStrike">
                <a:solidFill>
                  <a:srgbClr val="000000"/>
                </a:solidFill>
                <a:latin typeface="Futura Medium"/>
                <a:ea typeface="Futura Medium"/>
                <a:cs typeface="Futura Medium"/>
                <a:sym typeface="Futura Medium"/>
              </a:rPr>
              <a:t>ects farmer income by reducing fertilizer losses and improving efficiency, while mitigating weather-related economic risks for coastal communities.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2289873" y="7028870"/>
            <a:ext cx="3874474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UN "Early Warnings for All" (2027): addresses the last-mile delivery challenge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2280348" y="8519989"/>
            <a:ext cx="4179764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Digital India/Bhashini: enables regional-language delivery of government services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16402623" y="6763718"/>
            <a:ext cx="1490340" cy="31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2"/>
              </a:lnSpc>
            </a:pPr>
            <a:r>
              <a:rPr lang="en-US" sz="1802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GROWTH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16219052" y="6730475"/>
            <a:ext cx="183571" cy="40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sz="240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16147949" y="9111984"/>
            <a:ext cx="1819426" cy="36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"/>
              </a:lnSpc>
            </a:pPr>
            <a:r>
              <a:rPr lang="en-US" sz="99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So distribution is not the constraint; product experience is, and that is this PS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10012620" y="7226022"/>
            <a:ext cx="1016083" cy="65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Lightning</a:t>
            </a:r>
          </a:p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2,558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deaths(2023)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16639751" y="7611439"/>
            <a:ext cx="1338662" cy="41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1.14B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smartphones in India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16639751" y="8077701"/>
            <a:ext cx="1338662" cy="41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~95%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village 4G coverage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16639751" y="8532930"/>
            <a:ext cx="1338662" cy="41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4X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urban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14444390" y="7363964"/>
            <a:ext cx="1118019" cy="79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25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0.30 X 18,406</a:t>
            </a:r>
          </a:p>
          <a:p>
            <a:pPr algn="l">
              <a:lnSpc>
                <a:spcPts val="2021"/>
              </a:lnSpc>
            </a:pPr>
            <a:r>
              <a:rPr lang="en-US" sz="144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≅5,500</a:t>
            </a:r>
          </a:p>
          <a:p>
            <a:pPr algn="l">
              <a:lnSpc>
                <a:spcPts val="1349"/>
              </a:lnSpc>
            </a:pPr>
            <a:r>
              <a:rPr lang="en-US" sz="96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  <a:r>
              <a:rPr lang="en-US" sz="9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96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lives/yr</a:t>
            </a:r>
          </a:p>
          <a:p>
            <a:pPr algn="l">
              <a:lnSpc>
                <a:spcPts val="1349"/>
              </a:lnSpc>
            </a:pPr>
            <a:r>
              <a:rPr lang="en-US" sz="9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(upper bound)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15003399" y="8746257"/>
            <a:ext cx="637985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7"/>
              </a:lnSpc>
            </a:pPr>
            <a:r>
              <a:rPr lang="en-US" sz="109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“Every 1% converted </a:t>
            </a:r>
          </a:p>
          <a:p>
            <a:pPr algn="l">
              <a:lnSpc>
                <a:spcPts val="1297"/>
              </a:lnSpc>
            </a:pPr>
            <a:r>
              <a:rPr lang="en-US" sz="109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in </a:t>
            </a:r>
            <a:r>
              <a:rPr lang="en-US" sz="1099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55 </a:t>
            </a:r>
            <a:r>
              <a:rPr lang="en-US" sz="1099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lives a year.”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13944358" y="8765307"/>
            <a:ext cx="723997" cy="71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8"/>
              </a:lnSpc>
            </a:pPr>
            <a:r>
              <a:rPr lang="en-US" sz="97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(real world adoption, false alert. access, etc)</a:t>
            </a:r>
          </a:p>
          <a:p>
            <a:pPr algn="l">
              <a:lnSpc>
                <a:spcPts val="1034"/>
              </a:lnSpc>
            </a:pPr>
            <a:r>
              <a:rPr lang="en-US" sz="1077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      ~50%</a:t>
            </a:r>
          </a:p>
          <a:p>
            <a:pPr algn="l">
              <a:lnSpc>
                <a:spcPts val="938"/>
              </a:lnSpc>
            </a:pPr>
            <a:r>
              <a:rPr lang="en-US" sz="977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(conservation)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12322521" y="7504221"/>
            <a:ext cx="819414" cy="49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0"/>
              </a:lnSpc>
            </a:pPr>
            <a:r>
              <a:rPr lang="en-US" sz="11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 h notice</a:t>
            </a:r>
          </a:p>
          <a:p>
            <a:pPr algn="l">
              <a:lnSpc>
                <a:spcPts val="1354"/>
              </a:lnSpc>
            </a:pPr>
            <a:r>
              <a:rPr lang="en-US" sz="96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cuts damage</a:t>
            </a:r>
          </a:p>
          <a:p>
            <a:pPr algn="l">
              <a:lnSpc>
                <a:spcPts val="1129"/>
              </a:lnSpc>
            </a:pPr>
            <a:r>
              <a:rPr lang="en-US" sz="8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</a:t>
            </a:r>
            <a:r>
              <a:rPr lang="en-US" sz="8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 SG/ GCA)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12322521" y="8853881"/>
            <a:ext cx="1021762" cy="637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8"/>
              </a:lnSpc>
            </a:pPr>
            <a:r>
              <a:rPr lang="en-US" sz="10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23,000 lives+</a:t>
            </a:r>
          </a:p>
          <a:p>
            <a:pPr algn="l">
              <a:lnSpc>
                <a:spcPts val="1706"/>
              </a:lnSpc>
            </a:pPr>
            <a:r>
              <a:rPr lang="en-US" sz="12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$162B/yr</a:t>
            </a:r>
          </a:p>
          <a:p>
            <a:pPr algn="l">
              <a:lnSpc>
                <a:spcPts val="1006"/>
              </a:lnSpc>
            </a:pPr>
            <a:r>
              <a:rPr lang="en-US" sz="7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Globally available from better warnings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12322521" y="8208152"/>
            <a:ext cx="1338662" cy="41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1:9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benefit-cost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13089048" y="7558187"/>
            <a:ext cx="510471" cy="276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5"/>
              </a:lnSpc>
            </a:pPr>
            <a:r>
              <a:rPr lang="en-US" sz="1503" b="1">
                <a:solidFill>
                  <a:srgbClr val="1F8741"/>
                </a:solidFill>
                <a:latin typeface="Caladea Bold"/>
                <a:ea typeface="Caladea Bold"/>
                <a:cs typeface="Caladea Bold"/>
                <a:sym typeface="Caladea Bold"/>
              </a:rPr>
              <a:t>30%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7070606" y="6818618"/>
            <a:ext cx="170061" cy="400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sz="240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250761" y="9922448"/>
            <a:ext cx="583505" cy="27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Page 5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9997343" y="8009712"/>
            <a:ext cx="1339933" cy="65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Fog road deaths</a:t>
            </a:r>
          </a:p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15,115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(2024)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9997343" y="8778157"/>
            <a:ext cx="1247013" cy="79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Heat</a:t>
            </a:r>
          </a:p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733</a:t>
            </a:r>
          </a:p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(2024, independent count)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16619188" y="7102399"/>
            <a:ext cx="1338662" cy="41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958M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Online India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7240667" y="8280918"/>
            <a:ext cx="1195787" cy="303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8"/>
              </a:lnSpc>
            </a:pPr>
            <a:r>
              <a:rPr lang="en-US" sz="116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958M</a:t>
            </a:r>
          </a:p>
          <a:p>
            <a:pPr algn="l">
              <a:lnSpc>
                <a:spcPts val="1037"/>
              </a:lnSpc>
            </a:pPr>
            <a:r>
              <a:rPr lang="en-US" sz="8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Indian internet users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8500291" y="7592673"/>
            <a:ext cx="565343" cy="28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lang="en-US" sz="103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 990K</a:t>
            </a:r>
          </a:p>
          <a:p>
            <a:pPr algn="l">
              <a:lnSpc>
                <a:spcPts val="1000"/>
              </a:lnSpc>
            </a:pPr>
            <a:r>
              <a:rPr lang="en-US" sz="7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downloads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8515255" y="8320450"/>
            <a:ext cx="445604" cy="25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lang="en-US" sz="105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 0.1%</a:t>
            </a:r>
          </a:p>
          <a:p>
            <a:pPr algn="l">
              <a:lnSpc>
                <a:spcPts val="874"/>
              </a:lnSpc>
            </a:pPr>
            <a:r>
              <a:rPr lang="en-US" sz="7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reach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8274966" y="8212233"/>
            <a:ext cx="140119" cy="34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=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7408225" y="7715335"/>
            <a:ext cx="1006860" cy="3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7"/>
              </a:lnSpc>
            </a:pPr>
            <a:r>
              <a:rPr lang="en-US" sz="12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3.13</a:t>
            </a:r>
            <a:r>
              <a:rPr lang="en-US" sz="12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/5</a:t>
            </a:r>
          </a:p>
          <a:p>
            <a:pPr algn="l">
              <a:lnSpc>
                <a:spcPts val="1275"/>
              </a:lnSpc>
            </a:pPr>
            <a:r>
              <a:rPr lang="en-US" sz="9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4.4k ratings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8212060" y="9892750"/>
            <a:ext cx="1863879" cy="27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@SIH Idea submission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83255" y="61671"/>
            <a:ext cx="2044158" cy="896097"/>
            <a:chOff x="0" y="0"/>
            <a:chExt cx="2725544" cy="1194795"/>
          </a:xfrm>
        </p:grpSpPr>
        <p:sp>
          <p:nvSpPr>
            <p:cNvPr id="3" name="Freeform 3"/>
            <p:cNvSpPr/>
            <p:nvPr/>
          </p:nvSpPr>
          <p:spPr>
            <a:xfrm>
              <a:off x="1063815" y="114817"/>
              <a:ext cx="1661729" cy="1079978"/>
            </a:xfrm>
            <a:custGeom>
              <a:avLst/>
              <a:gdLst/>
              <a:ahLst/>
              <a:cxnLst/>
              <a:rect l="l" t="t" r="r" b="b"/>
              <a:pathLst>
                <a:path w="1661729" h="1079978">
                  <a:moveTo>
                    <a:pt x="0" y="0"/>
                  </a:moveTo>
                  <a:lnTo>
                    <a:pt x="1661729" y="0"/>
                  </a:lnTo>
                  <a:lnTo>
                    <a:pt x="1661729" y="1079978"/>
                  </a:lnTo>
                  <a:lnTo>
                    <a:pt x="0" y="1079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069" t="-72388" r="-49897" b="-63614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063815" cy="1138646"/>
            </a:xfrm>
            <a:custGeom>
              <a:avLst/>
              <a:gdLst/>
              <a:ahLst/>
              <a:cxnLst/>
              <a:rect l="l" t="t" r="r" b="b"/>
              <a:pathLst>
                <a:path w="1063815" h="1138646">
                  <a:moveTo>
                    <a:pt x="0" y="0"/>
                  </a:moveTo>
                  <a:lnTo>
                    <a:pt x="1063815" y="0"/>
                  </a:lnTo>
                  <a:lnTo>
                    <a:pt x="1063815" y="1138646"/>
                  </a:lnTo>
                  <a:lnTo>
                    <a:pt x="0" y="1138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233891" y="177820"/>
            <a:ext cx="1263114" cy="862289"/>
            <a:chOff x="0" y="0"/>
            <a:chExt cx="1684152" cy="1149719"/>
          </a:xfrm>
        </p:grpSpPr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 rot="5400000">
              <a:off x="267217" y="-267217"/>
              <a:ext cx="1149719" cy="1684152"/>
              <a:chOff x="0" y="0"/>
              <a:chExt cx="4352290" cy="6375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700" y="12700"/>
                <a:ext cx="432562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4325620" h="6350000">
                    <a:moveTo>
                      <a:pt x="2162810" y="0"/>
                    </a:moveTo>
                    <a:cubicBezTo>
                      <a:pt x="3357880" y="0"/>
                      <a:pt x="4325620" y="1421130"/>
                      <a:pt x="4325620" y="3175000"/>
                    </a:cubicBezTo>
                    <a:cubicBezTo>
                      <a:pt x="4325620" y="4928870"/>
                      <a:pt x="3357880" y="6350000"/>
                      <a:pt x="2162810" y="6350000"/>
                    </a:cubicBezTo>
                    <a:cubicBezTo>
                      <a:pt x="967740" y="6350000"/>
                      <a:pt x="0" y="4928870"/>
                      <a:pt x="0" y="3175000"/>
                    </a:cubicBezTo>
                    <a:cubicBezTo>
                      <a:pt x="0" y="1421130"/>
                      <a:pt x="967740" y="0"/>
                      <a:pt x="21628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Freeform 8"/>
              <p:cNvSpPr/>
              <p:nvPr/>
            </p:nvSpPr>
            <p:spPr>
              <a:xfrm>
                <a:off x="0" y="0"/>
                <a:ext cx="4352290" cy="6375400"/>
              </a:xfrm>
              <a:custGeom>
                <a:avLst/>
                <a:gdLst/>
                <a:ahLst/>
                <a:cxnLst/>
                <a:rect l="l" t="t" r="r" b="b"/>
                <a:pathLst>
                  <a:path w="4352290" h="6375400">
                    <a:moveTo>
                      <a:pt x="2175510" y="6375400"/>
                    </a:moveTo>
                    <a:cubicBezTo>
                      <a:pt x="1593850" y="6375400"/>
                      <a:pt x="1046480" y="6042660"/>
                      <a:pt x="635000" y="5439410"/>
                    </a:cubicBezTo>
                    <a:cubicBezTo>
                      <a:pt x="226060" y="4838700"/>
                      <a:pt x="0" y="4038600"/>
                      <a:pt x="0" y="3187700"/>
                    </a:cubicBezTo>
                    <a:cubicBezTo>
                      <a:pt x="0" y="2336800"/>
                      <a:pt x="226060" y="1536700"/>
                      <a:pt x="636270" y="935990"/>
                    </a:cubicBezTo>
                    <a:cubicBezTo>
                      <a:pt x="1046480" y="332740"/>
                      <a:pt x="1593850" y="0"/>
                      <a:pt x="2175510" y="0"/>
                    </a:cubicBezTo>
                    <a:cubicBezTo>
                      <a:pt x="2757170" y="0"/>
                      <a:pt x="3304540" y="332740"/>
                      <a:pt x="3716020" y="935990"/>
                    </a:cubicBezTo>
                    <a:cubicBezTo>
                      <a:pt x="4126230" y="1536700"/>
                      <a:pt x="4352290" y="2336800"/>
                      <a:pt x="4352290" y="3187700"/>
                    </a:cubicBezTo>
                    <a:cubicBezTo>
                      <a:pt x="4352290" y="4038600"/>
                      <a:pt x="4126230" y="4838700"/>
                      <a:pt x="3716020" y="5439410"/>
                    </a:cubicBezTo>
                    <a:cubicBezTo>
                      <a:pt x="3304540" y="6042660"/>
                      <a:pt x="2758440" y="6375400"/>
                      <a:pt x="2175510" y="6375400"/>
                    </a:cubicBezTo>
                    <a:close/>
                    <a:moveTo>
                      <a:pt x="2175510" y="25400"/>
                    </a:moveTo>
                    <a:cubicBezTo>
                      <a:pt x="990600" y="25400"/>
                      <a:pt x="25400" y="1443990"/>
                      <a:pt x="25400" y="3187700"/>
                    </a:cubicBezTo>
                    <a:cubicBezTo>
                      <a:pt x="25400" y="4931410"/>
                      <a:pt x="990600" y="6350000"/>
                      <a:pt x="2175510" y="6350000"/>
                    </a:cubicBezTo>
                    <a:cubicBezTo>
                      <a:pt x="3360420" y="6350000"/>
                      <a:pt x="4325620" y="4931410"/>
                      <a:pt x="4325620" y="3187700"/>
                    </a:cubicBezTo>
                    <a:cubicBezTo>
                      <a:pt x="4325620" y="1443990"/>
                      <a:pt x="3361690" y="25400"/>
                      <a:pt x="2175510" y="2540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67292" y="85096"/>
              <a:ext cx="1549568" cy="793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ctr">
                <a:lnSpc>
                  <a:spcPts val="2064"/>
                </a:lnSpc>
              </a:pPr>
              <a:r>
                <a:rPr lang="en-US" sz="234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Mausam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64428" y="1207889"/>
            <a:ext cx="6135813" cy="4170203"/>
            <a:chOff x="0" y="0"/>
            <a:chExt cx="875728" cy="5951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5728" cy="595188"/>
            </a:xfrm>
            <a:custGeom>
              <a:avLst/>
              <a:gdLst/>
              <a:ahLst/>
              <a:cxnLst/>
              <a:rect l="l" t="t" r="r" b="b"/>
              <a:pathLst>
                <a:path w="875728" h="595188">
                  <a:moveTo>
                    <a:pt x="9857" y="0"/>
                  </a:moveTo>
                  <a:lnTo>
                    <a:pt x="865870" y="0"/>
                  </a:lnTo>
                  <a:cubicBezTo>
                    <a:pt x="868484" y="0"/>
                    <a:pt x="870992" y="1039"/>
                    <a:pt x="872840" y="2887"/>
                  </a:cubicBezTo>
                  <a:cubicBezTo>
                    <a:pt x="874689" y="4736"/>
                    <a:pt x="875728" y="7243"/>
                    <a:pt x="875728" y="9857"/>
                  </a:cubicBezTo>
                  <a:lnTo>
                    <a:pt x="875728" y="585331"/>
                  </a:lnTo>
                  <a:cubicBezTo>
                    <a:pt x="875728" y="590775"/>
                    <a:pt x="871314" y="595188"/>
                    <a:pt x="865870" y="595188"/>
                  </a:cubicBezTo>
                  <a:lnTo>
                    <a:pt x="9857" y="595188"/>
                  </a:lnTo>
                  <a:cubicBezTo>
                    <a:pt x="4413" y="595188"/>
                    <a:pt x="0" y="590775"/>
                    <a:pt x="0" y="585331"/>
                  </a:cubicBezTo>
                  <a:lnTo>
                    <a:pt x="0" y="9857"/>
                  </a:lnTo>
                  <a:cubicBezTo>
                    <a:pt x="0" y="4413"/>
                    <a:pt x="4413" y="0"/>
                    <a:pt x="9857" y="0"/>
                  </a:cubicBez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875728" cy="671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39138" y="3016919"/>
            <a:ext cx="2710444" cy="999917"/>
            <a:chOff x="0" y="0"/>
            <a:chExt cx="3613925" cy="1333223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3613925" cy="1333223"/>
              <a:chOff x="0" y="0"/>
              <a:chExt cx="731797" cy="26996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31797" cy="269969"/>
              </a:xfrm>
              <a:custGeom>
                <a:avLst/>
                <a:gdLst/>
                <a:ahLst/>
                <a:cxnLst/>
                <a:rect l="l" t="t" r="r" b="b"/>
                <a:pathLst>
                  <a:path w="731797" h="269969">
                    <a:moveTo>
                      <a:pt x="36222" y="0"/>
                    </a:moveTo>
                    <a:lnTo>
                      <a:pt x="695575" y="0"/>
                    </a:lnTo>
                    <a:cubicBezTo>
                      <a:pt x="705182" y="0"/>
                      <a:pt x="714395" y="3816"/>
                      <a:pt x="721188" y="10609"/>
                    </a:cubicBezTo>
                    <a:cubicBezTo>
                      <a:pt x="727981" y="17402"/>
                      <a:pt x="731797" y="26615"/>
                      <a:pt x="731797" y="36222"/>
                    </a:cubicBezTo>
                    <a:lnTo>
                      <a:pt x="731797" y="233747"/>
                    </a:lnTo>
                    <a:cubicBezTo>
                      <a:pt x="731797" y="243354"/>
                      <a:pt x="727981" y="252567"/>
                      <a:pt x="721188" y="259360"/>
                    </a:cubicBezTo>
                    <a:cubicBezTo>
                      <a:pt x="714395" y="266153"/>
                      <a:pt x="705182" y="269969"/>
                      <a:pt x="695575" y="269969"/>
                    </a:cubicBezTo>
                    <a:lnTo>
                      <a:pt x="36222" y="269969"/>
                    </a:lnTo>
                    <a:cubicBezTo>
                      <a:pt x="26615" y="269969"/>
                      <a:pt x="17402" y="266153"/>
                      <a:pt x="10609" y="259360"/>
                    </a:cubicBezTo>
                    <a:cubicBezTo>
                      <a:pt x="3816" y="252567"/>
                      <a:pt x="0" y="243354"/>
                      <a:pt x="0" y="233747"/>
                    </a:cubicBezTo>
                    <a:lnTo>
                      <a:pt x="0" y="36222"/>
                    </a:lnTo>
                    <a:cubicBezTo>
                      <a:pt x="0" y="26615"/>
                      <a:pt x="3816" y="17402"/>
                      <a:pt x="10609" y="10609"/>
                    </a:cubicBezTo>
                    <a:cubicBezTo>
                      <a:pt x="17402" y="3816"/>
                      <a:pt x="26615" y="0"/>
                      <a:pt x="36222" y="0"/>
                    </a:cubicBezTo>
                    <a:close/>
                  </a:path>
                </a:pathLst>
              </a:custGeom>
              <a:solidFill>
                <a:srgbClr val="00569E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731797" cy="3175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965456" y="860624"/>
              <a:ext cx="2247434" cy="258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 u="sng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  <a:hlinkClick r:id="rId4" tooltip="https://github.com/Shreyansh303/team_mausam_sih_2026/tree/main/docs/QA_REPORT.md"/>
                </a:rPr>
                <a:t>docs/QA_report.md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5456" y="513568"/>
              <a:ext cx="2247434" cy="258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</a:rPr>
                <a:t>10/10 demo steps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4615" y="128860"/>
              <a:ext cx="1940128" cy="33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1"/>
                </a:lnSpc>
                <a:spcBef>
                  <a:spcPct val="0"/>
                </a:spcBef>
              </a:pPr>
              <a:r>
                <a:rPr lang="en-US" sz="1365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QA Evidence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39138" y="4167284"/>
            <a:ext cx="2719294" cy="1000112"/>
            <a:chOff x="0" y="0"/>
            <a:chExt cx="3625725" cy="133348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625725" cy="1333483"/>
              <a:chOff x="0" y="0"/>
              <a:chExt cx="734187" cy="27002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34187" cy="270022"/>
              </a:xfrm>
              <a:custGeom>
                <a:avLst/>
                <a:gdLst/>
                <a:ahLst/>
                <a:cxnLst/>
                <a:rect l="l" t="t" r="r" b="b"/>
                <a:pathLst>
                  <a:path w="734187" h="270022">
                    <a:moveTo>
                      <a:pt x="36104" y="0"/>
                    </a:moveTo>
                    <a:lnTo>
                      <a:pt x="698082" y="0"/>
                    </a:lnTo>
                    <a:cubicBezTo>
                      <a:pt x="707658" y="0"/>
                      <a:pt x="716841" y="3804"/>
                      <a:pt x="723612" y="10575"/>
                    </a:cubicBezTo>
                    <a:cubicBezTo>
                      <a:pt x="730383" y="17346"/>
                      <a:pt x="734187" y="26529"/>
                      <a:pt x="734187" y="36104"/>
                    </a:cubicBezTo>
                    <a:lnTo>
                      <a:pt x="734187" y="233918"/>
                    </a:lnTo>
                    <a:cubicBezTo>
                      <a:pt x="734187" y="243493"/>
                      <a:pt x="730383" y="252676"/>
                      <a:pt x="723612" y="259447"/>
                    </a:cubicBezTo>
                    <a:cubicBezTo>
                      <a:pt x="716841" y="266218"/>
                      <a:pt x="707658" y="270022"/>
                      <a:pt x="698082" y="270022"/>
                    </a:cubicBezTo>
                    <a:lnTo>
                      <a:pt x="36104" y="270022"/>
                    </a:lnTo>
                    <a:cubicBezTo>
                      <a:pt x="26529" y="270022"/>
                      <a:pt x="17346" y="266218"/>
                      <a:pt x="10575" y="259447"/>
                    </a:cubicBezTo>
                    <a:cubicBezTo>
                      <a:pt x="3804" y="252676"/>
                      <a:pt x="0" y="243493"/>
                      <a:pt x="0" y="233918"/>
                    </a:cubicBezTo>
                    <a:lnTo>
                      <a:pt x="0" y="36104"/>
                    </a:lnTo>
                    <a:cubicBezTo>
                      <a:pt x="0" y="26529"/>
                      <a:pt x="3804" y="17346"/>
                      <a:pt x="10575" y="10575"/>
                    </a:cubicBezTo>
                    <a:cubicBezTo>
                      <a:pt x="17346" y="3804"/>
                      <a:pt x="26529" y="0"/>
                      <a:pt x="36104" y="0"/>
                    </a:cubicBezTo>
                    <a:close/>
                  </a:path>
                </a:pathLst>
              </a:custGeom>
              <a:solidFill>
                <a:srgbClr val="00569E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734187" cy="3176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894488" y="948250"/>
              <a:ext cx="2247434" cy="258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 u="sng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  <a:hlinkClick r:id="rId5" tooltip="https://github.com/Shreyansh303/team_mausam_sih_2026/tree/main/docs/02_CARD_CATALOG.md"/>
                </a:rPr>
                <a:t>docs/02_card_catalog.md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2099" y="452529"/>
              <a:ext cx="2247434" cy="506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</a:rPr>
                <a:t>All 33 cards, affinities, gates, urgency rules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004" y="91693"/>
              <a:ext cx="1940128" cy="33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1"/>
                </a:lnSpc>
                <a:spcBef>
                  <a:spcPct val="0"/>
                </a:spcBef>
              </a:pPr>
              <a:r>
                <a:rPr lang="en-US" sz="1365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Card Catalog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750076" y="1914869"/>
            <a:ext cx="2691362" cy="984968"/>
            <a:chOff x="0" y="0"/>
            <a:chExt cx="3588483" cy="131329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3588483" cy="1313291"/>
              <a:chOff x="0" y="0"/>
              <a:chExt cx="726645" cy="26593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26645" cy="265933"/>
              </a:xfrm>
              <a:custGeom>
                <a:avLst/>
                <a:gdLst/>
                <a:ahLst/>
                <a:cxnLst/>
                <a:rect l="l" t="t" r="r" b="b"/>
                <a:pathLst>
                  <a:path w="726645" h="265933">
                    <a:moveTo>
                      <a:pt x="36479" y="0"/>
                    </a:moveTo>
                    <a:lnTo>
                      <a:pt x="690166" y="0"/>
                    </a:lnTo>
                    <a:cubicBezTo>
                      <a:pt x="699841" y="0"/>
                      <a:pt x="709120" y="3843"/>
                      <a:pt x="715961" y="10684"/>
                    </a:cubicBezTo>
                    <a:cubicBezTo>
                      <a:pt x="722802" y="17526"/>
                      <a:pt x="726645" y="26804"/>
                      <a:pt x="726645" y="36479"/>
                    </a:cubicBezTo>
                    <a:lnTo>
                      <a:pt x="726645" y="229454"/>
                    </a:lnTo>
                    <a:cubicBezTo>
                      <a:pt x="726645" y="249601"/>
                      <a:pt x="710313" y="265933"/>
                      <a:pt x="690166" y="265933"/>
                    </a:cubicBezTo>
                    <a:lnTo>
                      <a:pt x="36479" y="265933"/>
                    </a:lnTo>
                    <a:cubicBezTo>
                      <a:pt x="26804" y="265933"/>
                      <a:pt x="17526" y="262090"/>
                      <a:pt x="10684" y="255249"/>
                    </a:cubicBezTo>
                    <a:cubicBezTo>
                      <a:pt x="3843" y="248408"/>
                      <a:pt x="0" y="239129"/>
                      <a:pt x="0" y="229454"/>
                    </a:cubicBezTo>
                    <a:lnTo>
                      <a:pt x="0" y="36479"/>
                    </a:lnTo>
                    <a:cubicBezTo>
                      <a:pt x="0" y="26804"/>
                      <a:pt x="3843" y="17526"/>
                      <a:pt x="10684" y="10684"/>
                    </a:cubicBezTo>
                    <a:cubicBezTo>
                      <a:pt x="17526" y="3843"/>
                      <a:pt x="26804" y="0"/>
                      <a:pt x="36479" y="0"/>
                    </a:cubicBezTo>
                    <a:close/>
                  </a:path>
                </a:pathLst>
              </a:custGeom>
              <a:solidFill>
                <a:srgbClr val="00569E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726645" cy="3135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07472" y="871223"/>
              <a:ext cx="2566861" cy="258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 u="sng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  <a:hlinkClick r:id="rId6" tooltip="https://github.com/Shreyansh303/team_mausam_sih_2026/tree/main/docs/04_API_CONTRACT.md"/>
                </a:rPr>
                <a:t>docs/04_api_contract.md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7472" y="490686"/>
              <a:ext cx="2566861" cy="428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79"/>
                </a:lnSpc>
              </a:pPr>
              <a:r>
                <a:rPr lang="en-US" sz="1092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</a:rPr>
                <a:t>REST + WebSocket</a:t>
              </a:r>
            </a:p>
            <a:p>
              <a:pPr algn="l">
                <a:lnSpc>
                  <a:spcPts val="1179"/>
                </a:lnSpc>
              </a:pPr>
              <a:r>
                <a:rPr lang="en-US" sz="1092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</a:rPr>
                <a:t>normative for both sides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2110" y="91693"/>
              <a:ext cx="2215878" cy="33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1"/>
                </a:lnSpc>
                <a:spcBef>
                  <a:spcPct val="0"/>
                </a:spcBef>
              </a:pPr>
              <a:r>
                <a:rPr lang="en-US" sz="1365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API Contract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50076" y="3003506"/>
            <a:ext cx="2691362" cy="1007912"/>
            <a:chOff x="0" y="0"/>
            <a:chExt cx="3588483" cy="1343883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588483" cy="1343883"/>
              <a:chOff x="0" y="0"/>
              <a:chExt cx="726645" cy="27212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26645" cy="272128"/>
              </a:xfrm>
              <a:custGeom>
                <a:avLst/>
                <a:gdLst/>
                <a:ahLst/>
                <a:cxnLst/>
                <a:rect l="l" t="t" r="r" b="b"/>
                <a:pathLst>
                  <a:path w="726645" h="272128">
                    <a:moveTo>
                      <a:pt x="36479" y="0"/>
                    </a:moveTo>
                    <a:lnTo>
                      <a:pt x="690166" y="0"/>
                    </a:lnTo>
                    <a:cubicBezTo>
                      <a:pt x="699841" y="0"/>
                      <a:pt x="709120" y="3843"/>
                      <a:pt x="715961" y="10684"/>
                    </a:cubicBezTo>
                    <a:cubicBezTo>
                      <a:pt x="722802" y="17526"/>
                      <a:pt x="726645" y="26804"/>
                      <a:pt x="726645" y="36479"/>
                    </a:cubicBezTo>
                    <a:lnTo>
                      <a:pt x="726645" y="235649"/>
                    </a:lnTo>
                    <a:cubicBezTo>
                      <a:pt x="726645" y="255796"/>
                      <a:pt x="710313" y="272128"/>
                      <a:pt x="690166" y="272128"/>
                    </a:cubicBezTo>
                    <a:lnTo>
                      <a:pt x="36479" y="272128"/>
                    </a:lnTo>
                    <a:cubicBezTo>
                      <a:pt x="26804" y="272128"/>
                      <a:pt x="17526" y="268285"/>
                      <a:pt x="10684" y="261443"/>
                    </a:cubicBezTo>
                    <a:cubicBezTo>
                      <a:pt x="3843" y="254602"/>
                      <a:pt x="0" y="245324"/>
                      <a:pt x="0" y="235649"/>
                    </a:cubicBezTo>
                    <a:lnTo>
                      <a:pt x="0" y="36479"/>
                    </a:lnTo>
                    <a:cubicBezTo>
                      <a:pt x="0" y="26804"/>
                      <a:pt x="3843" y="17526"/>
                      <a:pt x="10684" y="10684"/>
                    </a:cubicBezTo>
                    <a:cubicBezTo>
                      <a:pt x="17526" y="3843"/>
                      <a:pt x="26804" y="0"/>
                      <a:pt x="36479" y="0"/>
                    </a:cubicBezTo>
                    <a:close/>
                  </a:path>
                </a:pathLst>
              </a:custGeom>
              <a:solidFill>
                <a:srgbClr val="00569E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47625"/>
                <a:ext cx="726645" cy="3197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986592" y="689217"/>
              <a:ext cx="2040865" cy="506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 u="sng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  <a:hlinkClick r:id="rId7" tooltip="https://github.com/Shreyansh303/team_mausam_sih_2026/tree/main/docs/03_PERSONALIZATION_ENGINE.md"/>
                </a:rPr>
                <a:t>docs/03_personalization_engine.md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6592" y="506958"/>
              <a:ext cx="2412635" cy="229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79"/>
                </a:lnSpc>
              </a:pPr>
              <a:r>
                <a:rPr lang="en-US" sz="1092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</a:rPr>
                <a:t>Formulae, tests, explainibility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004" y="91693"/>
              <a:ext cx="3152223" cy="33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1"/>
                </a:lnSpc>
                <a:spcBef>
                  <a:spcPct val="0"/>
                </a:spcBef>
              </a:pPr>
              <a:r>
                <a:rPr lang="en-US" sz="1365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Personalization engine spec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50076" y="4167284"/>
            <a:ext cx="2691362" cy="999823"/>
            <a:chOff x="0" y="0"/>
            <a:chExt cx="3588483" cy="1333098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3588483" cy="1333098"/>
              <a:chOff x="0" y="0"/>
              <a:chExt cx="726645" cy="26994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726645" cy="269944"/>
              </a:xfrm>
              <a:custGeom>
                <a:avLst/>
                <a:gdLst/>
                <a:ahLst/>
                <a:cxnLst/>
                <a:rect l="l" t="t" r="r" b="b"/>
                <a:pathLst>
                  <a:path w="726645" h="269944">
                    <a:moveTo>
                      <a:pt x="36479" y="0"/>
                    </a:moveTo>
                    <a:lnTo>
                      <a:pt x="690166" y="0"/>
                    </a:lnTo>
                    <a:cubicBezTo>
                      <a:pt x="699841" y="0"/>
                      <a:pt x="709120" y="3843"/>
                      <a:pt x="715961" y="10684"/>
                    </a:cubicBezTo>
                    <a:cubicBezTo>
                      <a:pt x="722802" y="17526"/>
                      <a:pt x="726645" y="26804"/>
                      <a:pt x="726645" y="36479"/>
                    </a:cubicBezTo>
                    <a:lnTo>
                      <a:pt x="726645" y="233465"/>
                    </a:lnTo>
                    <a:cubicBezTo>
                      <a:pt x="726645" y="253612"/>
                      <a:pt x="710313" y="269944"/>
                      <a:pt x="690166" y="269944"/>
                    </a:cubicBezTo>
                    <a:lnTo>
                      <a:pt x="36479" y="269944"/>
                    </a:lnTo>
                    <a:cubicBezTo>
                      <a:pt x="26804" y="269944"/>
                      <a:pt x="17526" y="266101"/>
                      <a:pt x="10684" y="259259"/>
                    </a:cubicBezTo>
                    <a:cubicBezTo>
                      <a:pt x="3843" y="252418"/>
                      <a:pt x="0" y="243140"/>
                      <a:pt x="0" y="233465"/>
                    </a:cubicBezTo>
                    <a:lnTo>
                      <a:pt x="0" y="36479"/>
                    </a:lnTo>
                    <a:cubicBezTo>
                      <a:pt x="0" y="26804"/>
                      <a:pt x="3843" y="17526"/>
                      <a:pt x="10684" y="10684"/>
                    </a:cubicBezTo>
                    <a:cubicBezTo>
                      <a:pt x="17526" y="3843"/>
                      <a:pt x="26804" y="0"/>
                      <a:pt x="36479" y="0"/>
                    </a:cubicBezTo>
                    <a:close/>
                  </a:path>
                </a:pathLst>
              </a:custGeom>
              <a:solidFill>
                <a:srgbClr val="00569E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47625"/>
                <a:ext cx="726645" cy="3175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872774" y="899768"/>
              <a:ext cx="2601891" cy="258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 u="sng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  <a:hlinkClick r:id="rId7" tooltip="https://github.com/Shreyansh303/team_mausam_sih_2026/tree/main/docs/03_PERSONALIZATION_ENGINE.md"/>
                </a:rPr>
                <a:t>docs/09_push_notifications.md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2774" y="506958"/>
              <a:ext cx="2412635" cy="428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79"/>
                </a:lnSpc>
              </a:pPr>
              <a:r>
                <a:rPr lang="en-US" sz="1092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</a:rPr>
                <a:t>FCM as production alert transport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7004" y="91693"/>
              <a:ext cx="3152223" cy="33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1"/>
                </a:lnSpc>
                <a:spcBef>
                  <a:spcPct val="0"/>
                </a:spcBef>
              </a:pPr>
              <a:r>
                <a:rPr lang="en-US" sz="1365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Push Design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946235" y="3498299"/>
            <a:ext cx="484839" cy="368478"/>
          </a:xfrm>
          <a:custGeom>
            <a:avLst/>
            <a:gdLst/>
            <a:ahLst/>
            <a:cxnLst/>
            <a:rect l="l" t="t" r="r" b="b"/>
            <a:pathLst>
              <a:path w="484839" h="368478">
                <a:moveTo>
                  <a:pt x="0" y="0"/>
                </a:moveTo>
                <a:lnTo>
                  <a:pt x="484839" y="0"/>
                </a:lnTo>
                <a:lnTo>
                  <a:pt x="484839" y="368478"/>
                </a:lnTo>
                <a:lnTo>
                  <a:pt x="0" y="368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958747" y="4643283"/>
            <a:ext cx="359775" cy="370902"/>
          </a:xfrm>
          <a:custGeom>
            <a:avLst/>
            <a:gdLst/>
            <a:ahLst/>
            <a:cxnLst/>
            <a:rect l="l" t="t" r="r" b="b"/>
            <a:pathLst>
              <a:path w="359775" h="370902">
                <a:moveTo>
                  <a:pt x="0" y="0"/>
                </a:moveTo>
                <a:lnTo>
                  <a:pt x="359775" y="0"/>
                </a:lnTo>
                <a:lnTo>
                  <a:pt x="359775" y="370902"/>
                </a:lnTo>
                <a:lnTo>
                  <a:pt x="0" y="370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3935235" y="2291513"/>
            <a:ext cx="436796" cy="441208"/>
          </a:xfrm>
          <a:custGeom>
            <a:avLst/>
            <a:gdLst/>
            <a:ahLst/>
            <a:cxnLst/>
            <a:rect l="l" t="t" r="r" b="b"/>
            <a:pathLst>
              <a:path w="436796" h="441208">
                <a:moveTo>
                  <a:pt x="0" y="0"/>
                </a:moveTo>
                <a:lnTo>
                  <a:pt x="436796" y="0"/>
                </a:lnTo>
                <a:lnTo>
                  <a:pt x="436796" y="441208"/>
                </a:lnTo>
                <a:lnTo>
                  <a:pt x="0" y="441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839138" y="1892929"/>
            <a:ext cx="2686845" cy="984657"/>
            <a:chOff x="0" y="0"/>
            <a:chExt cx="3582460" cy="1312876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3582460" cy="1312876"/>
              <a:chOff x="0" y="0"/>
              <a:chExt cx="725426" cy="26584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725426" cy="265849"/>
              </a:xfrm>
              <a:custGeom>
                <a:avLst/>
                <a:gdLst/>
                <a:ahLst/>
                <a:cxnLst/>
                <a:rect l="l" t="t" r="r" b="b"/>
                <a:pathLst>
                  <a:path w="725426" h="265849">
                    <a:moveTo>
                      <a:pt x="36540" y="0"/>
                    </a:moveTo>
                    <a:lnTo>
                      <a:pt x="688885" y="0"/>
                    </a:lnTo>
                    <a:cubicBezTo>
                      <a:pt x="698577" y="0"/>
                      <a:pt x="707871" y="3850"/>
                      <a:pt x="714723" y="10702"/>
                    </a:cubicBezTo>
                    <a:cubicBezTo>
                      <a:pt x="721576" y="17555"/>
                      <a:pt x="725426" y="26849"/>
                      <a:pt x="725426" y="36540"/>
                    </a:cubicBezTo>
                    <a:lnTo>
                      <a:pt x="725426" y="229309"/>
                    </a:lnTo>
                    <a:cubicBezTo>
                      <a:pt x="725426" y="249490"/>
                      <a:pt x="709066" y="265849"/>
                      <a:pt x="688885" y="265849"/>
                    </a:cubicBezTo>
                    <a:lnTo>
                      <a:pt x="36540" y="265849"/>
                    </a:lnTo>
                    <a:cubicBezTo>
                      <a:pt x="26849" y="265849"/>
                      <a:pt x="17555" y="261999"/>
                      <a:pt x="10702" y="255147"/>
                    </a:cubicBezTo>
                    <a:cubicBezTo>
                      <a:pt x="3850" y="248294"/>
                      <a:pt x="0" y="239000"/>
                      <a:pt x="0" y="229309"/>
                    </a:cubicBezTo>
                    <a:lnTo>
                      <a:pt x="0" y="36540"/>
                    </a:lnTo>
                    <a:cubicBezTo>
                      <a:pt x="0" y="26849"/>
                      <a:pt x="3850" y="17555"/>
                      <a:pt x="10702" y="10702"/>
                    </a:cubicBezTo>
                    <a:cubicBezTo>
                      <a:pt x="17555" y="3850"/>
                      <a:pt x="26849" y="0"/>
                      <a:pt x="36540" y="0"/>
                    </a:cubicBezTo>
                    <a:close/>
                  </a:path>
                </a:pathLst>
              </a:custGeom>
              <a:solidFill>
                <a:srgbClr val="00569E"/>
              </a:solid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47625"/>
                <a:ext cx="725426" cy="3134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55" name="Freeform 55"/>
            <p:cNvSpPr/>
            <p:nvPr/>
          </p:nvSpPr>
          <p:spPr>
            <a:xfrm>
              <a:off x="247004" y="554837"/>
              <a:ext cx="489755" cy="523802"/>
            </a:xfrm>
            <a:custGeom>
              <a:avLst/>
              <a:gdLst/>
              <a:ahLst/>
              <a:cxnLst/>
              <a:rect l="l" t="t" r="r" b="b"/>
              <a:pathLst>
                <a:path w="489755" h="523802">
                  <a:moveTo>
                    <a:pt x="0" y="0"/>
                  </a:moveTo>
                  <a:lnTo>
                    <a:pt x="489755" y="0"/>
                  </a:lnTo>
                  <a:lnTo>
                    <a:pt x="489755" y="523802"/>
                  </a:lnTo>
                  <a:lnTo>
                    <a:pt x="0" y="523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883858" y="559328"/>
              <a:ext cx="2247434" cy="5193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9"/>
                </a:lnSpc>
                <a:spcBef>
                  <a:spcPct val="0"/>
                </a:spcBef>
              </a:pPr>
              <a:r>
                <a:rPr lang="en-US" sz="1092" u="sng">
                  <a:solidFill>
                    <a:srgbClr val="D9D9D9"/>
                  </a:solidFill>
                  <a:latin typeface="Futura"/>
                  <a:ea typeface="Futura"/>
                  <a:cs typeface="Futura"/>
                  <a:sym typeface="Futura"/>
                  <a:hlinkClick r:id="rId12" tooltip="https://github.com/Shreyansh303/team_mausam_sih_2026"/>
                </a:rPr>
                <a:t>github.com/Shreyansh303/team_mausam_sih_2026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47004" y="91693"/>
              <a:ext cx="1940128" cy="3329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1"/>
                </a:lnSpc>
                <a:spcBef>
                  <a:spcPct val="0"/>
                </a:spcBef>
              </a:pPr>
              <a:r>
                <a:rPr lang="en-US" sz="1365" b="1">
                  <a:solidFill>
                    <a:srgbClr val="FFFFFF"/>
                  </a:solidFill>
                  <a:latin typeface="Futura Bold"/>
                  <a:ea typeface="Futura Bold"/>
                  <a:cs typeface="Futura Bold"/>
                  <a:sym typeface="Futura Bold"/>
                </a:rPr>
                <a:t>Github repository</a:t>
              </a:r>
            </a:p>
          </p:txBody>
        </p:sp>
      </p:grpSp>
      <p:sp>
        <p:nvSpPr>
          <p:cNvPr id="58" name="Freeform 58"/>
          <p:cNvSpPr/>
          <p:nvPr/>
        </p:nvSpPr>
        <p:spPr>
          <a:xfrm>
            <a:off x="3935235" y="3397998"/>
            <a:ext cx="459403" cy="468778"/>
          </a:xfrm>
          <a:custGeom>
            <a:avLst/>
            <a:gdLst/>
            <a:ahLst/>
            <a:cxnLst/>
            <a:rect l="l" t="t" r="r" b="b"/>
            <a:pathLst>
              <a:path w="459403" h="468778">
                <a:moveTo>
                  <a:pt x="0" y="0"/>
                </a:moveTo>
                <a:lnTo>
                  <a:pt x="459403" y="0"/>
                </a:lnTo>
                <a:lnTo>
                  <a:pt x="459403" y="468779"/>
                </a:lnTo>
                <a:lnTo>
                  <a:pt x="0" y="4687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59" name="Group 59"/>
          <p:cNvGrpSpPr/>
          <p:nvPr/>
        </p:nvGrpSpPr>
        <p:grpSpPr>
          <a:xfrm>
            <a:off x="0" y="9877972"/>
            <a:ext cx="18296002" cy="498645"/>
            <a:chOff x="0" y="0"/>
            <a:chExt cx="743491" cy="2026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43491" cy="20263"/>
            </a:xfrm>
            <a:custGeom>
              <a:avLst/>
              <a:gdLst/>
              <a:ahLst/>
              <a:cxnLst/>
              <a:rect l="l" t="t" r="r" b="b"/>
              <a:pathLst>
                <a:path w="743491" h="20263">
                  <a:moveTo>
                    <a:pt x="0" y="0"/>
                  </a:moveTo>
                  <a:lnTo>
                    <a:pt x="743491" y="0"/>
                  </a:lnTo>
                  <a:lnTo>
                    <a:pt x="743491" y="20263"/>
                  </a:lnTo>
                  <a:lnTo>
                    <a:pt x="0" y="2026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743491" cy="96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29799" y="5559067"/>
            <a:ext cx="6556473" cy="4259554"/>
            <a:chOff x="0" y="0"/>
            <a:chExt cx="1751587" cy="113795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751586" cy="1137956"/>
            </a:xfrm>
            <a:custGeom>
              <a:avLst/>
              <a:gdLst/>
              <a:ahLst/>
              <a:cxnLst/>
              <a:rect l="l" t="t" r="r" b="b"/>
              <a:pathLst>
                <a:path w="1751586" h="1137956">
                  <a:moveTo>
                    <a:pt x="17712" y="0"/>
                  </a:moveTo>
                  <a:lnTo>
                    <a:pt x="1733874" y="0"/>
                  </a:lnTo>
                  <a:cubicBezTo>
                    <a:pt x="1743657" y="0"/>
                    <a:pt x="1751586" y="7930"/>
                    <a:pt x="1751586" y="17712"/>
                  </a:cubicBezTo>
                  <a:lnTo>
                    <a:pt x="1751586" y="1120244"/>
                  </a:lnTo>
                  <a:cubicBezTo>
                    <a:pt x="1751586" y="1130026"/>
                    <a:pt x="1743657" y="1137956"/>
                    <a:pt x="1733874" y="1137956"/>
                  </a:cubicBezTo>
                  <a:lnTo>
                    <a:pt x="17712" y="1137956"/>
                  </a:lnTo>
                  <a:cubicBezTo>
                    <a:pt x="7930" y="1137956"/>
                    <a:pt x="0" y="1130026"/>
                    <a:pt x="0" y="1120244"/>
                  </a:cubicBezTo>
                  <a:lnTo>
                    <a:pt x="0" y="17712"/>
                  </a:lnTo>
                  <a:cubicBezTo>
                    <a:pt x="0" y="7930"/>
                    <a:pt x="7930" y="0"/>
                    <a:pt x="17712" y="0"/>
                  </a:cubicBezTo>
                  <a:close/>
                </a:path>
              </a:pathLst>
            </a:custGeom>
            <a:ln w="19050" cap="sq">
              <a:solidFill>
                <a:srgbClr val="264564"/>
              </a:solidFill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751587" cy="1185581"/>
            </a:xfrm>
            <a:prstGeom prst="rect">
              <a:avLst/>
            </a:prstGeom>
          </p:spPr>
          <p:txBody>
            <a:bodyPr lIns="47860" tIns="47860" rIns="47860" bIns="4786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32704" y="5919079"/>
            <a:ext cx="6334188" cy="3795574"/>
            <a:chOff x="0" y="0"/>
            <a:chExt cx="1692202" cy="101400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692202" cy="1014002"/>
            </a:xfrm>
            <a:custGeom>
              <a:avLst/>
              <a:gdLst/>
              <a:ahLst/>
              <a:cxnLst/>
              <a:rect l="l" t="t" r="r" b="b"/>
              <a:pathLst>
                <a:path w="1692202" h="1014002">
                  <a:moveTo>
                    <a:pt x="18334" y="0"/>
                  </a:moveTo>
                  <a:lnTo>
                    <a:pt x="1673869" y="0"/>
                  </a:lnTo>
                  <a:cubicBezTo>
                    <a:pt x="1678731" y="0"/>
                    <a:pt x="1683394" y="1932"/>
                    <a:pt x="1686833" y="5370"/>
                  </a:cubicBezTo>
                  <a:cubicBezTo>
                    <a:pt x="1690271" y="8808"/>
                    <a:pt x="1692202" y="13471"/>
                    <a:pt x="1692202" y="18334"/>
                  </a:cubicBezTo>
                  <a:lnTo>
                    <a:pt x="1692202" y="995668"/>
                  </a:lnTo>
                  <a:cubicBezTo>
                    <a:pt x="1692202" y="1000531"/>
                    <a:pt x="1690271" y="1005194"/>
                    <a:pt x="1686833" y="1008632"/>
                  </a:cubicBezTo>
                  <a:cubicBezTo>
                    <a:pt x="1683394" y="1012070"/>
                    <a:pt x="1678731" y="1014002"/>
                    <a:pt x="1673869" y="1014002"/>
                  </a:cubicBezTo>
                  <a:lnTo>
                    <a:pt x="18334" y="1014002"/>
                  </a:lnTo>
                  <a:cubicBezTo>
                    <a:pt x="13471" y="1014002"/>
                    <a:pt x="8808" y="1012070"/>
                    <a:pt x="5370" y="1008632"/>
                  </a:cubicBezTo>
                  <a:cubicBezTo>
                    <a:pt x="1932" y="1005194"/>
                    <a:pt x="0" y="1000531"/>
                    <a:pt x="0" y="995668"/>
                  </a:cubicBezTo>
                  <a:lnTo>
                    <a:pt x="0" y="18334"/>
                  </a:lnTo>
                  <a:cubicBezTo>
                    <a:pt x="0" y="13471"/>
                    <a:pt x="1932" y="8808"/>
                    <a:pt x="5370" y="5370"/>
                  </a:cubicBezTo>
                  <a:cubicBezTo>
                    <a:pt x="8808" y="1932"/>
                    <a:pt x="13471" y="0"/>
                    <a:pt x="18334" y="0"/>
                  </a:cubicBezTo>
                  <a:close/>
                </a:path>
              </a:pathLst>
            </a:custGeom>
            <a:solidFill>
              <a:srgbClr val="C2DCFF">
                <a:alpha val="29804"/>
              </a:srgbClr>
            </a:solidFill>
            <a:ln w="28575" cap="sq">
              <a:solidFill>
                <a:srgbClr val="264564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1692202" cy="1061627"/>
            </a:xfrm>
            <a:prstGeom prst="rect">
              <a:avLst/>
            </a:prstGeom>
          </p:spPr>
          <p:txBody>
            <a:bodyPr lIns="47860" tIns="47860" rIns="47860" bIns="4786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8" name="AutoShape 68"/>
          <p:cNvSpPr/>
          <p:nvPr/>
        </p:nvSpPr>
        <p:spPr>
          <a:xfrm flipV="1">
            <a:off x="432750" y="7016926"/>
            <a:ext cx="6342947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9" name="AutoShape 69"/>
          <p:cNvSpPr/>
          <p:nvPr/>
        </p:nvSpPr>
        <p:spPr>
          <a:xfrm flipV="1">
            <a:off x="432784" y="6516142"/>
            <a:ext cx="6334129" cy="4554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0" name="AutoShape 70"/>
          <p:cNvSpPr/>
          <p:nvPr/>
        </p:nvSpPr>
        <p:spPr>
          <a:xfrm>
            <a:off x="432741" y="7545636"/>
            <a:ext cx="6334208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1" name="AutoShape 71"/>
          <p:cNvSpPr/>
          <p:nvPr/>
        </p:nvSpPr>
        <p:spPr>
          <a:xfrm>
            <a:off x="432741" y="8107146"/>
            <a:ext cx="6334197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" name="AutoShape 72"/>
          <p:cNvSpPr/>
          <p:nvPr/>
        </p:nvSpPr>
        <p:spPr>
          <a:xfrm>
            <a:off x="432704" y="8665184"/>
            <a:ext cx="6334270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3" name="AutoShape 73"/>
          <p:cNvSpPr/>
          <p:nvPr/>
        </p:nvSpPr>
        <p:spPr>
          <a:xfrm>
            <a:off x="432741" y="9192294"/>
            <a:ext cx="6334151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AutoShape 74"/>
          <p:cNvSpPr/>
          <p:nvPr/>
        </p:nvSpPr>
        <p:spPr>
          <a:xfrm flipH="1">
            <a:off x="1777788" y="5919079"/>
            <a:ext cx="0" cy="3795574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5" name="AutoShape 75"/>
          <p:cNvSpPr/>
          <p:nvPr/>
        </p:nvSpPr>
        <p:spPr>
          <a:xfrm>
            <a:off x="4868884" y="5919079"/>
            <a:ext cx="0" cy="3795574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" name="Freeform 76"/>
          <p:cNvSpPr/>
          <p:nvPr/>
        </p:nvSpPr>
        <p:spPr>
          <a:xfrm>
            <a:off x="3942428" y="4560966"/>
            <a:ext cx="366649" cy="467069"/>
          </a:xfrm>
          <a:custGeom>
            <a:avLst/>
            <a:gdLst/>
            <a:ahLst/>
            <a:cxnLst/>
            <a:rect l="l" t="t" r="r" b="b"/>
            <a:pathLst>
              <a:path w="366649" h="467069">
                <a:moveTo>
                  <a:pt x="0" y="0"/>
                </a:moveTo>
                <a:lnTo>
                  <a:pt x="366650" y="0"/>
                </a:lnTo>
                <a:lnTo>
                  <a:pt x="366650" y="467069"/>
                </a:lnTo>
                <a:lnTo>
                  <a:pt x="0" y="467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77"/>
          <p:cNvSpPr/>
          <p:nvPr/>
        </p:nvSpPr>
        <p:spPr>
          <a:xfrm>
            <a:off x="913433" y="1354490"/>
            <a:ext cx="405088" cy="405088"/>
          </a:xfrm>
          <a:custGeom>
            <a:avLst/>
            <a:gdLst/>
            <a:ahLst/>
            <a:cxnLst/>
            <a:rect l="l" t="t" r="r" b="b"/>
            <a:pathLst>
              <a:path w="405088" h="405088">
                <a:moveTo>
                  <a:pt x="0" y="0"/>
                </a:moveTo>
                <a:lnTo>
                  <a:pt x="405089" y="0"/>
                </a:lnTo>
                <a:lnTo>
                  <a:pt x="405089" y="405089"/>
                </a:lnTo>
                <a:lnTo>
                  <a:pt x="0" y="405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78" name="Group 78"/>
          <p:cNvGrpSpPr/>
          <p:nvPr/>
        </p:nvGrpSpPr>
        <p:grpSpPr>
          <a:xfrm>
            <a:off x="7098175" y="5737519"/>
            <a:ext cx="6696661" cy="4069506"/>
            <a:chOff x="0" y="0"/>
            <a:chExt cx="1947419" cy="1183431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947419" cy="1183431"/>
            </a:xfrm>
            <a:custGeom>
              <a:avLst/>
              <a:gdLst/>
              <a:ahLst/>
              <a:cxnLst/>
              <a:rect l="l" t="t" r="r" b="b"/>
              <a:pathLst>
                <a:path w="1947419" h="1183431">
                  <a:moveTo>
                    <a:pt x="17341" y="0"/>
                  </a:moveTo>
                  <a:lnTo>
                    <a:pt x="1930078" y="0"/>
                  </a:lnTo>
                  <a:cubicBezTo>
                    <a:pt x="1939655" y="0"/>
                    <a:pt x="1947419" y="7764"/>
                    <a:pt x="1947419" y="17341"/>
                  </a:cubicBezTo>
                  <a:lnTo>
                    <a:pt x="1947419" y="1166089"/>
                  </a:lnTo>
                  <a:cubicBezTo>
                    <a:pt x="1947419" y="1170689"/>
                    <a:pt x="1945592" y="1175099"/>
                    <a:pt x="1942340" y="1178351"/>
                  </a:cubicBezTo>
                  <a:cubicBezTo>
                    <a:pt x="1939088" y="1181604"/>
                    <a:pt x="1934677" y="1183431"/>
                    <a:pt x="1930078" y="1183431"/>
                  </a:cubicBezTo>
                  <a:lnTo>
                    <a:pt x="17341" y="1183431"/>
                  </a:lnTo>
                  <a:cubicBezTo>
                    <a:pt x="7764" y="1183431"/>
                    <a:pt x="0" y="1175667"/>
                    <a:pt x="0" y="1166089"/>
                  </a:cubicBezTo>
                  <a:lnTo>
                    <a:pt x="0" y="17341"/>
                  </a:lnTo>
                  <a:cubicBezTo>
                    <a:pt x="0" y="7764"/>
                    <a:pt x="7764" y="0"/>
                    <a:pt x="17341" y="0"/>
                  </a:cubicBezTo>
                  <a:close/>
                </a:path>
              </a:pathLst>
            </a:custGeom>
            <a:ln w="19050" cap="sq">
              <a:solidFill>
                <a:srgbClr val="8F0078"/>
              </a:solidFill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1947419" cy="1221531"/>
            </a:xfrm>
            <a:prstGeom prst="rect">
              <a:avLst/>
            </a:prstGeom>
          </p:spPr>
          <p:txBody>
            <a:bodyPr lIns="46008" tIns="46008" rIns="46008" bIns="46008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202618" y="6044014"/>
            <a:ext cx="6478617" cy="3674894"/>
            <a:chOff x="0" y="0"/>
            <a:chExt cx="1884011" cy="106867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884011" cy="1068676"/>
            </a:xfrm>
            <a:custGeom>
              <a:avLst/>
              <a:gdLst/>
              <a:ahLst/>
              <a:cxnLst/>
              <a:rect l="l" t="t" r="r" b="b"/>
              <a:pathLst>
                <a:path w="1884011" h="1068676">
                  <a:moveTo>
                    <a:pt x="17925" y="0"/>
                  </a:moveTo>
                  <a:lnTo>
                    <a:pt x="1866086" y="0"/>
                  </a:lnTo>
                  <a:cubicBezTo>
                    <a:pt x="1870840" y="0"/>
                    <a:pt x="1875399" y="1889"/>
                    <a:pt x="1878761" y="5250"/>
                  </a:cubicBezTo>
                  <a:cubicBezTo>
                    <a:pt x="1882123" y="8612"/>
                    <a:pt x="1884011" y="13171"/>
                    <a:pt x="1884011" y="17925"/>
                  </a:cubicBezTo>
                  <a:lnTo>
                    <a:pt x="1884011" y="1050751"/>
                  </a:lnTo>
                  <a:cubicBezTo>
                    <a:pt x="1884011" y="1060650"/>
                    <a:pt x="1875986" y="1068676"/>
                    <a:pt x="1866086" y="1068676"/>
                  </a:cubicBezTo>
                  <a:lnTo>
                    <a:pt x="17925" y="1068676"/>
                  </a:lnTo>
                  <a:cubicBezTo>
                    <a:pt x="8025" y="1068676"/>
                    <a:pt x="0" y="1060650"/>
                    <a:pt x="0" y="1050751"/>
                  </a:cubicBezTo>
                  <a:lnTo>
                    <a:pt x="0" y="17925"/>
                  </a:lnTo>
                  <a:cubicBezTo>
                    <a:pt x="0" y="13171"/>
                    <a:pt x="1889" y="8612"/>
                    <a:pt x="5250" y="5250"/>
                  </a:cubicBezTo>
                  <a:cubicBezTo>
                    <a:pt x="8612" y="1889"/>
                    <a:pt x="13171" y="0"/>
                    <a:pt x="17925" y="0"/>
                  </a:cubicBezTo>
                  <a:close/>
                </a:path>
              </a:pathLst>
            </a:custGeom>
            <a:solidFill>
              <a:srgbClr val="CEA8F0">
                <a:alpha val="19608"/>
              </a:srgbClr>
            </a:solidFill>
            <a:ln w="28575" cap="sq">
              <a:solidFill>
                <a:srgbClr val="8F0078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1884011" cy="1078201"/>
            </a:xfrm>
            <a:prstGeom prst="rect">
              <a:avLst/>
            </a:prstGeom>
          </p:spPr>
          <p:txBody>
            <a:bodyPr lIns="46008" tIns="46008" rIns="46008" bIns="46008" rtlCol="0" anchor="ctr"/>
            <a:lstStyle/>
            <a:p>
              <a:pPr algn="ctr">
                <a:lnSpc>
                  <a:spcPts val="1428"/>
                </a:lnSpc>
              </a:pPr>
              <a:endParaRPr/>
            </a:p>
          </p:txBody>
        </p:sp>
      </p:grpSp>
      <p:sp>
        <p:nvSpPr>
          <p:cNvPr id="84" name="AutoShape 84"/>
          <p:cNvSpPr/>
          <p:nvPr/>
        </p:nvSpPr>
        <p:spPr>
          <a:xfrm>
            <a:off x="7202986" y="9180823"/>
            <a:ext cx="6469586" cy="0"/>
          </a:xfrm>
          <a:prstGeom prst="line">
            <a:avLst/>
          </a:prstGeom>
          <a:ln w="28575" cap="flat">
            <a:solidFill>
              <a:srgbClr val="8F007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5" name="AutoShape 85"/>
          <p:cNvSpPr/>
          <p:nvPr/>
        </p:nvSpPr>
        <p:spPr>
          <a:xfrm>
            <a:off x="11354666" y="6030920"/>
            <a:ext cx="0" cy="3674894"/>
          </a:xfrm>
          <a:prstGeom prst="line">
            <a:avLst/>
          </a:prstGeom>
          <a:ln w="28575" cap="flat">
            <a:solidFill>
              <a:srgbClr val="8F007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6" name="AutoShape 86"/>
          <p:cNvSpPr/>
          <p:nvPr/>
        </p:nvSpPr>
        <p:spPr>
          <a:xfrm flipV="1">
            <a:off x="7202999" y="6653782"/>
            <a:ext cx="6469563" cy="4313"/>
          </a:xfrm>
          <a:prstGeom prst="line">
            <a:avLst/>
          </a:prstGeom>
          <a:ln w="28575" cap="flat">
            <a:solidFill>
              <a:srgbClr val="8F007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AutoShape 87"/>
          <p:cNvSpPr/>
          <p:nvPr/>
        </p:nvSpPr>
        <p:spPr>
          <a:xfrm flipV="1">
            <a:off x="7202986" y="7281352"/>
            <a:ext cx="6478570" cy="0"/>
          </a:xfrm>
          <a:prstGeom prst="line">
            <a:avLst/>
          </a:prstGeom>
          <a:ln w="28575" cap="flat">
            <a:solidFill>
              <a:srgbClr val="8F007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AutoShape 88"/>
          <p:cNvSpPr/>
          <p:nvPr/>
        </p:nvSpPr>
        <p:spPr>
          <a:xfrm>
            <a:off x="7202939" y="7960456"/>
            <a:ext cx="6469633" cy="0"/>
          </a:xfrm>
          <a:prstGeom prst="line">
            <a:avLst/>
          </a:prstGeom>
          <a:ln w="28575" cap="flat">
            <a:solidFill>
              <a:srgbClr val="8F007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9" name="AutoShape 89"/>
          <p:cNvSpPr/>
          <p:nvPr/>
        </p:nvSpPr>
        <p:spPr>
          <a:xfrm>
            <a:off x="7202939" y="8523266"/>
            <a:ext cx="6469707" cy="0"/>
          </a:xfrm>
          <a:prstGeom prst="line">
            <a:avLst/>
          </a:prstGeom>
          <a:ln w="28575" cap="flat">
            <a:solidFill>
              <a:srgbClr val="8F007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0" name="AutoShape 90"/>
          <p:cNvSpPr/>
          <p:nvPr/>
        </p:nvSpPr>
        <p:spPr>
          <a:xfrm>
            <a:off x="8874400" y="6044014"/>
            <a:ext cx="0" cy="3674894"/>
          </a:xfrm>
          <a:prstGeom prst="line">
            <a:avLst/>
          </a:prstGeom>
          <a:ln w="28575" cap="flat">
            <a:solidFill>
              <a:srgbClr val="8F007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1" name="Group 91"/>
          <p:cNvGrpSpPr/>
          <p:nvPr/>
        </p:nvGrpSpPr>
        <p:grpSpPr>
          <a:xfrm>
            <a:off x="13937711" y="5737519"/>
            <a:ext cx="4134009" cy="4030103"/>
            <a:chOff x="0" y="0"/>
            <a:chExt cx="1155678" cy="112663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155678" cy="1126630"/>
            </a:xfrm>
            <a:custGeom>
              <a:avLst/>
              <a:gdLst/>
              <a:ahLst/>
              <a:cxnLst/>
              <a:rect l="l" t="t" r="r" b="b"/>
              <a:pathLst>
                <a:path w="1155678" h="1126630">
                  <a:moveTo>
                    <a:pt x="28091" y="0"/>
                  </a:moveTo>
                  <a:lnTo>
                    <a:pt x="1127587" y="0"/>
                  </a:lnTo>
                  <a:cubicBezTo>
                    <a:pt x="1143101" y="0"/>
                    <a:pt x="1155678" y="12577"/>
                    <a:pt x="1155678" y="28091"/>
                  </a:cubicBezTo>
                  <a:lnTo>
                    <a:pt x="1155678" y="1098539"/>
                  </a:lnTo>
                  <a:cubicBezTo>
                    <a:pt x="1155678" y="1114054"/>
                    <a:pt x="1143101" y="1126630"/>
                    <a:pt x="1127587" y="1126630"/>
                  </a:cubicBezTo>
                  <a:lnTo>
                    <a:pt x="28091" y="1126630"/>
                  </a:lnTo>
                  <a:cubicBezTo>
                    <a:pt x="12577" y="1126630"/>
                    <a:pt x="0" y="1114054"/>
                    <a:pt x="0" y="1098539"/>
                  </a:cubicBezTo>
                  <a:lnTo>
                    <a:pt x="0" y="28091"/>
                  </a:lnTo>
                  <a:cubicBezTo>
                    <a:pt x="0" y="12577"/>
                    <a:pt x="12577" y="0"/>
                    <a:pt x="28091" y="0"/>
                  </a:cubicBezTo>
                  <a:close/>
                </a:path>
              </a:pathLst>
            </a:custGeom>
            <a:ln w="19050" cap="sq">
              <a:solidFill>
                <a:srgbClr val="264564"/>
              </a:solidFill>
              <a:prstDash val="solid"/>
              <a:miter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1155678" cy="1174255"/>
            </a:xfrm>
            <a:prstGeom prst="rect">
              <a:avLst/>
            </a:prstGeom>
          </p:spPr>
          <p:txBody>
            <a:bodyPr lIns="47860" tIns="47860" rIns="47860" bIns="4786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4071065" y="6081540"/>
            <a:ext cx="3836981" cy="3520035"/>
            <a:chOff x="0" y="0"/>
            <a:chExt cx="1061230" cy="973569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61230" cy="973569"/>
            </a:xfrm>
            <a:custGeom>
              <a:avLst/>
              <a:gdLst/>
              <a:ahLst/>
              <a:cxnLst/>
              <a:rect l="l" t="t" r="r" b="b"/>
              <a:pathLst>
                <a:path w="1061230" h="973569">
                  <a:moveTo>
                    <a:pt x="30266" y="0"/>
                  </a:moveTo>
                  <a:lnTo>
                    <a:pt x="1030964" y="0"/>
                  </a:lnTo>
                  <a:cubicBezTo>
                    <a:pt x="1038991" y="0"/>
                    <a:pt x="1046689" y="3189"/>
                    <a:pt x="1052365" y="8865"/>
                  </a:cubicBezTo>
                  <a:cubicBezTo>
                    <a:pt x="1058041" y="14541"/>
                    <a:pt x="1061230" y="22239"/>
                    <a:pt x="1061230" y="30266"/>
                  </a:cubicBezTo>
                  <a:lnTo>
                    <a:pt x="1061230" y="943303"/>
                  </a:lnTo>
                  <a:cubicBezTo>
                    <a:pt x="1061230" y="960019"/>
                    <a:pt x="1047679" y="973569"/>
                    <a:pt x="1030964" y="973569"/>
                  </a:cubicBezTo>
                  <a:lnTo>
                    <a:pt x="30266" y="973569"/>
                  </a:lnTo>
                  <a:cubicBezTo>
                    <a:pt x="22239" y="973569"/>
                    <a:pt x="14541" y="970380"/>
                    <a:pt x="8865" y="964704"/>
                  </a:cubicBezTo>
                  <a:cubicBezTo>
                    <a:pt x="3189" y="959029"/>
                    <a:pt x="0" y="951330"/>
                    <a:pt x="0" y="943303"/>
                  </a:cubicBezTo>
                  <a:lnTo>
                    <a:pt x="0" y="30266"/>
                  </a:lnTo>
                  <a:cubicBezTo>
                    <a:pt x="0" y="13550"/>
                    <a:pt x="13550" y="0"/>
                    <a:pt x="30266" y="0"/>
                  </a:cubicBezTo>
                  <a:close/>
                </a:path>
              </a:pathLst>
            </a:custGeom>
            <a:solidFill>
              <a:srgbClr val="C2DCFF">
                <a:alpha val="29804"/>
              </a:srgbClr>
            </a:solidFill>
            <a:ln w="28575" cap="sq">
              <a:solidFill>
                <a:srgbClr val="264564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1061230" cy="1011669"/>
            </a:xfrm>
            <a:prstGeom prst="rect">
              <a:avLst/>
            </a:prstGeom>
          </p:spPr>
          <p:txBody>
            <a:bodyPr lIns="48375" tIns="48375" rIns="48375" bIns="48375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sp>
        <p:nvSpPr>
          <p:cNvPr id="97" name="AutoShape 97"/>
          <p:cNvSpPr/>
          <p:nvPr/>
        </p:nvSpPr>
        <p:spPr>
          <a:xfrm flipV="1">
            <a:off x="14077141" y="7335972"/>
            <a:ext cx="3831711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8" name="AutoShape 98"/>
          <p:cNvSpPr/>
          <p:nvPr/>
        </p:nvSpPr>
        <p:spPr>
          <a:xfrm flipV="1">
            <a:off x="14082431" y="6672718"/>
            <a:ext cx="3826384" cy="4399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9" name="AutoShape 99"/>
          <p:cNvSpPr/>
          <p:nvPr/>
        </p:nvSpPr>
        <p:spPr>
          <a:xfrm>
            <a:off x="14082389" y="7989031"/>
            <a:ext cx="3826425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>
            <a:off x="14082383" y="8721050"/>
            <a:ext cx="3826469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TextBox 101"/>
          <p:cNvSpPr txBox="1"/>
          <p:nvPr/>
        </p:nvSpPr>
        <p:spPr>
          <a:xfrm>
            <a:off x="14540310" y="7483714"/>
            <a:ext cx="848131" cy="319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5"/>
              </a:lnSpc>
              <a:spcBef>
                <a:spcPct val="0"/>
              </a:spcBef>
            </a:pPr>
            <a:r>
              <a:rPr lang="en-US" sz="91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India smartphone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6558354" y="6261020"/>
            <a:ext cx="1458485" cy="24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87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SOURCE</a:t>
            </a:r>
          </a:p>
        </p:txBody>
      </p:sp>
      <p:sp>
        <p:nvSpPr>
          <p:cNvPr id="103" name="AutoShape 103"/>
          <p:cNvSpPr/>
          <p:nvPr/>
        </p:nvSpPr>
        <p:spPr>
          <a:xfrm flipH="1">
            <a:off x="16578082" y="6081563"/>
            <a:ext cx="22180" cy="3520012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" name="Freeform 104"/>
          <p:cNvSpPr/>
          <p:nvPr/>
        </p:nvSpPr>
        <p:spPr>
          <a:xfrm>
            <a:off x="7264360" y="6680832"/>
            <a:ext cx="557630" cy="557630"/>
          </a:xfrm>
          <a:custGeom>
            <a:avLst/>
            <a:gdLst/>
            <a:ahLst/>
            <a:cxnLst/>
            <a:rect l="l" t="t" r="r" b="b"/>
            <a:pathLst>
              <a:path w="557630" h="557630">
                <a:moveTo>
                  <a:pt x="0" y="0"/>
                </a:moveTo>
                <a:lnTo>
                  <a:pt x="557630" y="0"/>
                </a:lnTo>
                <a:lnTo>
                  <a:pt x="557630" y="557630"/>
                </a:lnTo>
                <a:lnTo>
                  <a:pt x="0" y="55763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05" name="Freeform 105"/>
          <p:cNvSpPr/>
          <p:nvPr/>
        </p:nvSpPr>
        <p:spPr>
          <a:xfrm>
            <a:off x="7264360" y="7936945"/>
            <a:ext cx="570184" cy="570184"/>
          </a:xfrm>
          <a:custGeom>
            <a:avLst/>
            <a:gdLst/>
            <a:ahLst/>
            <a:cxnLst/>
            <a:rect l="l" t="t" r="r" b="b"/>
            <a:pathLst>
              <a:path w="570184" h="570184">
                <a:moveTo>
                  <a:pt x="0" y="0"/>
                </a:moveTo>
                <a:lnTo>
                  <a:pt x="570185" y="0"/>
                </a:lnTo>
                <a:lnTo>
                  <a:pt x="570185" y="570184"/>
                </a:lnTo>
                <a:lnTo>
                  <a:pt x="0" y="57018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06" name="Freeform 106"/>
          <p:cNvSpPr/>
          <p:nvPr/>
        </p:nvSpPr>
        <p:spPr>
          <a:xfrm>
            <a:off x="7342439" y="7437804"/>
            <a:ext cx="381834" cy="386672"/>
          </a:xfrm>
          <a:custGeom>
            <a:avLst/>
            <a:gdLst/>
            <a:ahLst/>
            <a:cxnLst/>
            <a:rect l="l" t="t" r="r" b="b"/>
            <a:pathLst>
              <a:path w="381834" h="386672">
                <a:moveTo>
                  <a:pt x="0" y="0"/>
                </a:moveTo>
                <a:lnTo>
                  <a:pt x="381834" y="0"/>
                </a:lnTo>
                <a:lnTo>
                  <a:pt x="381834" y="386672"/>
                </a:lnTo>
                <a:lnTo>
                  <a:pt x="0" y="3866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633" r="-633"/>
            </a:stretch>
          </a:blipFill>
        </p:spPr>
      </p:sp>
      <p:sp>
        <p:nvSpPr>
          <p:cNvPr id="107" name="Freeform 107"/>
          <p:cNvSpPr/>
          <p:nvPr/>
        </p:nvSpPr>
        <p:spPr>
          <a:xfrm>
            <a:off x="7264360" y="8585178"/>
            <a:ext cx="508635" cy="569970"/>
          </a:xfrm>
          <a:custGeom>
            <a:avLst/>
            <a:gdLst/>
            <a:ahLst/>
            <a:cxnLst/>
            <a:rect l="l" t="t" r="r" b="b"/>
            <a:pathLst>
              <a:path w="508635" h="569970">
                <a:moveTo>
                  <a:pt x="0" y="0"/>
                </a:moveTo>
                <a:lnTo>
                  <a:pt x="508635" y="0"/>
                </a:lnTo>
                <a:lnTo>
                  <a:pt x="508635" y="569970"/>
                </a:lnTo>
                <a:lnTo>
                  <a:pt x="0" y="5699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72114" r="-75607" b="-183070"/>
            </a:stretch>
          </a:blipFill>
        </p:spPr>
      </p:sp>
      <p:sp>
        <p:nvSpPr>
          <p:cNvPr id="108" name="TextBox 108"/>
          <p:cNvSpPr txBox="1"/>
          <p:nvPr/>
        </p:nvSpPr>
        <p:spPr>
          <a:xfrm>
            <a:off x="711606" y="6667802"/>
            <a:ext cx="1029643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IMD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7296282" y="1023149"/>
            <a:ext cx="10775438" cy="4609594"/>
            <a:chOff x="0" y="0"/>
            <a:chExt cx="3133546" cy="1340491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133546" cy="1340491"/>
            </a:xfrm>
            <a:custGeom>
              <a:avLst/>
              <a:gdLst/>
              <a:ahLst/>
              <a:cxnLst/>
              <a:rect l="l" t="t" r="r" b="b"/>
              <a:pathLst>
                <a:path w="3133546" h="1340491">
                  <a:moveTo>
                    <a:pt x="10777" y="0"/>
                  </a:moveTo>
                  <a:lnTo>
                    <a:pt x="3122769" y="0"/>
                  </a:lnTo>
                  <a:cubicBezTo>
                    <a:pt x="3128721" y="0"/>
                    <a:pt x="3133546" y="4825"/>
                    <a:pt x="3133546" y="10777"/>
                  </a:cubicBezTo>
                  <a:lnTo>
                    <a:pt x="3133546" y="1329714"/>
                  </a:lnTo>
                  <a:cubicBezTo>
                    <a:pt x="3133546" y="1332572"/>
                    <a:pt x="3132411" y="1335313"/>
                    <a:pt x="3130389" y="1337334"/>
                  </a:cubicBezTo>
                  <a:cubicBezTo>
                    <a:pt x="3128368" y="1339355"/>
                    <a:pt x="3125627" y="1340491"/>
                    <a:pt x="3122769" y="1340491"/>
                  </a:cubicBezTo>
                  <a:lnTo>
                    <a:pt x="10777" y="1340491"/>
                  </a:lnTo>
                  <a:cubicBezTo>
                    <a:pt x="4825" y="1340491"/>
                    <a:pt x="0" y="1335666"/>
                    <a:pt x="0" y="1329714"/>
                  </a:cubicBezTo>
                  <a:lnTo>
                    <a:pt x="0" y="10777"/>
                  </a:lnTo>
                  <a:cubicBezTo>
                    <a:pt x="0" y="4825"/>
                    <a:pt x="4825" y="0"/>
                    <a:pt x="10777" y="0"/>
                  </a:cubicBezTo>
                  <a:close/>
                </a:path>
              </a:pathLst>
            </a:custGeom>
            <a:ln w="19050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0" y="-38100"/>
              <a:ext cx="3133546" cy="1378591"/>
            </a:xfrm>
            <a:prstGeom prst="rect">
              <a:avLst/>
            </a:prstGeom>
          </p:spPr>
          <p:txBody>
            <a:bodyPr lIns="46008" tIns="46008" rIns="46008" bIns="46008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438413" y="1352349"/>
            <a:ext cx="10490755" cy="4168596"/>
            <a:chOff x="0" y="0"/>
            <a:chExt cx="2532670" cy="1006379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2532670" cy="1006379"/>
            </a:xfrm>
            <a:custGeom>
              <a:avLst/>
              <a:gdLst/>
              <a:ahLst/>
              <a:cxnLst/>
              <a:rect l="l" t="t" r="r" b="b"/>
              <a:pathLst>
                <a:path w="2532670" h="1006379">
                  <a:moveTo>
                    <a:pt x="11070" y="0"/>
                  </a:moveTo>
                  <a:lnTo>
                    <a:pt x="2521601" y="0"/>
                  </a:lnTo>
                  <a:cubicBezTo>
                    <a:pt x="2524536" y="0"/>
                    <a:pt x="2527352" y="1166"/>
                    <a:pt x="2529428" y="3242"/>
                  </a:cubicBezTo>
                  <a:cubicBezTo>
                    <a:pt x="2531504" y="5318"/>
                    <a:pt x="2532670" y="8134"/>
                    <a:pt x="2532670" y="11070"/>
                  </a:cubicBezTo>
                  <a:lnTo>
                    <a:pt x="2532670" y="995310"/>
                  </a:lnTo>
                  <a:cubicBezTo>
                    <a:pt x="2532670" y="998246"/>
                    <a:pt x="2531504" y="1001061"/>
                    <a:pt x="2529428" y="1003137"/>
                  </a:cubicBezTo>
                  <a:cubicBezTo>
                    <a:pt x="2527352" y="1005213"/>
                    <a:pt x="2524536" y="1006379"/>
                    <a:pt x="2521601" y="1006379"/>
                  </a:cubicBezTo>
                  <a:lnTo>
                    <a:pt x="11070" y="1006379"/>
                  </a:lnTo>
                  <a:cubicBezTo>
                    <a:pt x="8134" y="1006379"/>
                    <a:pt x="5318" y="1005213"/>
                    <a:pt x="3242" y="1003137"/>
                  </a:cubicBezTo>
                  <a:cubicBezTo>
                    <a:pt x="1166" y="1001061"/>
                    <a:pt x="0" y="998246"/>
                    <a:pt x="0" y="995310"/>
                  </a:cubicBezTo>
                  <a:lnTo>
                    <a:pt x="0" y="11070"/>
                  </a:lnTo>
                  <a:cubicBezTo>
                    <a:pt x="0" y="8134"/>
                    <a:pt x="1166" y="5318"/>
                    <a:pt x="3242" y="3242"/>
                  </a:cubicBezTo>
                  <a:cubicBezTo>
                    <a:pt x="5318" y="1166"/>
                    <a:pt x="8134" y="0"/>
                    <a:pt x="11070" y="0"/>
                  </a:cubicBezTo>
                  <a:close/>
                </a:path>
              </a:pathLst>
            </a:custGeom>
            <a:solidFill>
              <a:srgbClr val="C2DCFF">
                <a:alpha val="29804"/>
              </a:srgbClr>
            </a:solidFill>
            <a:ln w="28575" cap="sq">
              <a:solidFill>
                <a:srgbClr val="264564">
                  <a:alpha val="29804"/>
                </a:srgbClr>
              </a:solidFill>
              <a:prstDash val="solid"/>
              <a:miter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2532670" cy="1044479"/>
            </a:xfrm>
            <a:prstGeom prst="rect">
              <a:avLst/>
            </a:prstGeom>
          </p:spPr>
          <p:txBody>
            <a:bodyPr lIns="47860" tIns="47860" rIns="47860" bIns="4786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15" name="AutoShape 115"/>
          <p:cNvSpPr/>
          <p:nvPr/>
        </p:nvSpPr>
        <p:spPr>
          <a:xfrm flipV="1">
            <a:off x="7438573" y="1830339"/>
            <a:ext cx="10476094" cy="504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6" name="AutoShape 116"/>
          <p:cNvSpPr/>
          <p:nvPr/>
        </p:nvSpPr>
        <p:spPr>
          <a:xfrm flipV="1">
            <a:off x="7438490" y="2265532"/>
            <a:ext cx="10490678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7" name="AutoShape 117"/>
          <p:cNvSpPr/>
          <p:nvPr/>
        </p:nvSpPr>
        <p:spPr>
          <a:xfrm>
            <a:off x="7438474" y="3120718"/>
            <a:ext cx="10476225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8" name="AutoShape 118"/>
          <p:cNvSpPr/>
          <p:nvPr/>
        </p:nvSpPr>
        <p:spPr>
          <a:xfrm>
            <a:off x="7438474" y="3525085"/>
            <a:ext cx="10476206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9" name="AutoShape 119"/>
          <p:cNvSpPr/>
          <p:nvPr/>
        </p:nvSpPr>
        <p:spPr>
          <a:xfrm>
            <a:off x="7438413" y="4359606"/>
            <a:ext cx="10476327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0" name="AutoShape 120"/>
          <p:cNvSpPr/>
          <p:nvPr/>
        </p:nvSpPr>
        <p:spPr>
          <a:xfrm>
            <a:off x="7438474" y="4767700"/>
            <a:ext cx="10476130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1" name="AutoShape 121"/>
          <p:cNvSpPr/>
          <p:nvPr/>
        </p:nvSpPr>
        <p:spPr>
          <a:xfrm flipH="1">
            <a:off x="9978619" y="1352349"/>
            <a:ext cx="0" cy="4167374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" name="AutoShape 122"/>
          <p:cNvSpPr/>
          <p:nvPr/>
        </p:nvSpPr>
        <p:spPr>
          <a:xfrm>
            <a:off x="12475075" y="1352349"/>
            <a:ext cx="0" cy="3817519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3" name="AutoShape 123"/>
          <p:cNvSpPr/>
          <p:nvPr/>
        </p:nvSpPr>
        <p:spPr>
          <a:xfrm flipV="1">
            <a:off x="7444794" y="2690565"/>
            <a:ext cx="10490678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4" name="AutoShape 124"/>
          <p:cNvSpPr/>
          <p:nvPr/>
        </p:nvSpPr>
        <p:spPr>
          <a:xfrm>
            <a:off x="7438398" y="3942346"/>
            <a:ext cx="10476206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5" name="AutoShape 125"/>
          <p:cNvSpPr/>
          <p:nvPr/>
        </p:nvSpPr>
        <p:spPr>
          <a:xfrm>
            <a:off x="7459342" y="5169869"/>
            <a:ext cx="10476130" cy="0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6" name="AutoShape 126"/>
          <p:cNvSpPr/>
          <p:nvPr/>
        </p:nvSpPr>
        <p:spPr>
          <a:xfrm>
            <a:off x="15017831" y="1352349"/>
            <a:ext cx="0" cy="4178251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7" name="Freeform 127"/>
          <p:cNvSpPr/>
          <p:nvPr/>
        </p:nvSpPr>
        <p:spPr>
          <a:xfrm>
            <a:off x="7569703" y="1889420"/>
            <a:ext cx="526157" cy="282468"/>
          </a:xfrm>
          <a:custGeom>
            <a:avLst/>
            <a:gdLst/>
            <a:ahLst/>
            <a:cxnLst/>
            <a:rect l="l" t="t" r="r" b="b"/>
            <a:pathLst>
              <a:path w="526157" h="282468">
                <a:moveTo>
                  <a:pt x="0" y="0"/>
                </a:moveTo>
                <a:lnTo>
                  <a:pt x="526157" y="0"/>
                </a:lnTo>
                <a:lnTo>
                  <a:pt x="526157" y="282468"/>
                </a:lnTo>
                <a:lnTo>
                  <a:pt x="0" y="2824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t="-99220"/>
            </a:stretch>
          </a:blipFill>
        </p:spPr>
      </p:sp>
      <p:sp>
        <p:nvSpPr>
          <p:cNvPr id="128" name="Freeform 128"/>
          <p:cNvSpPr/>
          <p:nvPr/>
        </p:nvSpPr>
        <p:spPr>
          <a:xfrm>
            <a:off x="7797157" y="2290594"/>
            <a:ext cx="112352" cy="345700"/>
          </a:xfrm>
          <a:custGeom>
            <a:avLst/>
            <a:gdLst/>
            <a:ahLst/>
            <a:cxnLst/>
            <a:rect l="l" t="t" r="r" b="b"/>
            <a:pathLst>
              <a:path w="112352" h="345700">
                <a:moveTo>
                  <a:pt x="0" y="0"/>
                </a:moveTo>
                <a:lnTo>
                  <a:pt x="112352" y="0"/>
                </a:lnTo>
                <a:lnTo>
                  <a:pt x="112352" y="345700"/>
                </a:lnTo>
                <a:lnTo>
                  <a:pt x="0" y="345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129"/>
          <p:cNvSpPr/>
          <p:nvPr/>
        </p:nvSpPr>
        <p:spPr>
          <a:xfrm>
            <a:off x="7740028" y="2737304"/>
            <a:ext cx="218462" cy="341346"/>
          </a:xfrm>
          <a:custGeom>
            <a:avLst/>
            <a:gdLst/>
            <a:ahLst/>
            <a:cxnLst/>
            <a:rect l="l" t="t" r="r" b="b"/>
            <a:pathLst>
              <a:path w="218462" h="341346">
                <a:moveTo>
                  <a:pt x="0" y="0"/>
                </a:moveTo>
                <a:lnTo>
                  <a:pt x="218462" y="0"/>
                </a:lnTo>
                <a:lnTo>
                  <a:pt x="218462" y="341346"/>
                </a:lnTo>
                <a:lnTo>
                  <a:pt x="0" y="341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0" name="Freeform 130"/>
          <p:cNvSpPr/>
          <p:nvPr/>
        </p:nvSpPr>
        <p:spPr>
          <a:xfrm>
            <a:off x="7667743" y="3165121"/>
            <a:ext cx="371181" cy="308081"/>
          </a:xfrm>
          <a:custGeom>
            <a:avLst/>
            <a:gdLst/>
            <a:ahLst/>
            <a:cxnLst/>
            <a:rect l="l" t="t" r="r" b="b"/>
            <a:pathLst>
              <a:path w="371181" h="308081">
                <a:moveTo>
                  <a:pt x="0" y="0"/>
                </a:moveTo>
                <a:lnTo>
                  <a:pt x="371181" y="0"/>
                </a:lnTo>
                <a:lnTo>
                  <a:pt x="371181" y="308081"/>
                </a:lnTo>
                <a:lnTo>
                  <a:pt x="0" y="30808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131" name="Freeform 131"/>
          <p:cNvSpPr/>
          <p:nvPr/>
        </p:nvSpPr>
        <p:spPr>
          <a:xfrm>
            <a:off x="7662505" y="3593959"/>
            <a:ext cx="433355" cy="279514"/>
          </a:xfrm>
          <a:custGeom>
            <a:avLst/>
            <a:gdLst/>
            <a:ahLst/>
            <a:cxnLst/>
            <a:rect l="l" t="t" r="r" b="b"/>
            <a:pathLst>
              <a:path w="433355" h="279514">
                <a:moveTo>
                  <a:pt x="0" y="0"/>
                </a:moveTo>
                <a:lnTo>
                  <a:pt x="433355" y="0"/>
                </a:lnTo>
                <a:lnTo>
                  <a:pt x="433355" y="279513"/>
                </a:lnTo>
                <a:lnTo>
                  <a:pt x="0" y="279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32" name="Freeform 132"/>
          <p:cNvSpPr/>
          <p:nvPr/>
        </p:nvSpPr>
        <p:spPr>
          <a:xfrm>
            <a:off x="7724282" y="3996616"/>
            <a:ext cx="309801" cy="309801"/>
          </a:xfrm>
          <a:custGeom>
            <a:avLst/>
            <a:gdLst/>
            <a:ahLst/>
            <a:cxnLst/>
            <a:rect l="l" t="t" r="r" b="b"/>
            <a:pathLst>
              <a:path w="309801" h="309801">
                <a:moveTo>
                  <a:pt x="0" y="0"/>
                </a:moveTo>
                <a:lnTo>
                  <a:pt x="309801" y="0"/>
                </a:lnTo>
                <a:lnTo>
                  <a:pt x="309801" y="309801"/>
                </a:lnTo>
                <a:lnTo>
                  <a:pt x="0" y="309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33" name="Freeform 133"/>
          <p:cNvSpPr/>
          <p:nvPr/>
        </p:nvSpPr>
        <p:spPr>
          <a:xfrm>
            <a:off x="7724282" y="4413877"/>
            <a:ext cx="325908" cy="293317"/>
          </a:xfrm>
          <a:custGeom>
            <a:avLst/>
            <a:gdLst/>
            <a:ahLst/>
            <a:cxnLst/>
            <a:rect l="l" t="t" r="r" b="b"/>
            <a:pathLst>
              <a:path w="325908" h="293317">
                <a:moveTo>
                  <a:pt x="0" y="0"/>
                </a:moveTo>
                <a:lnTo>
                  <a:pt x="325908" y="0"/>
                </a:lnTo>
                <a:lnTo>
                  <a:pt x="325908" y="293317"/>
                </a:lnTo>
                <a:lnTo>
                  <a:pt x="0" y="293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34" name="Freeform 134"/>
          <p:cNvSpPr/>
          <p:nvPr/>
        </p:nvSpPr>
        <p:spPr>
          <a:xfrm>
            <a:off x="7715958" y="4812103"/>
            <a:ext cx="387102" cy="319360"/>
          </a:xfrm>
          <a:custGeom>
            <a:avLst/>
            <a:gdLst/>
            <a:ahLst/>
            <a:cxnLst/>
            <a:rect l="l" t="t" r="r" b="b"/>
            <a:pathLst>
              <a:path w="387102" h="319360">
                <a:moveTo>
                  <a:pt x="0" y="0"/>
                </a:moveTo>
                <a:lnTo>
                  <a:pt x="387103" y="0"/>
                </a:lnTo>
                <a:lnTo>
                  <a:pt x="387103" y="319360"/>
                </a:lnTo>
                <a:lnTo>
                  <a:pt x="0" y="3193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35" name="Freeform 135"/>
          <p:cNvSpPr/>
          <p:nvPr/>
        </p:nvSpPr>
        <p:spPr>
          <a:xfrm>
            <a:off x="7764939" y="5142688"/>
            <a:ext cx="387102" cy="332908"/>
          </a:xfrm>
          <a:custGeom>
            <a:avLst/>
            <a:gdLst/>
            <a:ahLst/>
            <a:cxnLst/>
            <a:rect l="l" t="t" r="r" b="b"/>
            <a:pathLst>
              <a:path w="387102" h="332908">
                <a:moveTo>
                  <a:pt x="0" y="0"/>
                </a:moveTo>
                <a:lnTo>
                  <a:pt x="387102" y="0"/>
                </a:lnTo>
                <a:lnTo>
                  <a:pt x="387102" y="332908"/>
                </a:lnTo>
                <a:lnTo>
                  <a:pt x="0" y="332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36" name="Freeform 136"/>
          <p:cNvSpPr/>
          <p:nvPr/>
        </p:nvSpPr>
        <p:spPr>
          <a:xfrm>
            <a:off x="520806" y="6588126"/>
            <a:ext cx="381601" cy="381601"/>
          </a:xfrm>
          <a:custGeom>
            <a:avLst/>
            <a:gdLst/>
            <a:ahLst/>
            <a:cxnLst/>
            <a:rect l="l" t="t" r="r" b="b"/>
            <a:pathLst>
              <a:path w="381601" h="381601">
                <a:moveTo>
                  <a:pt x="0" y="0"/>
                </a:moveTo>
                <a:lnTo>
                  <a:pt x="381601" y="0"/>
                </a:lnTo>
                <a:lnTo>
                  <a:pt x="381601" y="381601"/>
                </a:lnTo>
                <a:lnTo>
                  <a:pt x="0" y="381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37" name="Freeform 137"/>
          <p:cNvSpPr/>
          <p:nvPr/>
        </p:nvSpPr>
        <p:spPr>
          <a:xfrm>
            <a:off x="582774" y="8222037"/>
            <a:ext cx="238616" cy="361539"/>
          </a:xfrm>
          <a:custGeom>
            <a:avLst/>
            <a:gdLst/>
            <a:ahLst/>
            <a:cxnLst/>
            <a:rect l="l" t="t" r="r" b="b"/>
            <a:pathLst>
              <a:path w="238616" h="361539">
                <a:moveTo>
                  <a:pt x="0" y="0"/>
                </a:moveTo>
                <a:lnTo>
                  <a:pt x="238615" y="0"/>
                </a:lnTo>
                <a:lnTo>
                  <a:pt x="238615" y="361539"/>
                </a:lnTo>
                <a:lnTo>
                  <a:pt x="0" y="361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38" name="Freeform 138"/>
          <p:cNvSpPr/>
          <p:nvPr/>
        </p:nvSpPr>
        <p:spPr>
          <a:xfrm>
            <a:off x="14174446" y="6818269"/>
            <a:ext cx="341491" cy="341491"/>
          </a:xfrm>
          <a:custGeom>
            <a:avLst/>
            <a:gdLst/>
            <a:ahLst/>
            <a:cxnLst/>
            <a:rect l="l" t="t" r="r" b="b"/>
            <a:pathLst>
              <a:path w="341491" h="341491">
                <a:moveTo>
                  <a:pt x="0" y="0"/>
                </a:moveTo>
                <a:lnTo>
                  <a:pt x="341491" y="0"/>
                </a:lnTo>
                <a:lnTo>
                  <a:pt x="341491" y="341491"/>
                </a:lnTo>
                <a:lnTo>
                  <a:pt x="0" y="341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39" name="Freeform 139"/>
          <p:cNvSpPr/>
          <p:nvPr/>
        </p:nvSpPr>
        <p:spPr>
          <a:xfrm>
            <a:off x="14225761" y="7415296"/>
            <a:ext cx="290175" cy="475698"/>
          </a:xfrm>
          <a:custGeom>
            <a:avLst/>
            <a:gdLst/>
            <a:ahLst/>
            <a:cxnLst/>
            <a:rect l="l" t="t" r="r" b="b"/>
            <a:pathLst>
              <a:path w="290175" h="475698">
                <a:moveTo>
                  <a:pt x="0" y="0"/>
                </a:moveTo>
                <a:lnTo>
                  <a:pt x="290176" y="0"/>
                </a:lnTo>
                <a:lnTo>
                  <a:pt x="290176" y="475698"/>
                </a:lnTo>
                <a:lnTo>
                  <a:pt x="0" y="475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140" name="Freeform 140"/>
          <p:cNvSpPr/>
          <p:nvPr/>
        </p:nvSpPr>
        <p:spPr>
          <a:xfrm>
            <a:off x="14162456" y="8237114"/>
            <a:ext cx="475923" cy="290313"/>
          </a:xfrm>
          <a:custGeom>
            <a:avLst/>
            <a:gdLst/>
            <a:ahLst/>
            <a:cxnLst/>
            <a:rect l="l" t="t" r="r" b="b"/>
            <a:pathLst>
              <a:path w="475923" h="290313">
                <a:moveTo>
                  <a:pt x="0" y="0"/>
                </a:moveTo>
                <a:lnTo>
                  <a:pt x="475923" y="0"/>
                </a:lnTo>
                <a:lnTo>
                  <a:pt x="475923" y="290313"/>
                </a:lnTo>
                <a:lnTo>
                  <a:pt x="0" y="290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41" name="Freeform 141"/>
          <p:cNvSpPr/>
          <p:nvPr/>
        </p:nvSpPr>
        <p:spPr>
          <a:xfrm>
            <a:off x="14200350" y="8947522"/>
            <a:ext cx="405553" cy="488618"/>
          </a:xfrm>
          <a:custGeom>
            <a:avLst/>
            <a:gdLst/>
            <a:ahLst/>
            <a:cxnLst/>
            <a:rect l="l" t="t" r="r" b="b"/>
            <a:pathLst>
              <a:path w="405553" h="488618">
                <a:moveTo>
                  <a:pt x="0" y="0"/>
                </a:moveTo>
                <a:lnTo>
                  <a:pt x="405552" y="0"/>
                </a:lnTo>
                <a:lnTo>
                  <a:pt x="405552" y="488617"/>
                </a:lnTo>
                <a:lnTo>
                  <a:pt x="0" y="488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142" name="TextBox 142"/>
          <p:cNvSpPr txBox="1"/>
          <p:nvPr/>
        </p:nvSpPr>
        <p:spPr>
          <a:xfrm>
            <a:off x="15353180" y="8973463"/>
            <a:ext cx="1113596" cy="20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  <a:spcBef>
                <a:spcPct val="0"/>
              </a:spcBef>
            </a:pPr>
            <a:r>
              <a:rPr lang="en-US" sz="121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~67%(2024)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5353180" y="8222394"/>
            <a:ext cx="1113596" cy="20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  <a:spcBef>
                <a:spcPct val="0"/>
              </a:spcBef>
            </a:pPr>
            <a:r>
              <a:rPr lang="en-US" sz="121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~52%(2024)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5353180" y="7512671"/>
            <a:ext cx="1113596" cy="20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  <a:spcBef>
                <a:spcPct val="0"/>
              </a:spcBef>
            </a:pPr>
            <a:r>
              <a:rPr lang="en-US" sz="121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~1.2B (2024)</a:t>
            </a:r>
          </a:p>
        </p:txBody>
      </p:sp>
      <p:sp>
        <p:nvSpPr>
          <p:cNvPr id="145" name="AutoShape 145"/>
          <p:cNvSpPr/>
          <p:nvPr/>
        </p:nvSpPr>
        <p:spPr>
          <a:xfrm flipH="1">
            <a:off x="15366261" y="6082395"/>
            <a:ext cx="22180" cy="3520012"/>
          </a:xfrm>
          <a:prstGeom prst="line">
            <a:avLst/>
          </a:prstGeom>
          <a:ln w="28575" cap="flat">
            <a:solidFill>
              <a:srgbClr val="26456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6" name="Freeform 146"/>
          <p:cNvSpPr/>
          <p:nvPr/>
        </p:nvSpPr>
        <p:spPr>
          <a:xfrm>
            <a:off x="503294" y="7659631"/>
            <a:ext cx="373801" cy="373801"/>
          </a:xfrm>
          <a:custGeom>
            <a:avLst/>
            <a:gdLst/>
            <a:ahLst/>
            <a:cxnLst/>
            <a:rect l="l" t="t" r="r" b="b"/>
            <a:pathLst>
              <a:path w="373801" h="373801">
                <a:moveTo>
                  <a:pt x="0" y="0"/>
                </a:moveTo>
                <a:lnTo>
                  <a:pt x="373801" y="0"/>
                </a:lnTo>
                <a:lnTo>
                  <a:pt x="373801" y="373801"/>
                </a:lnTo>
                <a:lnTo>
                  <a:pt x="0" y="37380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147" name="Freeform 147"/>
          <p:cNvSpPr/>
          <p:nvPr/>
        </p:nvSpPr>
        <p:spPr>
          <a:xfrm>
            <a:off x="532918" y="7102664"/>
            <a:ext cx="357377" cy="357377"/>
          </a:xfrm>
          <a:custGeom>
            <a:avLst/>
            <a:gdLst/>
            <a:ahLst/>
            <a:cxnLst/>
            <a:rect l="l" t="t" r="r" b="b"/>
            <a:pathLst>
              <a:path w="357377" h="357377">
                <a:moveTo>
                  <a:pt x="0" y="0"/>
                </a:moveTo>
                <a:lnTo>
                  <a:pt x="357377" y="0"/>
                </a:lnTo>
                <a:lnTo>
                  <a:pt x="357377" y="357377"/>
                </a:lnTo>
                <a:lnTo>
                  <a:pt x="0" y="357377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148" name="Freeform 148"/>
          <p:cNvSpPr/>
          <p:nvPr/>
        </p:nvSpPr>
        <p:spPr>
          <a:xfrm>
            <a:off x="513156" y="9270042"/>
            <a:ext cx="367409" cy="353057"/>
          </a:xfrm>
          <a:custGeom>
            <a:avLst/>
            <a:gdLst/>
            <a:ahLst/>
            <a:cxnLst/>
            <a:rect l="l" t="t" r="r" b="b"/>
            <a:pathLst>
              <a:path w="367409" h="353057">
                <a:moveTo>
                  <a:pt x="0" y="0"/>
                </a:moveTo>
                <a:lnTo>
                  <a:pt x="367409" y="0"/>
                </a:lnTo>
                <a:lnTo>
                  <a:pt x="367409" y="353057"/>
                </a:lnTo>
                <a:lnTo>
                  <a:pt x="0" y="35305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149" name="Freeform 149"/>
          <p:cNvSpPr/>
          <p:nvPr/>
        </p:nvSpPr>
        <p:spPr>
          <a:xfrm>
            <a:off x="540466" y="8755671"/>
            <a:ext cx="312789" cy="358143"/>
          </a:xfrm>
          <a:custGeom>
            <a:avLst/>
            <a:gdLst/>
            <a:ahLst/>
            <a:cxnLst/>
            <a:rect l="l" t="t" r="r" b="b"/>
            <a:pathLst>
              <a:path w="312789" h="358143">
                <a:moveTo>
                  <a:pt x="0" y="0"/>
                </a:moveTo>
                <a:lnTo>
                  <a:pt x="312789" y="0"/>
                </a:lnTo>
                <a:lnTo>
                  <a:pt x="312789" y="358144"/>
                </a:lnTo>
                <a:lnTo>
                  <a:pt x="0" y="35814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150" name="TextBox 150"/>
          <p:cNvSpPr txBox="1"/>
          <p:nvPr/>
        </p:nvSpPr>
        <p:spPr>
          <a:xfrm>
            <a:off x="13909136" y="6196363"/>
            <a:ext cx="1458485" cy="286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METRIC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5607226" y="6153555"/>
            <a:ext cx="770971" cy="48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87"/>
              </a:lnSpc>
            </a:pPr>
            <a:r>
              <a:rPr lang="en-US" sz="159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VALUE/ INSIGHT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564428" y="7184445"/>
            <a:ext cx="1471841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Open-Meteo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888741" y="8273834"/>
            <a:ext cx="836659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BigDataCloud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960546" y="6605594"/>
            <a:ext cx="2711595" cy="34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0"/>
              </a:lnSpc>
              <a:spcBef>
                <a:spcPct val="0"/>
              </a:spcBef>
            </a:pPr>
            <a:r>
              <a:rPr lang="en-US" sz="993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Primary, whitelisting pending — station obs, nowcast, district warnings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2093024" y="7101101"/>
            <a:ext cx="2446640" cy="34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0"/>
              </a:lnSpc>
              <a:spcBef>
                <a:spcPct val="0"/>
              </a:spcBef>
            </a:pPr>
            <a:r>
              <a:rPr lang="en-US" sz="993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Fallback, keyless — the prototype runs on this today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877095" y="9240622"/>
            <a:ext cx="859952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INCOIS / Survey of India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896299" y="7745150"/>
            <a:ext cx="786042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RainViewer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677911" y="8793771"/>
            <a:ext cx="1222818" cy="18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CPCB · TomTom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452263" y="7764399"/>
            <a:ext cx="1515940" cy="17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0"/>
              </a:lnSpc>
              <a:spcBef>
                <a:spcPct val="0"/>
              </a:spcBef>
            </a:pPr>
            <a:r>
              <a:rPr lang="en-US" sz="993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Radar frames and tiles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2364688" y="8734581"/>
            <a:ext cx="1749474" cy="34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0"/>
              </a:lnSpc>
              <a:spcBef>
                <a:spcPct val="0"/>
              </a:spcBef>
            </a:pPr>
            <a:r>
              <a:rPr lang="en-US" sz="993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Optional, keyed — station AQI, real traffic flow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2060781" y="9260222"/>
            <a:ext cx="2609847" cy="34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0"/>
              </a:lnSpc>
              <a:spcBef>
                <a:spcPct val="0"/>
              </a:spcBef>
            </a:pPr>
            <a:r>
              <a:rPr lang="en-US" sz="993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Named in the tides disclaimer as the authoritative source we are not using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2549016" y="8274188"/>
            <a:ext cx="1380820" cy="17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0"/>
              </a:lnSpc>
              <a:spcBef>
                <a:spcPct val="0"/>
              </a:spcBef>
            </a:pPr>
            <a:r>
              <a:rPr lang="en-US" sz="993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Reverse geocoding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5026744" y="99992"/>
            <a:ext cx="8384455" cy="873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 dirty="0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RESEARCH AND REFERENCES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437144" y="1352349"/>
            <a:ext cx="1382250" cy="324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7"/>
              </a:lnSpc>
              <a:spcBef>
                <a:spcPct val="0"/>
              </a:spcBef>
            </a:pPr>
            <a:r>
              <a:rPr lang="en-US" sz="2048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OUR WORK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494341" y="5606125"/>
            <a:ext cx="1885606" cy="28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5"/>
              </a:lnSpc>
              <a:spcBef>
                <a:spcPct val="0"/>
              </a:spcBef>
            </a:pPr>
            <a:r>
              <a:rPr lang="en-US" sz="1553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DATA SOURCES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457635" y="6124663"/>
            <a:ext cx="1320153" cy="28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SOURCES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7404957" y="1029829"/>
            <a:ext cx="3552676" cy="28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STANDARDS &amp; SCIENCE WE IMPLEMENT 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2737372" y="6066361"/>
            <a:ext cx="1320153" cy="28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ROLE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4926623" y="6101490"/>
            <a:ext cx="1773618" cy="286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ENDPOINT/NOTES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5142803" y="6607184"/>
            <a:ext cx="1557438" cy="20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1"/>
              </a:lnSpc>
              <a:spcBef>
                <a:spcPct val="0"/>
              </a:spcBef>
            </a:pPr>
            <a:r>
              <a:rPr lang="en-US" sz="1151">
                <a:solidFill>
                  <a:srgbClr val="1800AD"/>
                </a:solidFill>
                <a:latin typeface="Caladea"/>
                <a:ea typeface="Caladea"/>
                <a:cs typeface="Caladea"/>
                <a:sym typeface="Caladea"/>
              </a:rPr>
              <a:t>mausam.imd.gov.in/api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142803" y="7215862"/>
            <a:ext cx="1557438" cy="20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1"/>
              </a:lnSpc>
              <a:spcBef>
                <a:spcPct val="0"/>
              </a:spcBef>
            </a:pPr>
            <a:r>
              <a:rPr lang="en-US" sz="1151">
                <a:solidFill>
                  <a:srgbClr val="1800AD"/>
                </a:solidFill>
                <a:latin typeface="Caladea"/>
                <a:ea typeface="Caladea"/>
                <a:cs typeface="Caladea"/>
                <a:sym typeface="Caladea"/>
              </a:rPr>
              <a:t>api.open-meteo.com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5142803" y="7691928"/>
            <a:ext cx="1557438" cy="20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1"/>
              </a:lnSpc>
              <a:spcBef>
                <a:spcPct val="0"/>
              </a:spcBef>
            </a:pPr>
            <a:r>
              <a:rPr lang="en-US" sz="1151">
                <a:solidFill>
                  <a:srgbClr val="1800AD"/>
                </a:solidFill>
                <a:latin typeface="Caladea"/>
                <a:ea typeface="Caladea"/>
                <a:cs typeface="Caladea"/>
                <a:sym typeface="Caladea"/>
              </a:rPr>
              <a:t>api.rainviewer.com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5142803" y="8167993"/>
            <a:ext cx="1557438" cy="20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1"/>
              </a:lnSpc>
              <a:spcBef>
                <a:spcPct val="0"/>
              </a:spcBef>
            </a:pPr>
            <a:r>
              <a:rPr lang="en-US" sz="1151">
                <a:solidFill>
                  <a:srgbClr val="1800AD"/>
                </a:solidFill>
                <a:latin typeface="Caladea"/>
                <a:ea typeface="Caladea"/>
                <a:cs typeface="Caladea"/>
                <a:sym typeface="Caladea"/>
              </a:rPr>
              <a:t>api.bigdatacloud.com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5142803" y="8868651"/>
            <a:ext cx="1557438" cy="20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1"/>
              </a:lnSpc>
              <a:spcBef>
                <a:spcPct val="0"/>
              </a:spcBef>
            </a:pPr>
            <a:r>
              <a:rPr lang="en-US" sz="1151">
                <a:solidFill>
                  <a:srgbClr val="1800AD"/>
                </a:solidFill>
                <a:latin typeface="Caladea"/>
                <a:ea typeface="Caladea"/>
                <a:cs typeface="Caladea"/>
                <a:sym typeface="Caladea"/>
              </a:rPr>
              <a:t>api.bigdatacloud.com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7595211" y="6164463"/>
            <a:ext cx="963337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PRODUCT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7734895" y="6819149"/>
            <a:ext cx="1033383" cy="3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"/>
              </a:lnSpc>
            </a:pPr>
            <a:r>
              <a:rPr lang="en-US" sz="12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Mausam (IMD, today)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7778692" y="7486140"/>
            <a:ext cx="1042634" cy="3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"/>
              </a:lnSpc>
            </a:pPr>
            <a:r>
              <a:rPr lang="en-US" sz="12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AccuWeather/ Weather.com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7715958" y="8594908"/>
            <a:ext cx="1181274" cy="47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3"/>
              </a:lnSpc>
            </a:pPr>
            <a:r>
              <a:rPr lang="en-US" sz="111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Damini (lightning), Meghdoot (agri)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7838893" y="8069994"/>
            <a:ext cx="902253" cy="33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2"/>
              </a:lnSpc>
            </a:pPr>
            <a:r>
              <a:rPr lang="en-US" sz="12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Windy/ Ventusky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9257969" y="8670600"/>
            <a:ext cx="1650104" cy="34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"/>
              </a:lnSpc>
            </a:pPr>
            <a:r>
              <a:rPr lang="en-US" sz="110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IMD's own targeted apps — right idea, right audience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7221107" y="5737519"/>
            <a:ext cx="3200438" cy="276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5"/>
              </a:lnSpc>
              <a:spcBef>
                <a:spcPct val="0"/>
              </a:spcBef>
            </a:pPr>
            <a:r>
              <a:rPr lang="en-US" sz="1553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COMPETITIVE LANDSCAPE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9343873" y="6766031"/>
            <a:ext cx="1405828" cy="373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214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Authoritative Indian data, official warnings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9257969" y="7419465"/>
            <a:ext cx="1577635" cy="34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"/>
              </a:lnSpc>
            </a:pPr>
            <a:r>
              <a:rPr lang="en-US" sz="110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Polished global apps, some personalization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9476879" y="8050944"/>
            <a:ext cx="1167733" cy="34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"/>
              </a:lnSpc>
            </a:pPr>
            <a:r>
              <a:rPr lang="en-US" sz="110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Excellent maps for enthusiasts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11512463" y="6813946"/>
            <a:ext cx="2059114" cy="34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"/>
              </a:lnSpc>
            </a:pPr>
            <a:r>
              <a:rPr lang="en-US" sz="110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One screen for everyone; no persona, no ranking, no explanation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11470022" y="7340310"/>
            <a:ext cx="2202624" cy="5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"/>
              </a:lnSpc>
            </a:pPr>
            <a:r>
              <a:rPr lang="en-US" sz="110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Not IMD-authoritative for India; no CPCB AQI; no agro/tide layer for Indian users; closed ranking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11407053" y="8055389"/>
            <a:ext cx="2169102" cy="344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"/>
              </a:lnSpc>
            </a:pPr>
            <a:r>
              <a:rPr lang="en-US" sz="110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Expert-facing, not a citizen homepage; no warnings-first ranking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11368953" y="8575350"/>
            <a:ext cx="2303618" cy="5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9"/>
              </a:lnSpc>
            </a:pPr>
            <a:r>
              <a:rPr lang="en-US" sz="110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Separate apps per audience. Our approach is the inverse: one app that becomes the right app.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9412998" y="6196363"/>
            <a:ext cx="140307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WHAT IT DOES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11483253" y="6203132"/>
            <a:ext cx="208832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WHAT IT DOES NOT DO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7557720" y="9328460"/>
            <a:ext cx="118127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Team Mausam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8888688" y="9274899"/>
            <a:ext cx="2480265" cy="31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3"/>
              </a:lnSpc>
            </a:pPr>
            <a:r>
              <a:rPr lang="en-US" sz="101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Persona x context x urgency  ranking, explainable, server-driven, offline, bilingual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11834321" y="9333109"/>
            <a:ext cx="1167733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Caladea"/>
                <a:ea typeface="Caladea"/>
                <a:cs typeface="Caladea"/>
                <a:sym typeface="Caladea"/>
              </a:rPr>
              <a:t>-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14020022" y="5755363"/>
            <a:ext cx="3356005" cy="28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5"/>
              </a:lnSpc>
              <a:spcBef>
                <a:spcPct val="0"/>
              </a:spcBef>
            </a:pPr>
            <a:r>
              <a:rPr lang="en-US" sz="1553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MARKET / ADOPTION CONTEXT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7986766" y="1443730"/>
            <a:ext cx="1402904" cy="30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1737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WHAT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10525395" y="1443730"/>
            <a:ext cx="1402904" cy="30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1737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STANDARD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13113033" y="1431036"/>
            <a:ext cx="1402904" cy="30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1737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WHERE USED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15845265" y="1431036"/>
            <a:ext cx="1402904" cy="30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sz="1737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CODE/REF</a:t>
            </a:r>
          </a:p>
        </p:txBody>
      </p:sp>
      <p:sp>
        <p:nvSpPr>
          <p:cNvPr id="199" name="TextBox 199"/>
          <p:cNvSpPr txBox="1"/>
          <p:nvPr/>
        </p:nvSpPr>
        <p:spPr>
          <a:xfrm>
            <a:off x="8192432" y="1916293"/>
            <a:ext cx="196195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Air quality index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8192432" y="2346446"/>
            <a:ext cx="1257789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Heat</a:t>
            </a:r>
            <a:r>
              <a:rPr lang="en-US" sz="1439" b="1" u="none" strike="noStrike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 index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8192432" y="2771479"/>
            <a:ext cx="1180861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Dew point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8192432" y="3186404"/>
            <a:ext cx="1029956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Sea State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8192432" y="3616563"/>
            <a:ext cx="628895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Wind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8192432" y="4033127"/>
            <a:ext cx="1123303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UV Bands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8192432" y="4440520"/>
            <a:ext cx="1935940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Warning colours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8192432" y="4838746"/>
            <a:ext cx="196195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Rainfall intensity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8192432" y="5199462"/>
            <a:ext cx="1314978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15"/>
              </a:lnSpc>
              <a:spcBef>
                <a:spcPct val="0"/>
              </a:spcBef>
            </a:pPr>
            <a:r>
              <a:rPr lang="en-US" sz="1439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Agro-Zones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10707331" y="1918629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CPCB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2683791" y="1898490"/>
            <a:ext cx="2162482" cy="32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National AQI, 6 bands,sub index per pollutant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10707331" y="2346222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NWS Rothfusz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12683791" y="2350509"/>
            <a:ext cx="2258533" cy="2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  <a:spcBef>
                <a:spcPct val="0"/>
              </a:spcBef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Regression + both adjustments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15849808" y="1935343"/>
            <a:ext cx="1526219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38" tooltip="https://github.com/Shreyansh303/team_mausam_sih_2026/blob/main/backend/app/services/aqi_cpcb.py"/>
              </a:rPr>
              <a:t>services/aqi_cpcb.py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15869338" y="2365272"/>
            <a:ext cx="1626831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39" tooltip="https://github.com/Shreyansh303/team_mausam_sih_2026/blob/main/backend/app/services/comfort.py"/>
              </a:rPr>
              <a:t>services/comfort.py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15869338" y="2795200"/>
            <a:ext cx="1574995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39" tooltip="https://github.com/Shreyansh303/team_mausam_sih_2026/blob/main/backend/app/services/comfort.py"/>
              </a:rPr>
              <a:t>services/comfort.py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15889278" y="3235221"/>
            <a:ext cx="1486749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40" tooltip="https://github.com/Shreyansh303/team_mausam_sih_2026/blob/main/backend/app/services/marine.py"/>
              </a:rPr>
              <a:t>services/marine.py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15889278" y="3620939"/>
            <a:ext cx="1370022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40" tooltip="https://github.com/Shreyansh303/team_mausam_sih_2026/blob/main/backend/app/services/marine.py"/>
              </a:rPr>
              <a:t>services/marine.py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15841392" y="4046981"/>
            <a:ext cx="1534635" cy="216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41" tooltip="https://github.com/Shreyansh303/team_mausam_sih_2026/blob/main/backend/app/engine/builders/uv_index.py"/>
              </a:rPr>
              <a:t>builders/uv_index.py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15807072" y="4852600"/>
            <a:ext cx="1479290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42" tooltip="https://github.com/Shreyansh303/team_mausam_sih_2026/blob/main/backend/app/engine/builders/rain_alert.py"/>
              </a:rPr>
              <a:t>builders/rain_alert.py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15607226" y="5216553"/>
            <a:ext cx="1878982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 u="sng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43" tooltip="https://github.com/Shreyansh303/team_mausam_sih_2026/blob/main/backend/app/data/planting_calendar.json"/>
              </a:rPr>
              <a:t>data/planting_calendar.json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15494696" y="4444506"/>
            <a:ext cx="2177960" cy="216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5"/>
              </a:lnSpc>
              <a:spcBef>
                <a:spcPct val="0"/>
              </a:spcBef>
            </a:pPr>
            <a:r>
              <a:rPr lang="en-US" sz="1239" i="1">
                <a:solidFill>
                  <a:srgbClr val="1800AD"/>
                </a:solidFill>
                <a:latin typeface="Caladea Italics"/>
                <a:ea typeface="Caladea Italics"/>
                <a:cs typeface="Caladea Italics"/>
                <a:sym typeface="Caladea Italics"/>
                <a:hlinkClick r:id="rId44" tooltip="https://github.com/Shreyansh303/team_mausam_sih_2026/blob/main/backend/app/services/uv_index.py"/>
              </a:rPr>
              <a:t>AppTheme.warningSeverityColor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10707331" y="2776150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Magnus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13223908" y="2805067"/>
            <a:ext cx="1070532" cy="2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  <a:spcBef>
                <a:spcPct val="0"/>
              </a:spcBef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formula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13223908" y="3205618"/>
            <a:ext cx="1070532" cy="2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  <a:spcBef>
                <a:spcPct val="0"/>
              </a:spcBef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scale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13223908" y="3629721"/>
            <a:ext cx="1070532" cy="2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  <a:spcBef>
                <a:spcPct val="0"/>
              </a:spcBef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scale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12992328" y="4046981"/>
            <a:ext cx="1613575" cy="2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  <a:spcBef>
                <a:spcPct val="0"/>
              </a:spcBef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Global Solar UV Index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12499693" y="4464241"/>
            <a:ext cx="2493520" cy="2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  <a:spcBef>
                <a:spcPct val="0"/>
              </a:spcBef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yellow / orange / red conventions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3171529" y="4852600"/>
            <a:ext cx="1187005" cy="2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"/>
              </a:lnSpc>
              <a:spcBef>
                <a:spcPct val="0"/>
              </a:spcBef>
            </a:pPr>
            <a:r>
              <a:rPr lang="en-US" sz="13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classification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10707331" y="3191075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Douglas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10707331" y="3610671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Beaufort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10707331" y="4037798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WHO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10707331" y="4438196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IMD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0707331" y="4843418"/>
            <a:ext cx="1070532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5"/>
              </a:lnSpc>
              <a:spcBef>
                <a:spcPct val="0"/>
              </a:spcBef>
            </a:pPr>
            <a:r>
              <a:rPr lang="en-US" sz="1439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IMD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11226847" y="5204133"/>
            <a:ext cx="2443913" cy="25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15"/>
              </a:lnSpc>
              <a:spcBef>
                <a:spcPct val="0"/>
              </a:spcBef>
            </a:pPr>
            <a:r>
              <a:rPr lang="en-US" sz="1439" i="1" u="none" strike="noStrike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7 Indian Zones x 12 months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14515937" y="6771969"/>
            <a:ext cx="845630" cy="48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5"/>
              </a:lnSpc>
              <a:spcBef>
                <a:spcPct val="0"/>
              </a:spcBef>
            </a:pPr>
            <a:r>
              <a:rPr lang="en-US" sz="91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Weather-app market size / CAGR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16608709" y="6783244"/>
            <a:ext cx="1299337" cy="45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lang="en-US" sz="1148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Grand View Research/ MarketsandMarkets 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14559449" y="8787355"/>
            <a:ext cx="758606" cy="68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"/>
              </a:lnSpc>
              <a:spcBef>
                <a:spcPct val="0"/>
              </a:spcBef>
            </a:pPr>
            <a:r>
              <a:rPr lang="en-US" sz="1010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Government digital-services adoption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16663455" y="8918947"/>
            <a:ext cx="1166391" cy="41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  <a:spcBef>
                <a:spcPct val="0"/>
              </a:spcBef>
            </a:pPr>
            <a:r>
              <a:rPr lang="en-US" sz="121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Digital India / MeitY dashboards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14676479" y="8118964"/>
            <a:ext cx="619482" cy="45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"/>
              </a:lnSpc>
              <a:spcBef>
                <a:spcPct val="0"/>
              </a:spcBef>
            </a:pPr>
            <a:r>
              <a:rPr lang="en-US" sz="906" b="1">
                <a:solidFill>
                  <a:srgbClr val="000000"/>
                </a:solidFill>
                <a:latin typeface="Caladea Bold"/>
                <a:ea typeface="Caladea Bold"/>
                <a:cs typeface="Caladea Bold"/>
                <a:sym typeface="Caladea Bold"/>
              </a:rPr>
              <a:t>Rural internet users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16649281" y="7439753"/>
            <a:ext cx="1218194" cy="41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  <a:spcBef>
                <a:spcPct val="0"/>
              </a:spcBef>
            </a:pPr>
            <a:r>
              <a:rPr lang="en-US" sz="121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TRAI(subscription data)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16681224" y="8170505"/>
            <a:ext cx="1139993" cy="41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5"/>
              </a:lnSpc>
              <a:spcBef>
                <a:spcPct val="0"/>
              </a:spcBef>
            </a:pPr>
            <a:r>
              <a:rPr lang="en-US" sz="1210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TRAI(subscription data)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15434282" y="6747971"/>
            <a:ext cx="1122698" cy="58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148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~$7.8B (2024)</a:t>
            </a:r>
          </a:p>
          <a:p>
            <a:pPr algn="l">
              <a:lnSpc>
                <a:spcPts val="1447"/>
              </a:lnSpc>
            </a:pPr>
            <a:r>
              <a:rPr lang="en-US" sz="1148" i="1">
                <a:solidFill>
                  <a:srgbClr val="000000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~12.8% CAGR (2024-2030) 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250761" y="9922448"/>
            <a:ext cx="583505" cy="27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Page 6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8212060" y="9892750"/>
            <a:ext cx="1863879" cy="27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3"/>
              </a:lnSpc>
              <a:spcBef>
                <a:spcPct val="0"/>
              </a:spcBef>
            </a:pPr>
            <a:r>
              <a:rPr lang="en-US" sz="1495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@SIH Idea submission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2431</Words>
  <Application>Microsoft Office PowerPoint</Application>
  <PresentationFormat>Custom</PresentationFormat>
  <Paragraphs>420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Futura Medium</vt:lpstr>
      <vt:lpstr>Futura Bold</vt:lpstr>
      <vt:lpstr>Arial</vt:lpstr>
      <vt:lpstr>Calibri (MS) Bold</vt:lpstr>
      <vt:lpstr>Arial Bold</vt:lpstr>
      <vt:lpstr>Garamond</vt:lpstr>
      <vt:lpstr>Garamond Bold Italics</vt:lpstr>
      <vt:lpstr>Garamond Bold</vt:lpstr>
      <vt:lpstr>Caladea Bold</vt:lpstr>
      <vt:lpstr>Canva Sans</vt:lpstr>
      <vt:lpstr>Calibri</vt:lpstr>
      <vt:lpstr>Calibri (MS)</vt:lpstr>
      <vt:lpstr>Unna</vt:lpstr>
      <vt:lpstr>Futura</vt:lpstr>
      <vt:lpstr>Caladea</vt:lpstr>
      <vt:lpstr>Caladea Italics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cp:lastModifiedBy>YASH PANCHAL</cp:lastModifiedBy>
  <cp:revision>3</cp:revision>
  <dcterms:created xsi:type="dcterms:W3CDTF">2006-08-16T00:00:00Z</dcterms:created>
  <dcterms:modified xsi:type="dcterms:W3CDTF">2026-09-11T11:31:44Z</dcterms:modified>
  <dc:identifier>DAHUnkybbsw</dc:identifier>
</cp:coreProperties>
</file>