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 26076 asks for a personalized homepage for Mausam. The eight bullets are eight user groups, each with three or four signals they care about. The point to land: personalization here is a ranking problem over live data, not a settings screen — relevance moves with the hour, the place and the weather itself. This is a Team Mausam prototype, not an IMD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~460 lines of pure, I/O-free Python over a declarative catalog of 33 cards, with the formula written in docs/03 before it was written in code. The three phones are the one-line demo of personalization: same backend, same location, same minute, three different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chain per field is IMD, then Open-Meteo, then estimated, and every value records its source. The engine does no I/O, which is why it is fully unit-tested: nine engine tests cover determinism, warning-pinning, coastal gating, persona switching, time-of-day and the dismiss/pin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QA report is a 378-line evidence file: each demo step quoted, driven in the real build against a live backend, read back out of the app's accessibility tree. Nine defects were found by looking at the demo and all nine are fixed with regression tests. Backend tests run fully offline through respx, so CI needs no network and no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PERSONA_COVERAGE in backend/app/engine/catalog.py is the machine-checked mapping from each persona to the cards that cover its bullets in the problem statement, and docs/03 Tests 7 asserts it. All eight personas were photographed in the QA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notes: start the backend first and point the app at 127.0.0.1:8000, never localhost. Wait for the green dot on the freshness chip — that is the alerts socket, and it is what makes step 5 work. Delete any pushed warning before moving on, because a live warning changes every later screen. Step 6 takes three “Show less” taps, not two. The traveller story needs two saved places added first. Team roster to be filled in by the team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502920"/>
            <a:ext cx="8138160" cy="274320"/>
          </a:xfrm>
          <a:prstGeom prst="rect">
            <a:avLst/>
          </a:prstGeom>
          <a:noFill/>
          <a:ln/>
        </p:spPr>
        <p:txBody>
          <a:bodyPr wrap="square" lIns="0" tIns="0" rIns="0" bIns="0" rtlCol="0" anchor="ctr"/>
          <a:lstStyle/>
          <a:p>
            <a:pPr indent="0" marL="0">
              <a:buNone/>
            </a:pPr>
            <a:r>
              <a:rPr lang="en-US" sz="1050" b="1" spc="120" kern="0" dirty="0">
                <a:solidFill>
                  <a:srgbClr val="7FB3D5"/>
                </a:solidFill>
                <a:latin typeface="Calibri" pitchFamily="34" charset="0"/>
                <a:ea typeface="Calibri" pitchFamily="34" charset="-122"/>
                <a:cs typeface="Calibri" pitchFamily="34" charset="-120"/>
              </a:rPr>
              <a:t>SMART INDIA HACKATHON 2026   ·   PS 26076   ·   MoES / INDIA METEOROLOGICAL DEPARTMENT</a:t>
            </a:r>
            <a:endParaRPr lang="en-US" sz="1050" dirty="0"/>
          </a:p>
        </p:txBody>
      </p:sp>
      <p:sp>
        <p:nvSpPr>
          <p:cNvPr id="3" name="Text 1"/>
          <p:cNvSpPr txBox="1"/>
          <p:nvPr/>
        </p:nvSpPr>
        <p:spPr>
          <a:xfrm>
            <a:off x="548640" y="868680"/>
            <a:ext cx="813816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Mausam Personalized</a:t>
            </a:r>
            <a:endParaRPr lang="en-US" sz="4600" dirty="0"/>
          </a:p>
        </p:txBody>
      </p:sp>
      <p:sp>
        <p:nvSpPr>
          <p:cNvPr id="4" name="Text 2"/>
          <p:cNvSpPr txBox="1"/>
          <p:nvPr/>
        </p:nvSpPr>
        <p:spPr>
          <a:xfrm>
            <a:off x="548640" y="1664208"/>
            <a:ext cx="8138160" cy="384048"/>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persona-aware, context-aware home screen for IMD's Mausam app</a:t>
            </a:r>
            <a:endParaRPr lang="en-US" sz="1900" dirty="0"/>
          </a:p>
        </p:txBody>
      </p:sp>
      <p:sp>
        <p:nvSpPr>
          <p:cNvPr id="5" name="Text 3"/>
          <p:cNvSpPr txBox="1"/>
          <p:nvPr/>
        </p:nvSpPr>
        <p:spPr>
          <a:xfrm>
            <a:off x="548640" y="2286000"/>
            <a:ext cx="3657600" cy="256032"/>
          </a:xfrm>
          <a:prstGeom prst="rect">
            <a:avLst/>
          </a:prstGeom>
          <a:noFill/>
          <a:ln/>
        </p:spPr>
        <p:txBody>
          <a:bodyPr wrap="square" lIns="0" tIns="0" rIns="0" bIns="0" rtlCol="0" anchor="ctr"/>
          <a:lstStyle/>
          <a:p>
            <a:pPr indent="0" marL="0">
              <a:buNone/>
            </a:pPr>
            <a:r>
              <a:rPr lang="en-US" sz="1100" b="1" spc="120" kern="0" dirty="0">
                <a:solidFill>
                  <a:srgbClr val="F28C28"/>
                </a:solidFill>
                <a:latin typeface="Calibri" pitchFamily="34" charset="0"/>
                <a:ea typeface="Calibri" pitchFamily="34" charset="-122"/>
                <a:cs typeface="Calibri" pitchFamily="34" charset="-120"/>
              </a:rPr>
              <a:t>THE PROBLEM</a:t>
            </a:r>
            <a:endParaRPr lang="en-US" sz="1100" dirty="0"/>
          </a:p>
        </p:txBody>
      </p:sp>
      <p:sp>
        <p:nvSpPr>
          <p:cNvPr id="6" name="Text 4"/>
          <p:cNvSpPr txBox="1"/>
          <p:nvPr/>
        </p:nvSpPr>
        <p:spPr>
          <a:xfrm>
            <a:off x="548640" y="2578608"/>
            <a:ext cx="8001000" cy="1234440"/>
          </a:xfrm>
          <a:prstGeom prst="rect">
            <a:avLst/>
          </a:prstGeom>
          <a:noFill/>
          <a:ln/>
        </p:spPr>
        <p:txBody>
          <a:bodyPr wrap="square" lIns="0" tIns="0" rIns="0" bIns="0" rtlCol="0" anchor="ctr"/>
          <a:lstStyle/>
          <a:p>
            <a:pPr indent="0" marL="0">
              <a:lnSpc>
                <a:spcPct val="120000"/>
              </a:lnSpc>
              <a:buNone/>
            </a:pPr>
            <a:r>
              <a:rPr lang="en-US" sz="1450" dirty="0">
                <a:solidFill>
                  <a:srgbClr val="E8EEF6"/>
                </a:solidFill>
                <a:latin typeface="Calibri" pitchFamily="34" charset="0"/>
                <a:ea typeface="Calibri" pitchFamily="34" charset="-122"/>
                <a:cs typeface="Calibri" pitchFamily="34" charset="-120"/>
              </a:rPr>
              <a:t>Mausam shows every user the same screen, in the same order. The eight groups named in PS 26076 do not need more data — they need the two or three things that matter to them, first, with the “so what” attached. And relevance is not a property of the user alone: it moves with the hour, the place, the season, and above all with what the sky is doing right now.</a:t>
            </a:r>
            <a:endParaRPr lang="en-US" sz="1450" dirty="0"/>
          </a:p>
        </p:txBody>
      </p:sp>
      <p:sp>
        <p:nvSpPr>
          <p:cNvPr id="7" name="Shape 5"/>
          <p:cNvSpPr/>
          <p:nvPr/>
        </p:nvSpPr>
        <p:spPr>
          <a:xfrm>
            <a:off x="548640" y="3977640"/>
            <a:ext cx="1828800" cy="384048"/>
          </a:xfrm>
          <a:prstGeom prst="roundRect">
            <a:avLst>
              <a:gd name="adj" fmla="val 47619"/>
            </a:avLst>
          </a:prstGeom>
          <a:solidFill>
            <a:srgbClr val="2E3A72"/>
          </a:solidFill>
          <a:ln w="9525">
            <a:solidFill>
              <a:srgbClr val="43518F"/>
            </a:solidFill>
            <a:prstDash val="solid"/>
          </a:ln>
        </p:spPr>
      </p:sp>
      <p:sp>
        <p:nvSpPr>
          <p:cNvPr id="8" name="Text 6"/>
          <p:cNvSpPr txBox="1"/>
          <p:nvPr/>
        </p:nvSpPr>
        <p:spPr>
          <a:xfrm>
            <a:off x="548640" y="3977640"/>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Health-conscious</a:t>
            </a:r>
            <a:endParaRPr lang="en-US" sz="1050" dirty="0"/>
          </a:p>
        </p:txBody>
      </p:sp>
      <p:sp>
        <p:nvSpPr>
          <p:cNvPr id="9" name="Shape 7"/>
          <p:cNvSpPr/>
          <p:nvPr/>
        </p:nvSpPr>
        <p:spPr>
          <a:xfrm>
            <a:off x="2505456" y="3977640"/>
            <a:ext cx="1828800" cy="384048"/>
          </a:xfrm>
          <a:prstGeom prst="roundRect">
            <a:avLst>
              <a:gd name="adj" fmla="val 47619"/>
            </a:avLst>
          </a:prstGeom>
          <a:solidFill>
            <a:srgbClr val="2E3A72"/>
          </a:solidFill>
          <a:ln w="9525">
            <a:solidFill>
              <a:srgbClr val="43518F"/>
            </a:solidFill>
            <a:prstDash val="solid"/>
          </a:ln>
        </p:spPr>
      </p:sp>
      <p:sp>
        <p:nvSpPr>
          <p:cNvPr id="10" name="Text 8"/>
          <p:cNvSpPr txBox="1"/>
          <p:nvPr/>
        </p:nvSpPr>
        <p:spPr>
          <a:xfrm>
            <a:off x="2505456" y="3977640"/>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Outdoor fitness</a:t>
            </a:r>
            <a:endParaRPr lang="en-US" sz="1050" dirty="0"/>
          </a:p>
        </p:txBody>
      </p:sp>
      <p:sp>
        <p:nvSpPr>
          <p:cNvPr id="11" name="Shape 9"/>
          <p:cNvSpPr/>
          <p:nvPr/>
        </p:nvSpPr>
        <p:spPr>
          <a:xfrm>
            <a:off x="4462272" y="3977640"/>
            <a:ext cx="1828800" cy="384048"/>
          </a:xfrm>
          <a:prstGeom prst="roundRect">
            <a:avLst>
              <a:gd name="adj" fmla="val 47619"/>
            </a:avLst>
          </a:prstGeom>
          <a:solidFill>
            <a:srgbClr val="2E3A72"/>
          </a:solidFill>
          <a:ln w="9525">
            <a:solidFill>
              <a:srgbClr val="43518F"/>
            </a:solidFill>
            <a:prstDash val="solid"/>
          </a:ln>
        </p:spPr>
      </p:sp>
      <p:sp>
        <p:nvSpPr>
          <p:cNvPr id="12" name="Text 10"/>
          <p:cNvSpPr txBox="1"/>
          <p:nvPr/>
        </p:nvSpPr>
        <p:spPr>
          <a:xfrm>
            <a:off x="4462272" y="3977640"/>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Beachgoers &amp; surfers</a:t>
            </a:r>
            <a:endParaRPr lang="en-US" sz="1050" dirty="0"/>
          </a:p>
        </p:txBody>
      </p:sp>
      <p:sp>
        <p:nvSpPr>
          <p:cNvPr id="13" name="Shape 11"/>
          <p:cNvSpPr/>
          <p:nvPr/>
        </p:nvSpPr>
        <p:spPr>
          <a:xfrm>
            <a:off x="6419088" y="3977640"/>
            <a:ext cx="1828800" cy="384048"/>
          </a:xfrm>
          <a:prstGeom prst="roundRect">
            <a:avLst>
              <a:gd name="adj" fmla="val 47619"/>
            </a:avLst>
          </a:prstGeom>
          <a:solidFill>
            <a:srgbClr val="2E3A72"/>
          </a:solidFill>
          <a:ln w="9525">
            <a:solidFill>
              <a:srgbClr val="43518F"/>
            </a:solidFill>
            <a:prstDash val="solid"/>
          </a:ln>
        </p:spPr>
      </p:sp>
      <p:sp>
        <p:nvSpPr>
          <p:cNvPr id="14" name="Text 12"/>
          <p:cNvSpPr txBox="1"/>
          <p:nvPr/>
        </p:nvSpPr>
        <p:spPr>
          <a:xfrm>
            <a:off x="6419088" y="3977640"/>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Travellers</a:t>
            </a:r>
            <a:endParaRPr lang="en-US" sz="1050" dirty="0"/>
          </a:p>
        </p:txBody>
      </p:sp>
      <p:sp>
        <p:nvSpPr>
          <p:cNvPr id="15" name="Shape 13"/>
          <p:cNvSpPr/>
          <p:nvPr/>
        </p:nvSpPr>
        <p:spPr>
          <a:xfrm>
            <a:off x="548640" y="4489704"/>
            <a:ext cx="1828800" cy="384048"/>
          </a:xfrm>
          <a:prstGeom prst="roundRect">
            <a:avLst>
              <a:gd name="adj" fmla="val 47619"/>
            </a:avLst>
          </a:prstGeom>
          <a:solidFill>
            <a:srgbClr val="2E3A72"/>
          </a:solidFill>
          <a:ln w="9525">
            <a:solidFill>
              <a:srgbClr val="43518F"/>
            </a:solidFill>
            <a:prstDash val="solid"/>
          </a:ln>
        </p:spPr>
      </p:sp>
      <p:sp>
        <p:nvSpPr>
          <p:cNvPr id="16" name="Text 14"/>
          <p:cNvSpPr txBox="1"/>
          <p:nvPr/>
        </p:nvSpPr>
        <p:spPr>
          <a:xfrm>
            <a:off x="548640" y="4489704"/>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Parents &amp; families</a:t>
            </a:r>
            <a:endParaRPr lang="en-US" sz="1050" dirty="0"/>
          </a:p>
        </p:txBody>
      </p:sp>
      <p:sp>
        <p:nvSpPr>
          <p:cNvPr id="17" name="Shape 15"/>
          <p:cNvSpPr/>
          <p:nvPr/>
        </p:nvSpPr>
        <p:spPr>
          <a:xfrm>
            <a:off x="2505456" y="4489704"/>
            <a:ext cx="1828800" cy="384048"/>
          </a:xfrm>
          <a:prstGeom prst="roundRect">
            <a:avLst>
              <a:gd name="adj" fmla="val 47619"/>
            </a:avLst>
          </a:prstGeom>
          <a:solidFill>
            <a:srgbClr val="2E3A72"/>
          </a:solidFill>
          <a:ln w="9525">
            <a:solidFill>
              <a:srgbClr val="43518F"/>
            </a:solidFill>
            <a:prstDash val="solid"/>
          </a:ln>
        </p:spPr>
      </p:sp>
      <p:sp>
        <p:nvSpPr>
          <p:cNvPr id="18" name="Text 16"/>
          <p:cNvSpPr txBox="1"/>
          <p:nvPr/>
        </p:nvSpPr>
        <p:spPr>
          <a:xfrm>
            <a:off x="2505456" y="4489704"/>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Agriculture &amp; gardeners</a:t>
            </a:r>
            <a:endParaRPr lang="en-US" sz="1050" dirty="0"/>
          </a:p>
        </p:txBody>
      </p:sp>
      <p:sp>
        <p:nvSpPr>
          <p:cNvPr id="19" name="Shape 17"/>
          <p:cNvSpPr/>
          <p:nvPr/>
        </p:nvSpPr>
        <p:spPr>
          <a:xfrm>
            <a:off x="4462272" y="4489704"/>
            <a:ext cx="1828800" cy="384048"/>
          </a:xfrm>
          <a:prstGeom prst="roundRect">
            <a:avLst>
              <a:gd name="adj" fmla="val 47619"/>
            </a:avLst>
          </a:prstGeom>
          <a:solidFill>
            <a:srgbClr val="2E3A72"/>
          </a:solidFill>
          <a:ln w="9525">
            <a:solidFill>
              <a:srgbClr val="43518F"/>
            </a:solidFill>
            <a:prstDash val="solid"/>
          </a:ln>
        </p:spPr>
      </p:sp>
      <p:sp>
        <p:nvSpPr>
          <p:cNvPr id="20" name="Text 18"/>
          <p:cNvSpPr txBox="1"/>
          <p:nvPr/>
        </p:nvSpPr>
        <p:spPr>
          <a:xfrm>
            <a:off x="4462272" y="4489704"/>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Commuters</a:t>
            </a:r>
            <a:endParaRPr lang="en-US" sz="1050" dirty="0"/>
          </a:p>
        </p:txBody>
      </p:sp>
      <p:sp>
        <p:nvSpPr>
          <p:cNvPr id="21" name="Shape 19"/>
          <p:cNvSpPr/>
          <p:nvPr/>
        </p:nvSpPr>
        <p:spPr>
          <a:xfrm>
            <a:off x="6419088" y="4489704"/>
            <a:ext cx="1828800" cy="384048"/>
          </a:xfrm>
          <a:prstGeom prst="roundRect">
            <a:avLst>
              <a:gd name="adj" fmla="val 47619"/>
            </a:avLst>
          </a:prstGeom>
          <a:solidFill>
            <a:srgbClr val="2E3A72"/>
          </a:solidFill>
          <a:ln w="9525">
            <a:solidFill>
              <a:srgbClr val="43518F"/>
            </a:solidFill>
            <a:prstDash val="solid"/>
          </a:ln>
        </p:spPr>
      </p:sp>
      <p:sp>
        <p:nvSpPr>
          <p:cNvPr id="22" name="Text 20"/>
          <p:cNvSpPr txBox="1"/>
          <p:nvPr/>
        </p:nvSpPr>
        <p:spPr>
          <a:xfrm>
            <a:off x="6419088" y="4489704"/>
            <a:ext cx="1828800" cy="38404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Event planners</a:t>
            </a:r>
            <a:endParaRPr lang="en-US" sz="1050" dirty="0"/>
          </a:p>
        </p:txBody>
      </p:sp>
      <p:sp>
        <p:nvSpPr>
          <p:cNvPr id="23" name="Text 21"/>
          <p:cNvSpPr txBox="1"/>
          <p:nvPr/>
        </p:nvSpPr>
        <p:spPr>
          <a:xfrm>
            <a:off x="548640" y="4956048"/>
            <a:ext cx="8001000" cy="274320"/>
          </a:xfrm>
          <a:prstGeom prst="rect">
            <a:avLst/>
          </a:prstGeom>
          <a:noFill/>
          <a:ln/>
        </p:spPr>
        <p:txBody>
          <a:bodyPr wrap="square" lIns="0" tIns="0" rIns="0" bIns="0" rtlCol="0" anchor="ctr"/>
          <a:lstStyle/>
          <a:p>
            <a:pPr indent="0" marL="0">
              <a:buNone/>
            </a:pPr>
            <a:r>
              <a:rPr lang="en-US" sz="1100" i="1" dirty="0">
                <a:solidFill>
                  <a:srgbClr val="7FB3D5"/>
                </a:solidFill>
                <a:latin typeface="Calibri" pitchFamily="34" charset="0"/>
                <a:ea typeface="Calibri" pitchFamily="34" charset="-122"/>
                <a:cs typeface="Calibri" pitchFamily="34" charset="-120"/>
              </a:rPr>
              <a:t>Eight personas. Users pick 1–3; everyone also gets the base set.</a:t>
            </a:r>
            <a:endParaRPr lang="en-US" sz="1100" dirty="0"/>
          </a:p>
        </p:txBody>
      </p:sp>
      <p:sp>
        <p:nvSpPr>
          <p:cNvPr id="24" name="Text 22"/>
          <p:cNvSpPr txBox="1"/>
          <p:nvPr/>
        </p:nvSpPr>
        <p:spPr>
          <a:xfrm>
            <a:off x="548640" y="6053328"/>
            <a:ext cx="8001000" cy="457200"/>
          </a:xfrm>
          <a:prstGeom prst="rect">
            <a:avLst/>
          </a:prstGeom>
          <a:noFill/>
          <a:ln/>
        </p:spPr>
        <p:txBody>
          <a:bodyPr wrap="square" lIns="0" tIns="0" rIns="0" bIns="0" rtlCol="0" anchor="ctr"/>
          <a:lstStyle/>
          <a:p>
            <a:pPr indent="0" marL="0">
              <a:lnSpc>
                <a:spcPct val="110000"/>
              </a:lnSpc>
              <a:buNone/>
            </a:pPr>
            <a:r>
              <a:rPr lang="en-US" sz="900" dirty="0">
                <a:solidFill>
                  <a:srgbClr val="8FA3BE"/>
                </a:solidFill>
                <a:latin typeface="Calibri" pitchFamily="34" charset="0"/>
                <a:ea typeface="Calibri" pitchFamily="34" charset="-122"/>
                <a:cs typeface="Calibri" pitchFamily="34" charset="-120"/>
              </a:rPr>
              <a:t>Team Mausam prototype for SIH 2026 — not an IMD product, and not affiliated with or endorsed by IMD or MoES. IMD's public warning colour conventions are used; no IMD logos or branding.</a:t>
            </a:r>
            <a:endParaRPr lang="en-US" sz="900" dirty="0"/>
          </a:p>
        </p:txBody>
      </p:sp>
      <p:sp>
        <p:nvSpPr>
          <p:cNvPr id="25" name="Shape 23"/>
          <p:cNvSpPr/>
          <p:nvPr/>
        </p:nvSpPr>
        <p:spPr>
          <a:xfrm>
            <a:off x="8887968" y="384048"/>
            <a:ext cx="2889504" cy="5760720"/>
          </a:xfrm>
          <a:prstGeom prst="roundRect">
            <a:avLst>
              <a:gd name="adj" fmla="val 1899"/>
            </a:avLst>
          </a:prstGeom>
          <a:solidFill>
            <a:srgbClr val="2B3568"/>
          </a:solidFill>
          <a:ln w="12700">
            <a:solidFill>
              <a:srgbClr val="44528F"/>
            </a:solidFill>
            <a:prstDash val="solid"/>
          </a:ln>
        </p:spPr>
      </p:sp>
      <p:pic>
        <p:nvPicPr>
          <p:cNvPr id="26" name="Image 0" descr="Morning home screen for a parent and commuter">    </p:cNvPr>
          <p:cNvPicPr>
            <a:picLocks noChangeAspect="1"/>
          </p:cNvPicPr>
          <p:nvPr/>
        </p:nvPicPr>
        <p:blipFill>
          <a:blip r:embed="rId1"/>
          <a:stretch>
            <a:fillRect/>
          </a:stretch>
        </p:blipFill>
        <p:spPr>
          <a:xfrm>
            <a:off x="9075877" y="548640"/>
            <a:ext cx="2513686" cy="5440680"/>
          </a:xfrm>
          <a:prstGeom prst="rect">
            <a:avLst/>
          </a:prstGeom>
        </p:spPr>
      </p:pic>
      <p:sp>
        <p:nvSpPr>
          <p:cNvPr id="27" name="Text 24"/>
          <p:cNvSpPr txBox="1"/>
          <p:nvPr/>
        </p:nvSpPr>
        <p:spPr>
          <a:xfrm>
            <a:off x="8887968" y="6199632"/>
            <a:ext cx="2889504" cy="457200"/>
          </a:xfrm>
          <a:prstGeom prst="rect">
            <a:avLst/>
          </a:prstGeom>
          <a:noFill/>
          <a:ln/>
        </p:spPr>
        <p:txBody>
          <a:bodyPr wrap="square" lIns="0" tIns="0" rIns="0" bIns="0" rtlCol="0" anchor="ctr"/>
          <a:lstStyle/>
          <a:p>
            <a:pPr algn="ctr" indent="0" marL="0">
              <a:lnSpc>
                <a:spcPct val="105000"/>
              </a:lnSpc>
              <a:buNone/>
            </a:pPr>
            <a:r>
              <a:rPr lang="en-US" sz="850" dirty="0">
                <a:solidFill>
                  <a:srgbClr val="7FB3D5"/>
                </a:solidFill>
                <a:latin typeface="Calibri" pitchFamily="34" charset="0"/>
                <a:ea typeface="Calibri" pitchFamily="34" charset="-122"/>
                <a:cs typeface="Calibri" pitchFamily="34" charset="-120"/>
              </a:rPr>
              <a:t>07:30, New Delhi · parent + commuter — the school run ranks first, with its reasons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772400" cy="548640"/>
          </a:xfrm>
          <a:prstGeom prst="rect">
            <a:avLst/>
          </a:prstGeom>
          <a:noFill/>
          <a:ln/>
        </p:spPr>
        <p:txBody>
          <a:bodyPr wrap="square" lIns="0" tIns="0" rIns="0" bIns="0" rtlCol="0" anchor="ctr"/>
          <a:lstStyle/>
          <a:p>
            <a:pPr indent="0" marL="0">
              <a:buNone/>
            </a:pPr>
            <a:r>
              <a:rPr lang="en-US" sz="3800" b="1" dirty="0">
                <a:solidFill>
                  <a:srgbClr val="21295C"/>
                </a:solidFill>
                <a:latin typeface="Cambria" pitchFamily="34" charset="0"/>
                <a:ea typeface="Cambria" pitchFamily="34" charset="-122"/>
                <a:cs typeface="Cambria" pitchFamily="34" charset="-120"/>
              </a:rPr>
              <a:t>Proposed solution</a:t>
            </a:r>
            <a:endParaRPr lang="en-US" sz="3800" dirty="0"/>
          </a:p>
        </p:txBody>
      </p:sp>
      <p:sp>
        <p:nvSpPr>
          <p:cNvPr id="3" name="Text 1"/>
          <p:cNvSpPr txBox="1"/>
          <p:nvPr/>
        </p:nvSpPr>
        <p:spPr>
          <a:xfrm>
            <a:off x="548640" y="932688"/>
            <a:ext cx="7772400" cy="292608"/>
          </a:xfrm>
          <a:prstGeom prst="rect">
            <a:avLst/>
          </a:prstGeom>
          <a:noFill/>
          <a:ln/>
        </p:spPr>
        <p:txBody>
          <a:bodyPr wrap="square" lIns="0" tIns="0" rIns="0" bIns="0" rtlCol="0" anchor="ctr"/>
          <a:lstStyle/>
          <a:p>
            <a:pPr indent="0" marL="0">
              <a:buNone/>
            </a:pPr>
            <a:r>
              <a:rPr lang="en-US" sz="1400" dirty="0">
                <a:solidFill>
                  <a:srgbClr val="1C7293"/>
                </a:solidFill>
                <a:latin typeface="Calibri" pitchFamily="34" charset="0"/>
                <a:ea typeface="Calibri" pitchFamily="34" charset="-122"/>
                <a:cs typeface="Calibri" pitchFamily="34" charset="-120"/>
              </a:rPr>
              <a:t>One ranked feed per user — computed on the server, explained on the card.</a:t>
            </a:r>
            <a:endParaRPr lang="en-US" sz="1400" dirty="0"/>
          </a:p>
        </p:txBody>
      </p:sp>
      <p:sp>
        <p:nvSpPr>
          <p:cNvPr id="4" name="Text 2"/>
          <p:cNvSpPr txBox="1"/>
          <p:nvPr/>
        </p:nvSpPr>
        <p:spPr>
          <a:xfrm>
            <a:off x="548640" y="1463040"/>
            <a:ext cx="6583680" cy="960120"/>
          </a:xfrm>
          <a:prstGeom prst="rect">
            <a:avLst/>
          </a:prstGeom>
          <a:noFill/>
          <a:ln/>
        </p:spPr>
        <p:txBody>
          <a:bodyPr wrap="square" lIns="0" tIns="0" rIns="0" bIns="0" rtlCol="0" anchor="ctr"/>
          <a:lstStyle/>
          <a:p>
            <a:pPr indent="0" marL="0">
              <a:lnSpc>
                <a:spcPct val="115000"/>
              </a:lnSpc>
              <a:buNone/>
            </a:pPr>
            <a:r>
              <a:rPr lang="en-US" sz="1350" dirty="0">
                <a:solidFill>
                  <a:srgbClr val="1A2433"/>
                </a:solidFill>
                <a:latin typeface="Calibri" pitchFamily="34" charset="0"/>
                <a:ea typeface="Calibri" pitchFamily="34" charset="-122"/>
                <a:cs typeface="Calibri" pitchFamily="34" charset="-120"/>
              </a:rPr>
              <a:t>A FastAPI backend assembles a weather / air-quality / marine snapshot for the user's coordinates, derives the insights the problem statement actually asks for — best running hours, a school-run verdict, a tide window, frost risk, a packing list — and runs a deterministic engine over 33 card types. The app draws the order it is given.</a:t>
            </a:r>
            <a:endParaRPr lang="en-US" sz="1350" dirty="0"/>
          </a:p>
        </p:txBody>
      </p:sp>
      <p:sp>
        <p:nvSpPr>
          <p:cNvPr id="5" name="Shape 3"/>
          <p:cNvSpPr/>
          <p:nvPr/>
        </p:nvSpPr>
        <p:spPr>
          <a:xfrm>
            <a:off x="548640" y="2651760"/>
            <a:ext cx="402336" cy="402336"/>
          </a:xfrm>
          <a:prstGeom prst="ellipse">
            <a:avLst/>
          </a:prstGeom>
          <a:solidFill>
            <a:srgbClr val="065A82"/>
          </a:solidFill>
          <a:ln/>
        </p:spPr>
      </p:sp>
      <p:sp>
        <p:nvSpPr>
          <p:cNvPr id="6" name="Text 4"/>
          <p:cNvSpPr txBox="1"/>
          <p:nvPr/>
        </p:nvSpPr>
        <p:spPr>
          <a:xfrm>
            <a:off x="548640" y="26517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15568" y="2624328"/>
            <a:ext cx="6016752"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Gate, then score</a:t>
            </a:r>
            <a:endParaRPr lang="en-US" sz="1400" dirty="0"/>
          </a:p>
        </p:txBody>
      </p:sp>
      <p:sp>
        <p:nvSpPr>
          <p:cNvPr id="8" name="Text 6"/>
          <p:cNvSpPr txBox="1"/>
          <p:nvPr/>
        </p:nvSpPr>
        <p:spPr>
          <a:xfrm>
            <a:off x="1115568" y="2898648"/>
            <a:ext cx="6016752" cy="502920"/>
          </a:xfrm>
          <a:prstGeom prst="rect">
            <a:avLst/>
          </a:prstGeom>
          <a:noFill/>
          <a:ln/>
        </p:spPr>
        <p:txBody>
          <a:bodyPr wrap="square" lIns="0" tIns="0" rIns="0" bIns="0" rtlCol="0" anchor="ctr"/>
          <a:lstStyle/>
          <a:p>
            <a:pPr indent="0" marL="0">
              <a:lnSpc>
                <a:spcPct val="105000"/>
              </a:lnSpc>
              <a:buNone/>
            </a:pPr>
            <a:r>
              <a:rPr lang="en-US" sz="1150" dirty="0">
                <a:solidFill>
                  <a:srgbClr val="5A6B7C"/>
                </a:solidFill>
                <a:latin typeface="Calibri" pitchFamily="34" charset="0"/>
                <a:ea typeface="Calibri" pitchFamily="34" charset="-122"/>
                <a:cs typeface="Calibri" pitchFamily="34" charset="-120"/>
              </a:rPr>
              <a:t>Drop what the user cannot use (no tides inland, no heat alert below 35 °C), then score: 0.5·relevance·context + 0.5·urgency + learning.</a:t>
            </a:r>
            <a:endParaRPr lang="en-US" sz="1150" dirty="0"/>
          </a:p>
        </p:txBody>
      </p:sp>
      <p:sp>
        <p:nvSpPr>
          <p:cNvPr id="9" name="Shape 7"/>
          <p:cNvSpPr/>
          <p:nvPr/>
        </p:nvSpPr>
        <p:spPr>
          <a:xfrm>
            <a:off x="548640" y="3502152"/>
            <a:ext cx="402336" cy="402336"/>
          </a:xfrm>
          <a:prstGeom prst="ellipse">
            <a:avLst/>
          </a:prstGeom>
          <a:solidFill>
            <a:srgbClr val="065A82"/>
          </a:solidFill>
          <a:ln/>
        </p:spPr>
      </p:sp>
      <p:sp>
        <p:nvSpPr>
          <p:cNvPr id="10" name="Text 8"/>
          <p:cNvSpPr txBox="1"/>
          <p:nvPr/>
        </p:nvSpPr>
        <p:spPr>
          <a:xfrm>
            <a:off x="548640" y="35021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3474720"/>
            <a:ext cx="6016752"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Urgency outranks preference</a:t>
            </a:r>
            <a:endParaRPr lang="en-US" sz="1400" dirty="0"/>
          </a:p>
        </p:txBody>
      </p:sp>
      <p:sp>
        <p:nvSpPr>
          <p:cNvPr id="12" name="Text 10"/>
          <p:cNvSpPr txBox="1"/>
          <p:nvPr/>
        </p:nvSpPr>
        <p:spPr>
          <a:xfrm>
            <a:off x="1115568" y="3749040"/>
            <a:ext cx="6016752" cy="502920"/>
          </a:xfrm>
          <a:prstGeom prst="rect">
            <a:avLst/>
          </a:prstGeom>
          <a:noFill/>
          <a:ln/>
        </p:spPr>
        <p:txBody>
          <a:bodyPr wrap="square" lIns="0" tIns="0" rIns="0" bIns="0" rtlCol="0" anchor="ctr"/>
          <a:lstStyle/>
          <a:p>
            <a:pPr indent="0" marL="0">
              <a:lnSpc>
                <a:spcPct val="105000"/>
              </a:lnSpc>
              <a:buNone/>
            </a:pPr>
            <a:r>
              <a:rPr lang="en-US" sz="1150" dirty="0">
                <a:solidFill>
                  <a:srgbClr val="5A6B7C"/>
                </a:solidFill>
                <a:latin typeface="Calibri" pitchFamily="34" charset="0"/>
                <a:ea typeface="Calibri" pitchFamily="34" charset="-122"/>
                <a:cs typeface="Calibri" pitchFamily="34" charset="-120"/>
              </a:rPr>
              <a:t>Anything reaching urgency 0.8 pins above every preference — a red warning reaches all eight personas. Asserted by a test on every run.</a:t>
            </a:r>
            <a:endParaRPr lang="en-US" sz="1150" dirty="0"/>
          </a:p>
        </p:txBody>
      </p:sp>
      <p:sp>
        <p:nvSpPr>
          <p:cNvPr id="13" name="Shape 11"/>
          <p:cNvSpPr/>
          <p:nvPr/>
        </p:nvSpPr>
        <p:spPr>
          <a:xfrm>
            <a:off x="548640" y="4352544"/>
            <a:ext cx="402336" cy="402336"/>
          </a:xfrm>
          <a:prstGeom prst="ellipse">
            <a:avLst/>
          </a:prstGeom>
          <a:solidFill>
            <a:srgbClr val="065A82"/>
          </a:solidFill>
          <a:ln/>
        </p:spPr>
      </p:sp>
      <p:sp>
        <p:nvSpPr>
          <p:cNvPr id="14" name="Text 12"/>
          <p:cNvSpPr txBox="1"/>
          <p:nvPr/>
        </p:nvSpPr>
        <p:spPr>
          <a:xfrm>
            <a:off x="548640" y="43525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15568" y="4325112"/>
            <a:ext cx="6016752"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Explain every card</a:t>
            </a:r>
            <a:endParaRPr lang="en-US" sz="1400" dirty="0"/>
          </a:p>
        </p:txBody>
      </p:sp>
      <p:sp>
        <p:nvSpPr>
          <p:cNvPr id="16" name="Text 14"/>
          <p:cNvSpPr txBox="1"/>
          <p:nvPr/>
        </p:nvSpPr>
        <p:spPr>
          <a:xfrm>
            <a:off x="1115568" y="4599432"/>
            <a:ext cx="6016752" cy="502920"/>
          </a:xfrm>
          <a:prstGeom prst="rect">
            <a:avLst/>
          </a:prstGeom>
          <a:noFill/>
          <a:ln/>
        </p:spPr>
        <p:txBody>
          <a:bodyPr wrap="square" lIns="0" tIns="0" rIns="0" bIns="0" rtlCol="0" anchor="ctr"/>
          <a:lstStyle/>
          <a:p>
            <a:pPr indent="0" marL="0">
              <a:lnSpc>
                <a:spcPct val="105000"/>
              </a:lnSpc>
              <a:buNone/>
            </a:pPr>
            <a:r>
              <a:rPr lang="en-US" sz="1150" dirty="0">
                <a:solidFill>
                  <a:srgbClr val="5A6B7C"/>
                </a:solidFill>
                <a:latin typeface="Calibri" pitchFamily="34" charset="0"/>
                <a:ea typeface="Calibri" pitchFamily="34" charset="-122"/>
                <a:cs typeface="Calibri" pitchFamily="34" charset="-120"/>
              </a:rPr>
              <a:t>Up to four reasons per card from seven families, localized server-side. Long-press → “Why am I seeing this?” shows them, plus the score.</a:t>
            </a:r>
            <a:endParaRPr lang="en-US" sz="1150" dirty="0"/>
          </a:p>
        </p:txBody>
      </p:sp>
      <p:sp>
        <p:nvSpPr>
          <p:cNvPr id="17" name="Shape 15"/>
          <p:cNvSpPr/>
          <p:nvPr/>
        </p:nvSpPr>
        <p:spPr>
          <a:xfrm>
            <a:off x="548640" y="5202936"/>
            <a:ext cx="402336" cy="402336"/>
          </a:xfrm>
          <a:prstGeom prst="ellipse">
            <a:avLst/>
          </a:prstGeom>
          <a:solidFill>
            <a:srgbClr val="065A82"/>
          </a:solidFill>
          <a:ln/>
        </p:spPr>
      </p:sp>
      <p:sp>
        <p:nvSpPr>
          <p:cNvPr id="18" name="Text 16"/>
          <p:cNvSpPr txBox="1"/>
          <p:nvPr/>
        </p:nvSpPr>
        <p:spPr>
          <a:xfrm>
            <a:off x="548640" y="5202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15568" y="5175504"/>
            <a:ext cx="6016752"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Learn, bounded and reversible</a:t>
            </a:r>
            <a:endParaRPr lang="en-US" sz="1400" dirty="0"/>
          </a:p>
        </p:txBody>
      </p:sp>
      <p:sp>
        <p:nvSpPr>
          <p:cNvPr id="20" name="Text 18"/>
          <p:cNvSpPr txBox="1"/>
          <p:nvPr/>
        </p:nvSpPr>
        <p:spPr>
          <a:xfrm>
            <a:off x="1115568" y="5449824"/>
            <a:ext cx="6016752" cy="502920"/>
          </a:xfrm>
          <a:prstGeom prst="rect">
            <a:avLst/>
          </a:prstGeom>
          <a:noFill/>
          <a:ln/>
        </p:spPr>
        <p:txBody>
          <a:bodyPr wrap="square" lIns="0" tIns="0" rIns="0" bIns="0" rtlCol="0" anchor="ctr"/>
          <a:lstStyle/>
          <a:p>
            <a:pPr indent="0" marL="0">
              <a:lnSpc>
                <a:spcPct val="105000"/>
              </a:lnSpc>
              <a:buNone/>
            </a:pPr>
            <a:r>
              <a:rPr lang="en-US" sz="1150" dirty="0">
                <a:solidFill>
                  <a:srgbClr val="5A6B7C"/>
                </a:solidFill>
                <a:latin typeface="Calibri" pitchFamily="34" charset="0"/>
                <a:ea typeface="Calibri" pitchFamily="34" charset="-122"/>
                <a:cs typeface="Calibri" pitchFamily="34" charset="-120"/>
              </a:rPr>
              <a:t>Taps, pins and dismissals move the score by at most ±0.25, so learning can never bury a warning. Reset restores the feed exactly.</a:t>
            </a:r>
            <a:endParaRPr lang="en-US" sz="1150" dirty="0"/>
          </a:p>
        </p:txBody>
      </p:sp>
      <p:sp>
        <p:nvSpPr>
          <p:cNvPr id="21" name="Shape 19"/>
          <p:cNvSpPr/>
          <p:nvPr/>
        </p:nvSpPr>
        <p:spPr>
          <a:xfrm>
            <a:off x="7406640" y="1417320"/>
            <a:ext cx="4206240" cy="4892040"/>
          </a:xfrm>
          <a:prstGeom prst="roundRect">
            <a:avLst>
              <a:gd name="adj" fmla="val 1739"/>
            </a:avLst>
          </a:prstGeom>
          <a:solidFill>
            <a:srgbClr val="F2F6F9"/>
          </a:solidFill>
          <a:ln w="12700">
            <a:solidFill>
              <a:srgbClr val="D8E3EC"/>
            </a:solidFill>
            <a:prstDash val="solid"/>
          </a:ln>
        </p:spPr>
      </p:sp>
      <p:sp>
        <p:nvSpPr>
          <p:cNvPr id="22" name="Text 20"/>
          <p:cNvSpPr txBox="1"/>
          <p:nvPr/>
        </p:nvSpPr>
        <p:spPr>
          <a:xfrm>
            <a:off x="7589520" y="1600200"/>
            <a:ext cx="3840480" cy="274320"/>
          </a:xfrm>
          <a:prstGeom prst="rect">
            <a:avLst/>
          </a:prstGeom>
          <a:noFill/>
          <a:ln/>
        </p:spPr>
        <p:txBody>
          <a:bodyPr wrap="square" lIns="0" tIns="0" rIns="0" bIns="0" rtlCol="0" anchor="ctr"/>
          <a:lstStyle/>
          <a:p>
            <a:pPr algn="ctr" indent="0" marL="0">
              <a:buNone/>
            </a:pPr>
            <a:r>
              <a:rPr lang="en-US" sz="1250" b="1" dirty="0">
                <a:solidFill>
                  <a:srgbClr val="21295C"/>
                </a:solidFill>
                <a:latin typeface="Calibri" pitchFamily="34" charset="0"/>
                <a:ea typeface="Calibri" pitchFamily="34" charset="-122"/>
                <a:cs typeface="Calibri" pitchFamily="34" charset="-120"/>
              </a:rPr>
              <a:t>Same backend. Same location. Same minute.</a:t>
            </a:r>
            <a:endParaRPr lang="en-US" sz="1250" dirty="0"/>
          </a:p>
        </p:txBody>
      </p:sp>
      <p:pic>
        <p:nvPicPr>
          <p:cNvPr id="23" name="Image 0" descr="Parent home screen">    </p:cNvPr>
          <p:cNvPicPr>
            <a:picLocks noChangeAspect="1"/>
          </p:cNvPicPr>
          <p:nvPr/>
        </p:nvPicPr>
        <p:blipFill>
          <a:blip r:embed="rId1"/>
          <a:stretch>
            <a:fillRect/>
          </a:stretch>
        </p:blipFill>
        <p:spPr>
          <a:xfrm>
            <a:off x="7462418" y="2011680"/>
            <a:ext cx="1267358" cy="2743200"/>
          </a:xfrm>
          <a:prstGeom prst="rect">
            <a:avLst/>
          </a:prstGeom>
        </p:spPr>
      </p:pic>
      <p:sp>
        <p:nvSpPr>
          <p:cNvPr id="24" name="Text 21"/>
          <p:cNvSpPr txBox="1"/>
          <p:nvPr/>
        </p:nvSpPr>
        <p:spPr>
          <a:xfrm>
            <a:off x="7462418" y="4828032"/>
            <a:ext cx="1267358" cy="237744"/>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Parent</a:t>
            </a:r>
            <a:endParaRPr lang="en-US" sz="1100" dirty="0"/>
          </a:p>
        </p:txBody>
      </p:sp>
      <p:pic>
        <p:nvPicPr>
          <p:cNvPr id="25" name="Image 1" descr="Fitness home screen">    </p:cNvPr>
          <p:cNvPicPr>
            <a:picLocks noChangeAspect="1"/>
          </p:cNvPicPr>
          <p:nvPr/>
        </p:nvPicPr>
        <p:blipFill>
          <a:blip r:embed="rId2"/>
          <a:stretch>
            <a:fillRect/>
          </a:stretch>
        </p:blipFill>
        <p:spPr>
          <a:xfrm>
            <a:off x="8876081" y="2011680"/>
            <a:ext cx="1267358" cy="2743200"/>
          </a:xfrm>
          <a:prstGeom prst="rect">
            <a:avLst/>
          </a:prstGeom>
        </p:spPr>
      </p:pic>
      <p:sp>
        <p:nvSpPr>
          <p:cNvPr id="26" name="Text 22"/>
          <p:cNvSpPr txBox="1"/>
          <p:nvPr/>
        </p:nvSpPr>
        <p:spPr>
          <a:xfrm>
            <a:off x="8876081" y="4828032"/>
            <a:ext cx="1267358" cy="237744"/>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Fitness</a:t>
            </a:r>
            <a:endParaRPr lang="en-US" sz="1100" dirty="0"/>
          </a:p>
        </p:txBody>
      </p:sp>
      <p:pic>
        <p:nvPicPr>
          <p:cNvPr id="27" name="Image 2" descr="Health home screen">    </p:cNvPr>
          <p:cNvPicPr>
            <a:picLocks noChangeAspect="1"/>
          </p:cNvPicPr>
          <p:nvPr/>
        </p:nvPicPr>
        <p:blipFill>
          <a:blip r:embed="rId3"/>
          <a:stretch>
            <a:fillRect/>
          </a:stretch>
        </p:blipFill>
        <p:spPr>
          <a:xfrm>
            <a:off x="10289743" y="2011680"/>
            <a:ext cx="1267358" cy="2743200"/>
          </a:xfrm>
          <a:prstGeom prst="rect">
            <a:avLst/>
          </a:prstGeom>
        </p:spPr>
      </p:pic>
      <p:sp>
        <p:nvSpPr>
          <p:cNvPr id="28" name="Text 23"/>
          <p:cNvSpPr txBox="1"/>
          <p:nvPr/>
        </p:nvSpPr>
        <p:spPr>
          <a:xfrm>
            <a:off x="10289743" y="4828032"/>
            <a:ext cx="1267358" cy="237744"/>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Health</a:t>
            </a:r>
            <a:endParaRPr lang="en-US" sz="1100" dirty="0"/>
          </a:p>
        </p:txBody>
      </p:sp>
      <p:sp>
        <p:nvSpPr>
          <p:cNvPr id="29" name="Text 24"/>
          <p:cNvSpPr txBox="1"/>
          <p:nvPr/>
        </p:nvSpPr>
        <p:spPr>
          <a:xfrm>
            <a:off x="7589520" y="5175504"/>
            <a:ext cx="3840480" cy="914400"/>
          </a:xfrm>
          <a:prstGeom prst="rect">
            <a:avLst/>
          </a:prstGeom>
          <a:noFill/>
          <a:ln/>
        </p:spPr>
        <p:txBody>
          <a:bodyPr wrap="square" lIns="0" tIns="0" rIns="0" bIns="0" rtlCol="0" anchor="ctr"/>
          <a:lstStyle/>
          <a:p>
            <a:pPr indent="0" marL="0">
              <a:lnSpc>
                <a:spcPct val="110000"/>
              </a:lnSpc>
              <a:buNone/>
            </a:pPr>
            <a:r>
              <a:rPr lang="en-US" sz="1050" dirty="0">
                <a:solidFill>
                  <a:srgbClr val="5A6B7C"/>
                </a:solidFill>
                <a:latin typeface="Calibri" pitchFamily="34" charset="0"/>
                <a:ea typeface="Calibri" pitchFamily="34" charset="-122"/>
                <a:cs typeface="Calibri" pitchFamily="34" charset="-120"/>
              </a:rPr>
              <a:t>Three completely different feeds from one payload each. Nothing in the app hardcodes a card order, so IMD could add, reorder or retire a card without an app release.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548640"/>
          </a:xfrm>
          <a:prstGeom prst="rect">
            <a:avLst/>
          </a:prstGeom>
          <a:noFill/>
          <a:ln/>
        </p:spPr>
        <p:txBody>
          <a:bodyPr wrap="square" lIns="0" tIns="0" rIns="0" bIns="0" rtlCol="0" anchor="ctr"/>
          <a:lstStyle/>
          <a:p>
            <a:pPr indent="0" marL="0">
              <a:buNone/>
            </a:pPr>
            <a:r>
              <a:rPr lang="en-US" sz="3800" b="1" dirty="0">
                <a:solidFill>
                  <a:srgbClr val="21295C"/>
                </a:solidFill>
                <a:latin typeface="Cambria" pitchFamily="34" charset="0"/>
                <a:ea typeface="Cambria" pitchFamily="34" charset="-122"/>
                <a:cs typeface="Cambria" pitchFamily="34" charset="-120"/>
              </a:rPr>
              <a:t>Technical approach</a:t>
            </a:r>
            <a:endParaRPr lang="en-US" sz="3800" dirty="0"/>
          </a:p>
        </p:txBody>
      </p:sp>
      <p:sp>
        <p:nvSpPr>
          <p:cNvPr id="3" name="Text 1"/>
          <p:cNvSpPr txBox="1"/>
          <p:nvPr/>
        </p:nvSpPr>
        <p:spPr>
          <a:xfrm>
            <a:off x="548640" y="932688"/>
            <a:ext cx="8229600" cy="292608"/>
          </a:xfrm>
          <a:prstGeom prst="rect">
            <a:avLst/>
          </a:prstGeom>
          <a:noFill/>
          <a:ln/>
        </p:spPr>
        <p:txBody>
          <a:bodyPr wrap="square" lIns="0" tIns="0" rIns="0" bIns="0" rtlCol="0" anchor="ctr"/>
          <a:lstStyle/>
          <a:p>
            <a:pPr indent="0" marL="0">
              <a:buNone/>
            </a:pPr>
            <a:r>
              <a:rPr lang="en-US" sz="1400" dirty="0">
                <a:solidFill>
                  <a:srgbClr val="1C7293"/>
                </a:solidFill>
                <a:latin typeface="Calibri" pitchFamily="34" charset="0"/>
                <a:ea typeface="Calibri" pitchFamily="34" charset="-122"/>
                <a:cs typeface="Calibri" pitchFamily="34" charset="-120"/>
              </a:rPr>
              <a:t>Flutter · FastAPI · a pure-Python ranking engine — and no API key to run any of it.</a:t>
            </a:r>
            <a:endParaRPr lang="en-US" sz="1400" dirty="0"/>
          </a:p>
        </p:txBody>
      </p:sp>
      <p:sp>
        <p:nvSpPr>
          <p:cNvPr id="4" name="Shape 2"/>
          <p:cNvSpPr/>
          <p:nvPr/>
        </p:nvSpPr>
        <p:spPr>
          <a:xfrm>
            <a:off x="548640" y="1417320"/>
            <a:ext cx="3108960" cy="2423160"/>
          </a:xfrm>
          <a:prstGeom prst="roundRect">
            <a:avLst>
              <a:gd name="adj" fmla="val 2642"/>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5" name="Text 3"/>
          <p:cNvSpPr txBox="1"/>
          <p:nvPr/>
        </p:nvSpPr>
        <p:spPr>
          <a:xfrm>
            <a:off x="749808" y="1572768"/>
            <a:ext cx="2706624" cy="256032"/>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Flutter app</a:t>
            </a:r>
            <a:endParaRPr lang="en-US" sz="1450" dirty="0"/>
          </a:p>
        </p:txBody>
      </p:sp>
      <p:sp>
        <p:nvSpPr>
          <p:cNvPr id="6" name="Text 4"/>
          <p:cNvSpPr txBox="1"/>
          <p:nvPr/>
        </p:nvSpPr>
        <p:spPr>
          <a:xfrm>
            <a:off x="749808" y="1819656"/>
            <a:ext cx="2706624" cy="219456"/>
          </a:xfrm>
          <a:prstGeom prst="rect">
            <a:avLst/>
          </a:prstGeom>
          <a:noFill/>
          <a:ln/>
        </p:spPr>
        <p:txBody>
          <a:bodyPr wrap="square" lIns="0" tIns="0" rIns="0" bIns="0" rtlCol="0" anchor="ctr"/>
          <a:lstStyle/>
          <a:p>
            <a:pPr indent="0" marL="0">
              <a:buNone/>
            </a:pPr>
            <a:r>
              <a:rPr lang="en-US" sz="950" dirty="0">
                <a:solidFill>
                  <a:srgbClr val="5A6B7C"/>
                </a:solidFill>
                <a:latin typeface="Calibri" pitchFamily="34" charset="0"/>
                <a:ea typeface="Calibri" pitchFamily="34" charset="-122"/>
                <a:cs typeface="Calibri" pitchFamily="34" charset="-120"/>
              </a:rPr>
              <a:t>Android · iOS · web</a:t>
            </a:r>
            <a:endParaRPr lang="en-US" sz="950" dirty="0"/>
          </a:p>
        </p:txBody>
      </p:sp>
      <p:sp>
        <p:nvSpPr>
          <p:cNvPr id="7" name="Text 5"/>
          <p:cNvSpPr txBox="1"/>
          <p:nvPr/>
        </p:nvSpPr>
        <p:spPr>
          <a:xfrm>
            <a:off x="749808" y="2121408"/>
            <a:ext cx="2743200" cy="1609344"/>
          </a:xfrm>
          <a:prstGeom prst="rect">
            <a:avLst/>
          </a:prstGeom>
          <a:noFill/>
          <a:ln/>
        </p:spPr>
        <p:txBody>
          <a:bodyPr wrap="square" lIns="0" tIns="0" rIns="0" bIns="0" rtlCol="0" anchor="ctr"/>
          <a:lstStyle/>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Riverpod · go_router · Dio · flutter_map</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15 renderers, a detail page each</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JSON file cache → works offline</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WebSocket client → live re-rank</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ARB i18n: en + hi complete</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Draws the order it is given</a:t>
            </a:r>
            <a:endParaRPr lang="en-US" sz="1000" dirty="0"/>
          </a:p>
        </p:txBody>
      </p:sp>
      <p:sp>
        <p:nvSpPr>
          <p:cNvPr id="8" name="Shape 6"/>
          <p:cNvSpPr/>
          <p:nvPr/>
        </p:nvSpPr>
        <p:spPr>
          <a:xfrm>
            <a:off x="4526280" y="1417320"/>
            <a:ext cx="3108960" cy="2423160"/>
          </a:xfrm>
          <a:prstGeom prst="roundRect">
            <a:avLst>
              <a:gd name="adj" fmla="val 2642"/>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9" name="Text 7"/>
          <p:cNvSpPr txBox="1"/>
          <p:nvPr/>
        </p:nvSpPr>
        <p:spPr>
          <a:xfrm>
            <a:off x="4727448" y="1572768"/>
            <a:ext cx="2706624" cy="256032"/>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FastAPI backend</a:t>
            </a:r>
            <a:endParaRPr lang="en-US" sz="1450" dirty="0"/>
          </a:p>
        </p:txBody>
      </p:sp>
      <p:sp>
        <p:nvSpPr>
          <p:cNvPr id="10" name="Text 8"/>
          <p:cNvSpPr txBox="1"/>
          <p:nvPr/>
        </p:nvSpPr>
        <p:spPr>
          <a:xfrm>
            <a:off x="4727448" y="1819656"/>
            <a:ext cx="2706624" cy="219456"/>
          </a:xfrm>
          <a:prstGeom prst="rect">
            <a:avLst/>
          </a:prstGeom>
          <a:noFill/>
          <a:ln/>
        </p:spPr>
        <p:txBody>
          <a:bodyPr wrap="square" lIns="0" tIns="0" rIns="0" bIns="0" rtlCol="0" anchor="ctr"/>
          <a:lstStyle/>
          <a:p>
            <a:pPr indent="0" marL="0">
              <a:buNone/>
            </a:pPr>
            <a:r>
              <a:rPr lang="en-US" sz="950" dirty="0">
                <a:solidFill>
                  <a:srgbClr val="5A6B7C"/>
                </a:solidFill>
                <a:latin typeface="Calibri" pitchFamily="34" charset="0"/>
                <a:ea typeface="Calibri" pitchFamily="34" charset="-122"/>
                <a:cs typeface="Calibri" pitchFamily="34" charset="-120"/>
              </a:rPr>
              <a:t>Python 3.13 · Pydantic v2</a:t>
            </a:r>
            <a:endParaRPr lang="en-US" sz="950" dirty="0"/>
          </a:p>
        </p:txBody>
      </p:sp>
      <p:sp>
        <p:nvSpPr>
          <p:cNvPr id="11" name="Text 9"/>
          <p:cNvSpPr txBox="1"/>
          <p:nvPr/>
        </p:nvSpPr>
        <p:spPr>
          <a:xfrm>
            <a:off x="4727448" y="2121408"/>
            <a:ext cx="2743200" cy="1609344"/>
          </a:xfrm>
          <a:prstGeom prst="rect">
            <a:avLst/>
          </a:prstGeom>
          <a:noFill/>
          <a:ln/>
        </p:spPr>
        <p:txBody>
          <a:bodyPr wrap="square" lIns="0" tIns="0" rIns="0" bIns="0" rtlCol="0" anchor="ctr"/>
          <a:lstStyle/>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snapshot assembly, TTL-cached</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derived metrics: CPCB AQI, comfort, workout, school run, commute, frost, packing, planting, tides*, pollen*</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engine → explain → 33 builders → i18n</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SQLite / Postgres · JWT · admin console</a:t>
            </a:r>
            <a:endParaRPr lang="en-US" sz="1000" dirty="0"/>
          </a:p>
        </p:txBody>
      </p:sp>
      <p:sp>
        <p:nvSpPr>
          <p:cNvPr id="12" name="Shape 10"/>
          <p:cNvSpPr/>
          <p:nvPr/>
        </p:nvSpPr>
        <p:spPr>
          <a:xfrm>
            <a:off x="8503920" y="1417320"/>
            <a:ext cx="3108960" cy="2423160"/>
          </a:xfrm>
          <a:prstGeom prst="roundRect">
            <a:avLst>
              <a:gd name="adj" fmla="val 2642"/>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13" name="Text 11"/>
          <p:cNvSpPr txBox="1"/>
          <p:nvPr/>
        </p:nvSpPr>
        <p:spPr>
          <a:xfrm>
            <a:off x="8705088" y="1572768"/>
            <a:ext cx="2706624" cy="256032"/>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Providers</a:t>
            </a:r>
            <a:endParaRPr lang="en-US" sz="1450" dirty="0"/>
          </a:p>
        </p:txBody>
      </p:sp>
      <p:sp>
        <p:nvSpPr>
          <p:cNvPr id="14" name="Text 12"/>
          <p:cNvSpPr txBox="1"/>
          <p:nvPr/>
        </p:nvSpPr>
        <p:spPr>
          <a:xfrm>
            <a:off x="8705088" y="1819656"/>
            <a:ext cx="2706624" cy="219456"/>
          </a:xfrm>
          <a:prstGeom prst="rect">
            <a:avLst/>
          </a:prstGeom>
          <a:noFill/>
          <a:ln/>
        </p:spPr>
        <p:txBody>
          <a:bodyPr wrap="square" lIns="0" tIns="0" rIns="0" bIns="0" rtlCol="0" anchor="ctr"/>
          <a:lstStyle/>
          <a:p>
            <a:pPr indent="0" marL="0">
              <a:buNone/>
            </a:pPr>
            <a:r>
              <a:rPr lang="en-US" sz="950" dirty="0">
                <a:solidFill>
                  <a:srgbClr val="5A6B7C"/>
                </a:solidFill>
                <a:latin typeface="Calibri" pitchFamily="34" charset="0"/>
                <a:ea typeface="Calibri" pitchFamily="34" charset="-122"/>
                <a:cs typeface="Calibri" pitchFamily="34" charset="-120"/>
              </a:rPr>
              <a:t>a chain, with the source recorded</a:t>
            </a:r>
            <a:endParaRPr lang="en-US" sz="950" dirty="0"/>
          </a:p>
        </p:txBody>
      </p:sp>
      <p:sp>
        <p:nvSpPr>
          <p:cNvPr id="15" name="Text 13"/>
          <p:cNvSpPr txBox="1"/>
          <p:nvPr/>
        </p:nvSpPr>
        <p:spPr>
          <a:xfrm>
            <a:off x="8705088" y="2121408"/>
            <a:ext cx="2743200" cy="1609344"/>
          </a:xfrm>
          <a:prstGeom prst="rect">
            <a:avLst/>
          </a:prstGeom>
          <a:noFill/>
          <a:ln/>
        </p:spPr>
        <p:txBody>
          <a:bodyPr wrap="square" lIns="0" tIns="0" rIns="0" bIns="0" rtlCol="0" anchor="ctr"/>
          <a:lstStyle/>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IMD — whitelist-aware, 401 today</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Open-Meteo forecast / air / marine</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BigDataCloud reverse geocoding</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RainViewer radar frames + tiles</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IMD → Open-Meteo → estimated</a:t>
            </a:r>
            <a:endParaRPr lang="en-US" sz="1000" dirty="0"/>
          </a:p>
          <a:p>
            <a:pPr indent="0" marL="0">
              <a:lnSpc>
                <a:spcPct val="105000"/>
              </a:lnSpc>
              <a:spcAft>
                <a:spcPts val="500"/>
              </a:spcAft>
              <a:buNone/>
            </a:pPr>
            <a:r>
              <a:rPr lang="en-US" sz="1000" dirty="0">
                <a:solidFill>
                  <a:srgbClr val="1A2433"/>
                </a:solidFill>
                <a:latin typeface="Calibri" pitchFamily="34" charset="0"/>
                <a:ea typeface="Calibri" pitchFamily="34" charset="-122"/>
                <a:cs typeface="Calibri" pitchFamily="34" charset="-120"/>
              </a:rPr>
              <a:t>·  * estimated values say so on screen</a:t>
            </a:r>
            <a:endParaRPr lang="en-US" sz="1000" dirty="0"/>
          </a:p>
        </p:txBody>
      </p:sp>
      <p:sp>
        <p:nvSpPr>
          <p:cNvPr id="16" name="Shape 14"/>
          <p:cNvSpPr/>
          <p:nvPr/>
        </p:nvSpPr>
        <p:spPr>
          <a:xfrm>
            <a:off x="3826764" y="2551176"/>
            <a:ext cx="530352" cy="256032"/>
          </a:xfrm>
          <a:prstGeom prst="rightArrow">
            <a:avLst/>
          </a:prstGeom>
          <a:solidFill>
            <a:srgbClr val="065A82"/>
          </a:solidFill>
          <a:ln/>
        </p:spPr>
      </p:sp>
      <p:sp>
        <p:nvSpPr>
          <p:cNvPr id="17" name="Text 15"/>
          <p:cNvSpPr txBox="1"/>
          <p:nvPr/>
        </p:nvSpPr>
        <p:spPr>
          <a:xfrm>
            <a:off x="3657600" y="2221992"/>
            <a:ext cx="868680" cy="219456"/>
          </a:xfrm>
          <a:prstGeom prst="rect">
            <a:avLst/>
          </a:prstGeom>
          <a:noFill/>
          <a:ln/>
        </p:spPr>
        <p:txBody>
          <a:bodyPr wrap="square" lIns="0" tIns="0" rIns="0" bIns="0" rtlCol="0" anchor="ctr"/>
          <a:lstStyle/>
          <a:p>
            <a:pPr algn="ctr" indent="0" marL="0">
              <a:buNone/>
            </a:pPr>
            <a:r>
              <a:rPr lang="en-US" sz="800" dirty="0">
                <a:solidFill>
                  <a:srgbClr val="5A6B7C"/>
                </a:solidFill>
                <a:latin typeface="Calibri" pitchFamily="34" charset="0"/>
                <a:ea typeface="Calibri" pitchFamily="34" charset="-122"/>
                <a:cs typeface="Calibri" pitchFamily="34" charset="-120"/>
              </a:rPr>
              <a:t>REST  /api/v1</a:t>
            </a:r>
            <a:endParaRPr lang="en-US" sz="800" dirty="0"/>
          </a:p>
        </p:txBody>
      </p:sp>
      <p:sp>
        <p:nvSpPr>
          <p:cNvPr id="18" name="Text 16"/>
          <p:cNvSpPr txBox="1"/>
          <p:nvPr/>
        </p:nvSpPr>
        <p:spPr>
          <a:xfrm>
            <a:off x="3657600" y="2862072"/>
            <a:ext cx="868680" cy="219456"/>
          </a:xfrm>
          <a:prstGeom prst="rect">
            <a:avLst/>
          </a:prstGeom>
          <a:noFill/>
          <a:ln/>
        </p:spPr>
        <p:txBody>
          <a:bodyPr wrap="square" lIns="0" tIns="0" rIns="0" bIns="0" rtlCol="0" anchor="ctr"/>
          <a:lstStyle/>
          <a:p>
            <a:pPr algn="ctr" indent="0" marL="0">
              <a:buNone/>
            </a:pPr>
            <a:r>
              <a:rPr lang="en-US" sz="800" dirty="0">
                <a:solidFill>
                  <a:srgbClr val="5A6B7C"/>
                </a:solidFill>
                <a:latin typeface="Calibri" pitchFamily="34" charset="0"/>
                <a:ea typeface="Calibri" pitchFamily="34" charset="-122"/>
                <a:cs typeface="Calibri" pitchFamily="34" charset="-120"/>
              </a:rPr>
              <a:t>WS  /ws/alerts</a:t>
            </a:r>
            <a:endParaRPr lang="en-US" sz="800" dirty="0"/>
          </a:p>
        </p:txBody>
      </p:sp>
      <p:sp>
        <p:nvSpPr>
          <p:cNvPr id="19" name="Shape 17"/>
          <p:cNvSpPr/>
          <p:nvPr/>
        </p:nvSpPr>
        <p:spPr>
          <a:xfrm>
            <a:off x="7804404" y="2551176"/>
            <a:ext cx="530352" cy="256032"/>
          </a:xfrm>
          <a:prstGeom prst="rightArrow">
            <a:avLst/>
          </a:prstGeom>
          <a:solidFill>
            <a:srgbClr val="065A82"/>
          </a:solidFill>
          <a:ln/>
        </p:spPr>
      </p:sp>
      <p:sp>
        <p:nvSpPr>
          <p:cNvPr id="20" name="Text 18"/>
          <p:cNvSpPr txBox="1"/>
          <p:nvPr/>
        </p:nvSpPr>
        <p:spPr>
          <a:xfrm>
            <a:off x="7635240" y="2221992"/>
            <a:ext cx="868680" cy="219456"/>
          </a:xfrm>
          <a:prstGeom prst="rect">
            <a:avLst/>
          </a:prstGeom>
          <a:noFill/>
          <a:ln/>
        </p:spPr>
        <p:txBody>
          <a:bodyPr wrap="square" lIns="0" tIns="0" rIns="0" bIns="0" rtlCol="0" anchor="ctr"/>
          <a:lstStyle/>
          <a:p>
            <a:pPr algn="ctr" indent="0" marL="0">
              <a:buNone/>
            </a:pPr>
            <a:r>
              <a:rPr lang="en-US" sz="800" dirty="0">
                <a:solidFill>
                  <a:srgbClr val="5A6B7C"/>
                </a:solidFill>
                <a:latin typeface="Calibri" pitchFamily="34" charset="0"/>
                <a:ea typeface="Calibri" pitchFamily="34" charset="-122"/>
                <a:cs typeface="Calibri" pitchFamily="34" charset="-120"/>
              </a:rPr>
              <a:t>snapshot</a:t>
            </a:r>
            <a:endParaRPr lang="en-US" sz="800" dirty="0"/>
          </a:p>
        </p:txBody>
      </p:sp>
      <p:sp>
        <p:nvSpPr>
          <p:cNvPr id="21" name="Text 19"/>
          <p:cNvSpPr txBox="1"/>
          <p:nvPr/>
        </p:nvSpPr>
        <p:spPr>
          <a:xfrm>
            <a:off x="7635240" y="2862072"/>
            <a:ext cx="868680" cy="219456"/>
          </a:xfrm>
          <a:prstGeom prst="rect">
            <a:avLst/>
          </a:prstGeom>
          <a:noFill/>
          <a:ln/>
        </p:spPr>
        <p:txBody>
          <a:bodyPr wrap="square" lIns="0" tIns="0" rIns="0" bIns="0" rtlCol="0" anchor="ctr"/>
          <a:lstStyle/>
          <a:p>
            <a:pPr algn="ctr" indent="0" marL="0">
              <a:buNone/>
            </a:pPr>
            <a:r>
              <a:rPr lang="en-US" sz="800" dirty="0">
                <a:solidFill>
                  <a:srgbClr val="5A6B7C"/>
                </a:solidFill>
                <a:latin typeface="Calibri" pitchFamily="34" charset="0"/>
                <a:ea typeface="Calibri" pitchFamily="34" charset="-122"/>
                <a:cs typeface="Calibri" pitchFamily="34" charset="-120"/>
              </a:rPr>
              <a:t>cached upstream</a:t>
            </a:r>
            <a:endParaRPr lang="en-US" sz="800" dirty="0"/>
          </a:p>
        </p:txBody>
      </p:sp>
      <p:sp>
        <p:nvSpPr>
          <p:cNvPr id="22" name="Shape 20"/>
          <p:cNvSpPr/>
          <p:nvPr/>
        </p:nvSpPr>
        <p:spPr>
          <a:xfrm>
            <a:off x="548640" y="4069080"/>
            <a:ext cx="11064240" cy="1572768"/>
          </a:xfrm>
          <a:prstGeom prst="roundRect">
            <a:avLst>
              <a:gd name="adj" fmla="val 4070"/>
            </a:avLst>
          </a:prstGeom>
          <a:solidFill>
            <a:srgbClr val="21295C"/>
          </a:solidFill>
          <a:ln w="12700">
            <a:solidFill>
              <a:srgbClr val="21295C"/>
            </a:solidFill>
            <a:prstDash val="solid"/>
          </a:ln>
        </p:spPr>
      </p:sp>
      <p:sp>
        <p:nvSpPr>
          <p:cNvPr id="23" name="Text 21"/>
          <p:cNvSpPr txBox="1"/>
          <p:nvPr/>
        </p:nvSpPr>
        <p:spPr>
          <a:xfrm>
            <a:off x="822960" y="4206240"/>
            <a:ext cx="10515600" cy="237744"/>
          </a:xfrm>
          <a:prstGeom prst="rect">
            <a:avLst/>
          </a:prstGeom>
          <a:noFill/>
          <a:ln/>
        </p:spPr>
        <p:txBody>
          <a:bodyPr wrap="square" lIns="0" tIns="0" rIns="0" bIns="0" rtlCol="0" anchor="ctr"/>
          <a:lstStyle/>
          <a:p>
            <a:pPr indent="0" marL="0">
              <a:buNone/>
            </a:pPr>
            <a:r>
              <a:rPr lang="en-US" sz="1150" b="1" dirty="0">
                <a:solidFill>
                  <a:srgbClr val="F28C28"/>
                </a:solidFill>
                <a:latin typeface="Calibri" pitchFamily="34" charset="0"/>
                <a:ea typeface="Calibri" pitchFamily="34" charset="-122"/>
                <a:cs typeface="Calibri" pitchFamily="34" charset="-120"/>
              </a:rPr>
              <a:t>The score, in full — deterministic, unit-tested, and normative in docs/03</a:t>
            </a:r>
            <a:endParaRPr lang="en-US" sz="1150" dirty="0"/>
          </a:p>
        </p:txBody>
      </p:sp>
      <p:sp>
        <p:nvSpPr>
          <p:cNvPr id="24" name="Text 22"/>
          <p:cNvSpPr txBox="1"/>
          <p:nvPr/>
        </p:nvSpPr>
        <p:spPr>
          <a:xfrm>
            <a:off x="822960" y="4498848"/>
            <a:ext cx="10515600" cy="1005840"/>
          </a:xfrm>
          <a:prstGeom prst="rect">
            <a:avLst/>
          </a:prstGeom>
          <a:noFill/>
          <a:ln/>
        </p:spPr>
        <p:txBody>
          <a:bodyPr wrap="square" lIns="0" tIns="0" rIns="0" bIns="0" rtlCol="0" anchor="ctr"/>
          <a:lstStyle/>
          <a:p>
            <a:pPr indent="0" marL="0">
              <a:lnSpc>
                <a:spcPct val="115000"/>
              </a:lnSpc>
              <a:buNone/>
            </a:pPr>
            <a:r>
              <a:rPr lang="en-US" sz="1000" dirty="0">
                <a:solidFill>
                  <a:srgbClr val="DCE7F5"/>
                </a:solidFill>
                <a:latin typeface="Courier New" pitchFamily="34" charset="0"/>
                <a:ea typeface="Courier New" pitchFamily="34" charset="-122"/>
                <a:cs typeface="Courier New" pitchFamily="34" charset="-120"/>
              </a:rPr>
              <a:t>rel    = min(1, max(contribs) + 0.15·(sum(contribs) - max))     contribs = persona weight x card affinity</a:t>
            </a:r>
            <a:endParaRPr lang="en-US" sz="1000" dirty="0"/>
          </a:p>
          <a:p>
            <a:pPr indent="0" marL="0">
              <a:lnSpc>
                <a:spcPct val="115000"/>
              </a:lnSpc>
              <a:buNone/>
            </a:pPr>
            <a:r>
              <a:rPr lang="en-US" sz="1000" dirty="0">
                <a:solidFill>
                  <a:srgbClr val="DCE7F5"/>
                </a:solidFill>
                <a:latin typeface="Courier New" pitchFamily="34" charset="0"/>
                <a:ea typeface="Courier New" pitchFamily="34" charset="-122"/>
                <a:cs typeface="Courier New" pitchFamily="34" charset="-120"/>
              </a:rPr>
              <a:t>ctx    = clamp(time_mult x season_mult, 0.4, 1.6)              urg = f(data): AQI Very Poor .75, red heatwave 1.0</a:t>
            </a:r>
            <a:endParaRPr lang="en-US" sz="1000" dirty="0"/>
          </a:p>
          <a:p>
            <a:pPr indent="0" marL="0">
              <a:lnSpc>
                <a:spcPct val="115000"/>
              </a:lnSpc>
              <a:buNone/>
            </a:pPr>
            <a:r>
              <a:rPr lang="en-US" sz="1000" dirty="0">
                <a:solidFill>
                  <a:srgbClr val="DCE7F5"/>
                </a:solidFill>
                <a:latin typeface="Courier New" pitchFamily="34" charset="0"/>
                <a:ea typeface="Courier New" pitchFamily="34" charset="-122"/>
                <a:cs typeface="Courier New" pitchFamily="34" charset="-120"/>
              </a:rPr>
              <a:t>eng    = 0.25·tanh((taps + 2·expands + 3·pins - 3·dismisses)/8)   bounded to +/- 0.25</a:t>
            </a:r>
            <a:endParaRPr lang="en-US" sz="1000" dirty="0"/>
          </a:p>
          <a:p>
            <a:pPr indent="0" marL="0">
              <a:lnSpc>
                <a:spcPct val="115000"/>
              </a:lnSpc>
              <a:buNone/>
            </a:pPr>
            <a:r>
              <a:rPr lang="en-US" sz="1000" dirty="0">
                <a:solidFill>
                  <a:srgbClr val="DCE7F5"/>
                </a:solidFill>
                <a:latin typeface="Courier New" pitchFamily="34" charset="0"/>
                <a:ea typeface="Courier New" pitchFamily="34" charset="-122"/>
                <a:cs typeface="Courier New" pitchFamily="34" charset="-120"/>
              </a:rPr>
              <a:t>score  = 0.5·rel·ctx + 0.5·urg + eng      pinned if urg &gt;= 0.8      order: pinned, hero, top 8, more_cards</a:t>
            </a:r>
            <a:endParaRPr lang="en-US" sz="1000" dirty="0"/>
          </a:p>
        </p:txBody>
      </p:sp>
      <p:sp>
        <p:nvSpPr>
          <p:cNvPr id="25" name="Shape 23"/>
          <p:cNvSpPr/>
          <p:nvPr/>
        </p:nvSpPr>
        <p:spPr>
          <a:xfrm>
            <a:off x="548640" y="5870448"/>
            <a:ext cx="1316736" cy="384048"/>
          </a:xfrm>
          <a:prstGeom prst="roundRect">
            <a:avLst>
              <a:gd name="adj" fmla="val 47619"/>
            </a:avLst>
          </a:prstGeom>
          <a:solidFill>
            <a:srgbClr val="FFFFFF"/>
          </a:solidFill>
          <a:ln w="12700">
            <a:solidFill>
              <a:srgbClr val="1C7293"/>
            </a:solidFill>
            <a:prstDash val="solid"/>
          </a:ln>
        </p:spPr>
      </p:sp>
      <p:sp>
        <p:nvSpPr>
          <p:cNvPr id="26" name="Text 24"/>
          <p:cNvSpPr txBox="1"/>
          <p:nvPr/>
        </p:nvSpPr>
        <p:spPr>
          <a:xfrm>
            <a:off x="548640"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Flutter 3.47</a:t>
            </a:r>
            <a:endParaRPr lang="en-US" sz="900" dirty="0"/>
          </a:p>
        </p:txBody>
      </p:sp>
      <p:sp>
        <p:nvSpPr>
          <p:cNvPr id="27" name="Shape 25"/>
          <p:cNvSpPr/>
          <p:nvPr/>
        </p:nvSpPr>
        <p:spPr>
          <a:xfrm>
            <a:off x="1933956" y="5870448"/>
            <a:ext cx="1316736" cy="384048"/>
          </a:xfrm>
          <a:prstGeom prst="roundRect">
            <a:avLst>
              <a:gd name="adj" fmla="val 47619"/>
            </a:avLst>
          </a:prstGeom>
          <a:solidFill>
            <a:srgbClr val="FFFFFF"/>
          </a:solidFill>
          <a:ln w="12700">
            <a:solidFill>
              <a:srgbClr val="1C7293"/>
            </a:solidFill>
            <a:prstDash val="solid"/>
          </a:ln>
        </p:spPr>
      </p:sp>
      <p:sp>
        <p:nvSpPr>
          <p:cNvPr id="28" name="Text 26"/>
          <p:cNvSpPr txBox="1"/>
          <p:nvPr/>
        </p:nvSpPr>
        <p:spPr>
          <a:xfrm>
            <a:off x="1933956"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FastAPI · Py 3.13</a:t>
            </a:r>
            <a:endParaRPr lang="en-US" sz="900" dirty="0"/>
          </a:p>
        </p:txBody>
      </p:sp>
      <p:sp>
        <p:nvSpPr>
          <p:cNvPr id="29" name="Shape 27"/>
          <p:cNvSpPr/>
          <p:nvPr/>
        </p:nvSpPr>
        <p:spPr>
          <a:xfrm>
            <a:off x="3319272" y="5870448"/>
            <a:ext cx="1316736" cy="384048"/>
          </a:xfrm>
          <a:prstGeom prst="roundRect">
            <a:avLst>
              <a:gd name="adj" fmla="val 47619"/>
            </a:avLst>
          </a:prstGeom>
          <a:solidFill>
            <a:srgbClr val="FFFFFF"/>
          </a:solidFill>
          <a:ln w="12700">
            <a:solidFill>
              <a:srgbClr val="1C7293"/>
            </a:solidFill>
            <a:prstDash val="solid"/>
          </a:ln>
        </p:spPr>
      </p:sp>
      <p:sp>
        <p:nvSpPr>
          <p:cNvPr id="30" name="Text 28"/>
          <p:cNvSpPr txBox="1"/>
          <p:nvPr/>
        </p:nvSpPr>
        <p:spPr>
          <a:xfrm>
            <a:off x="3319272"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SQLite / Postgres</a:t>
            </a:r>
            <a:endParaRPr lang="en-US" sz="900" dirty="0"/>
          </a:p>
        </p:txBody>
      </p:sp>
      <p:sp>
        <p:nvSpPr>
          <p:cNvPr id="31" name="Shape 29"/>
          <p:cNvSpPr/>
          <p:nvPr/>
        </p:nvSpPr>
        <p:spPr>
          <a:xfrm>
            <a:off x="4704588" y="5870448"/>
            <a:ext cx="1316736" cy="384048"/>
          </a:xfrm>
          <a:prstGeom prst="roundRect">
            <a:avLst>
              <a:gd name="adj" fmla="val 47619"/>
            </a:avLst>
          </a:prstGeom>
          <a:solidFill>
            <a:srgbClr val="FFFFFF"/>
          </a:solidFill>
          <a:ln w="12700">
            <a:solidFill>
              <a:srgbClr val="1C7293"/>
            </a:solidFill>
            <a:prstDash val="solid"/>
          </a:ln>
        </p:spPr>
      </p:sp>
      <p:sp>
        <p:nvSpPr>
          <p:cNvPr id="32" name="Text 30"/>
          <p:cNvSpPr txBox="1"/>
          <p:nvPr/>
        </p:nvSpPr>
        <p:spPr>
          <a:xfrm>
            <a:off x="4704588"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TTL cache / Redis</a:t>
            </a:r>
            <a:endParaRPr lang="en-US" sz="900" dirty="0"/>
          </a:p>
        </p:txBody>
      </p:sp>
      <p:sp>
        <p:nvSpPr>
          <p:cNvPr id="33" name="Shape 31"/>
          <p:cNvSpPr/>
          <p:nvPr/>
        </p:nvSpPr>
        <p:spPr>
          <a:xfrm>
            <a:off x="6089904" y="5870448"/>
            <a:ext cx="1316736" cy="384048"/>
          </a:xfrm>
          <a:prstGeom prst="roundRect">
            <a:avLst>
              <a:gd name="adj" fmla="val 47619"/>
            </a:avLst>
          </a:prstGeom>
          <a:solidFill>
            <a:srgbClr val="FFFFFF"/>
          </a:solidFill>
          <a:ln w="12700">
            <a:solidFill>
              <a:srgbClr val="1C7293"/>
            </a:solidFill>
            <a:prstDash val="solid"/>
          </a:ln>
        </p:spPr>
      </p:sp>
      <p:sp>
        <p:nvSpPr>
          <p:cNvPr id="34" name="Text 32"/>
          <p:cNvSpPr txBox="1"/>
          <p:nvPr/>
        </p:nvSpPr>
        <p:spPr>
          <a:xfrm>
            <a:off x="6089904"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WebSocket alerts</a:t>
            </a:r>
            <a:endParaRPr lang="en-US" sz="900" dirty="0"/>
          </a:p>
        </p:txBody>
      </p:sp>
      <p:sp>
        <p:nvSpPr>
          <p:cNvPr id="35" name="Shape 33"/>
          <p:cNvSpPr/>
          <p:nvPr/>
        </p:nvSpPr>
        <p:spPr>
          <a:xfrm>
            <a:off x="7475220" y="5870448"/>
            <a:ext cx="1316736" cy="384048"/>
          </a:xfrm>
          <a:prstGeom prst="roundRect">
            <a:avLst>
              <a:gd name="adj" fmla="val 47619"/>
            </a:avLst>
          </a:prstGeom>
          <a:solidFill>
            <a:srgbClr val="FFFFFF"/>
          </a:solidFill>
          <a:ln w="12700">
            <a:solidFill>
              <a:srgbClr val="1C7293"/>
            </a:solidFill>
            <a:prstDash val="solid"/>
          </a:ln>
        </p:spPr>
      </p:sp>
      <p:sp>
        <p:nvSpPr>
          <p:cNvPr id="36" name="Text 34"/>
          <p:cNvSpPr txBox="1"/>
          <p:nvPr/>
        </p:nvSpPr>
        <p:spPr>
          <a:xfrm>
            <a:off x="7475220"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Docker · Render</a:t>
            </a:r>
            <a:endParaRPr lang="en-US" sz="900" dirty="0"/>
          </a:p>
        </p:txBody>
      </p:sp>
      <p:sp>
        <p:nvSpPr>
          <p:cNvPr id="37" name="Shape 35"/>
          <p:cNvSpPr/>
          <p:nvPr/>
        </p:nvSpPr>
        <p:spPr>
          <a:xfrm>
            <a:off x="8860536" y="5870448"/>
            <a:ext cx="1316736" cy="384048"/>
          </a:xfrm>
          <a:prstGeom prst="roundRect">
            <a:avLst>
              <a:gd name="adj" fmla="val 47619"/>
            </a:avLst>
          </a:prstGeom>
          <a:solidFill>
            <a:srgbClr val="FFFFFF"/>
          </a:solidFill>
          <a:ln w="12700">
            <a:solidFill>
              <a:srgbClr val="1C7293"/>
            </a:solidFill>
            <a:prstDash val="solid"/>
          </a:ln>
        </p:spPr>
      </p:sp>
      <p:sp>
        <p:nvSpPr>
          <p:cNvPr id="38" name="Text 36"/>
          <p:cNvSpPr txBox="1"/>
          <p:nvPr/>
        </p:nvSpPr>
        <p:spPr>
          <a:xfrm>
            <a:off x="8860536"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GitHub Actions CI</a:t>
            </a:r>
            <a:endParaRPr lang="en-US" sz="900" dirty="0"/>
          </a:p>
        </p:txBody>
      </p:sp>
      <p:sp>
        <p:nvSpPr>
          <p:cNvPr id="39" name="Shape 37"/>
          <p:cNvSpPr/>
          <p:nvPr/>
        </p:nvSpPr>
        <p:spPr>
          <a:xfrm>
            <a:off x="10245852" y="5870448"/>
            <a:ext cx="1316736" cy="384048"/>
          </a:xfrm>
          <a:prstGeom prst="roundRect">
            <a:avLst>
              <a:gd name="adj" fmla="val 47619"/>
            </a:avLst>
          </a:prstGeom>
          <a:solidFill>
            <a:srgbClr val="FFFFFF"/>
          </a:solidFill>
          <a:ln w="12700">
            <a:solidFill>
              <a:srgbClr val="1C7293"/>
            </a:solidFill>
            <a:prstDash val="solid"/>
          </a:ln>
        </p:spPr>
      </p:sp>
      <p:sp>
        <p:nvSpPr>
          <p:cNvPr id="40" name="Text 38"/>
          <p:cNvSpPr txBox="1"/>
          <p:nvPr/>
        </p:nvSpPr>
        <p:spPr>
          <a:xfrm>
            <a:off x="10245852" y="5870448"/>
            <a:ext cx="1316736" cy="384048"/>
          </a:xfrm>
          <a:prstGeom prst="rect">
            <a:avLst/>
          </a:prstGeom>
          <a:noFill/>
          <a:ln/>
        </p:spPr>
        <p:txBody>
          <a:bodyPr wrap="square" lIns="0" tIns="0" rIns="0" bIns="0" rtlCol="0" anchor="ctr"/>
          <a:lstStyle/>
          <a:p>
            <a:pPr algn="ctr" indent="0" marL="0">
              <a:buNone/>
            </a:pPr>
            <a:r>
              <a:rPr lang="en-US" sz="900" dirty="0">
                <a:solidFill>
                  <a:srgbClr val="065A82"/>
                </a:solidFill>
                <a:latin typeface="Calibri" pitchFamily="34" charset="0"/>
                <a:ea typeface="Calibri" pitchFamily="34" charset="-122"/>
                <a:cs typeface="Calibri" pitchFamily="34" charset="-120"/>
              </a:rPr>
              <a:t>No API key needed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548640"/>
          </a:xfrm>
          <a:prstGeom prst="rect">
            <a:avLst/>
          </a:prstGeom>
          <a:noFill/>
          <a:ln/>
        </p:spPr>
        <p:txBody>
          <a:bodyPr wrap="square" lIns="0" tIns="0" rIns="0" bIns="0" rtlCol="0" anchor="ctr"/>
          <a:lstStyle/>
          <a:p>
            <a:pPr indent="0" marL="0">
              <a:buNone/>
            </a:pPr>
            <a:r>
              <a:rPr lang="en-US" sz="3800" b="1" dirty="0">
                <a:solidFill>
                  <a:srgbClr val="21295C"/>
                </a:solidFill>
                <a:latin typeface="Cambria" pitchFamily="34" charset="0"/>
                <a:ea typeface="Cambria" pitchFamily="34" charset="-122"/>
                <a:cs typeface="Cambria" pitchFamily="34" charset="-120"/>
              </a:rPr>
              <a:t>Feasibility and viability</a:t>
            </a:r>
            <a:endParaRPr lang="en-US" sz="3800" dirty="0"/>
          </a:p>
        </p:txBody>
      </p:sp>
      <p:sp>
        <p:nvSpPr>
          <p:cNvPr id="3" name="Text 1"/>
          <p:cNvSpPr txBox="1"/>
          <p:nvPr/>
        </p:nvSpPr>
        <p:spPr>
          <a:xfrm>
            <a:off x="548640" y="932688"/>
            <a:ext cx="11064240" cy="292608"/>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Not a mock-up. Every step of the judge demo script was walked in the real app against a live backend — verdict PASS (docs/QA_REPORT.md).</a:t>
            </a:r>
            <a:endParaRPr lang="en-US" sz="1350" dirty="0"/>
          </a:p>
        </p:txBody>
      </p:sp>
      <p:sp>
        <p:nvSpPr>
          <p:cNvPr id="4" name="Shape 2"/>
          <p:cNvSpPr/>
          <p:nvPr/>
        </p:nvSpPr>
        <p:spPr>
          <a:xfrm>
            <a:off x="548640" y="1417320"/>
            <a:ext cx="1729740" cy="1371600"/>
          </a:xfrm>
          <a:prstGeom prst="roundRect">
            <a:avLst>
              <a:gd name="adj" fmla="val 4667"/>
            </a:avLst>
          </a:prstGeom>
          <a:solidFill>
            <a:srgbClr val="F2F6F9"/>
          </a:solidFill>
          <a:ln w="12700">
            <a:solidFill>
              <a:srgbClr val="D8E3EC"/>
            </a:solidFill>
            <a:prstDash val="solid"/>
          </a:ln>
        </p:spPr>
      </p:sp>
      <p:sp>
        <p:nvSpPr>
          <p:cNvPr id="5" name="Text 3"/>
          <p:cNvSpPr txBox="1"/>
          <p:nvPr/>
        </p:nvSpPr>
        <p:spPr>
          <a:xfrm>
            <a:off x="5486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348</a:t>
            </a:r>
            <a:endParaRPr lang="en-US" sz="3000" dirty="0"/>
          </a:p>
        </p:txBody>
      </p:sp>
      <p:sp>
        <p:nvSpPr>
          <p:cNvPr id="6" name="Text 4"/>
          <p:cNvSpPr txBox="1"/>
          <p:nvPr/>
        </p:nvSpPr>
        <p:spPr>
          <a:xfrm>
            <a:off x="5486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backend tests,</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fully offline</a:t>
            </a:r>
            <a:endParaRPr lang="en-US" sz="950" dirty="0"/>
          </a:p>
        </p:txBody>
      </p:sp>
      <p:sp>
        <p:nvSpPr>
          <p:cNvPr id="7" name="Shape 5"/>
          <p:cNvSpPr/>
          <p:nvPr/>
        </p:nvSpPr>
        <p:spPr>
          <a:xfrm>
            <a:off x="2415540" y="1417320"/>
            <a:ext cx="1729740" cy="1371600"/>
          </a:xfrm>
          <a:prstGeom prst="roundRect">
            <a:avLst>
              <a:gd name="adj" fmla="val 4667"/>
            </a:avLst>
          </a:prstGeom>
          <a:solidFill>
            <a:srgbClr val="F2F6F9"/>
          </a:solidFill>
          <a:ln w="12700">
            <a:solidFill>
              <a:srgbClr val="D8E3EC"/>
            </a:solidFill>
            <a:prstDash val="solid"/>
          </a:ln>
        </p:spPr>
      </p:sp>
      <p:sp>
        <p:nvSpPr>
          <p:cNvPr id="8" name="Text 6"/>
          <p:cNvSpPr txBox="1"/>
          <p:nvPr/>
        </p:nvSpPr>
        <p:spPr>
          <a:xfrm>
            <a:off x="24155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103</a:t>
            </a:r>
            <a:endParaRPr lang="en-US" sz="3000" dirty="0"/>
          </a:p>
        </p:txBody>
      </p:sp>
      <p:sp>
        <p:nvSpPr>
          <p:cNvPr id="9" name="Text 7"/>
          <p:cNvSpPr txBox="1"/>
          <p:nvPr/>
        </p:nvSpPr>
        <p:spPr>
          <a:xfrm>
            <a:off x="24155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app tests ·</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analyze clean</a:t>
            </a:r>
            <a:endParaRPr lang="en-US" sz="950" dirty="0"/>
          </a:p>
        </p:txBody>
      </p:sp>
      <p:sp>
        <p:nvSpPr>
          <p:cNvPr id="10" name="Shape 8"/>
          <p:cNvSpPr/>
          <p:nvPr/>
        </p:nvSpPr>
        <p:spPr>
          <a:xfrm>
            <a:off x="4282440" y="1417320"/>
            <a:ext cx="1729740" cy="1371600"/>
          </a:xfrm>
          <a:prstGeom prst="roundRect">
            <a:avLst>
              <a:gd name="adj" fmla="val 4667"/>
            </a:avLst>
          </a:prstGeom>
          <a:solidFill>
            <a:srgbClr val="F2F6F9"/>
          </a:solidFill>
          <a:ln w="12700">
            <a:solidFill>
              <a:srgbClr val="D8E3EC"/>
            </a:solidFill>
            <a:prstDash val="solid"/>
          </a:ln>
        </p:spPr>
      </p:sp>
      <p:sp>
        <p:nvSpPr>
          <p:cNvPr id="11" name="Text 9"/>
          <p:cNvSpPr txBox="1"/>
          <p:nvPr/>
        </p:nvSpPr>
        <p:spPr>
          <a:xfrm>
            <a:off x="42824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10 / 10</a:t>
            </a:r>
            <a:endParaRPr lang="en-US" sz="3000" dirty="0"/>
          </a:p>
        </p:txBody>
      </p:sp>
      <p:sp>
        <p:nvSpPr>
          <p:cNvPr id="12" name="Text 10"/>
          <p:cNvSpPr txBox="1"/>
          <p:nvPr/>
        </p:nvSpPr>
        <p:spPr>
          <a:xfrm>
            <a:off x="42824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demo steps</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PASS</a:t>
            </a:r>
            <a:endParaRPr lang="en-US" sz="950" dirty="0"/>
          </a:p>
        </p:txBody>
      </p:sp>
      <p:sp>
        <p:nvSpPr>
          <p:cNvPr id="13" name="Shape 11"/>
          <p:cNvSpPr/>
          <p:nvPr/>
        </p:nvSpPr>
        <p:spPr>
          <a:xfrm>
            <a:off x="6149340" y="1417320"/>
            <a:ext cx="1729740" cy="1371600"/>
          </a:xfrm>
          <a:prstGeom prst="roundRect">
            <a:avLst>
              <a:gd name="adj" fmla="val 4667"/>
            </a:avLst>
          </a:prstGeom>
          <a:solidFill>
            <a:srgbClr val="F2F6F9"/>
          </a:solidFill>
          <a:ln w="12700">
            <a:solidFill>
              <a:srgbClr val="D8E3EC"/>
            </a:solidFill>
            <a:prstDash val="solid"/>
          </a:ln>
        </p:spPr>
      </p:sp>
      <p:sp>
        <p:nvSpPr>
          <p:cNvPr id="14" name="Text 12"/>
          <p:cNvSpPr txBox="1"/>
          <p:nvPr/>
        </p:nvSpPr>
        <p:spPr>
          <a:xfrm>
            <a:off x="61493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2 ms</a:t>
            </a:r>
            <a:endParaRPr lang="en-US" sz="3000" dirty="0"/>
          </a:p>
        </p:txBody>
      </p:sp>
      <p:sp>
        <p:nvSpPr>
          <p:cNvPr id="15" name="Text 13"/>
          <p:cNvSpPr txBox="1"/>
          <p:nvPr/>
        </p:nvSpPr>
        <p:spPr>
          <a:xfrm>
            <a:off x="61493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warm /home,</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server-side</a:t>
            </a:r>
            <a:endParaRPr lang="en-US" sz="950" dirty="0"/>
          </a:p>
        </p:txBody>
      </p:sp>
      <p:sp>
        <p:nvSpPr>
          <p:cNvPr id="16" name="Shape 14"/>
          <p:cNvSpPr/>
          <p:nvPr/>
        </p:nvSpPr>
        <p:spPr>
          <a:xfrm>
            <a:off x="8016240" y="1417320"/>
            <a:ext cx="1729740" cy="1371600"/>
          </a:xfrm>
          <a:prstGeom prst="roundRect">
            <a:avLst>
              <a:gd name="adj" fmla="val 4667"/>
            </a:avLst>
          </a:prstGeom>
          <a:solidFill>
            <a:srgbClr val="F2F6F9"/>
          </a:solidFill>
          <a:ln w="12700">
            <a:solidFill>
              <a:srgbClr val="D8E3EC"/>
            </a:solidFill>
            <a:prstDash val="solid"/>
          </a:ln>
        </p:spPr>
      </p:sp>
      <p:sp>
        <p:nvSpPr>
          <p:cNvPr id="17" name="Text 15"/>
          <p:cNvSpPr txBox="1"/>
          <p:nvPr/>
        </p:nvSpPr>
        <p:spPr>
          <a:xfrm>
            <a:off x="80162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33 / 8</a:t>
            </a:r>
            <a:endParaRPr lang="en-US" sz="3000" dirty="0"/>
          </a:p>
        </p:txBody>
      </p:sp>
      <p:sp>
        <p:nvSpPr>
          <p:cNvPr id="18" name="Text 16"/>
          <p:cNvSpPr txBox="1"/>
          <p:nvPr/>
        </p:nvSpPr>
        <p:spPr>
          <a:xfrm>
            <a:off x="80162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card types /</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personas</a:t>
            </a:r>
            <a:endParaRPr lang="en-US" sz="950" dirty="0"/>
          </a:p>
        </p:txBody>
      </p:sp>
      <p:sp>
        <p:nvSpPr>
          <p:cNvPr id="19" name="Shape 17"/>
          <p:cNvSpPr/>
          <p:nvPr/>
        </p:nvSpPr>
        <p:spPr>
          <a:xfrm>
            <a:off x="9883140" y="1417320"/>
            <a:ext cx="1729740" cy="1371600"/>
          </a:xfrm>
          <a:prstGeom prst="roundRect">
            <a:avLst>
              <a:gd name="adj" fmla="val 4667"/>
            </a:avLst>
          </a:prstGeom>
          <a:solidFill>
            <a:srgbClr val="F2F6F9"/>
          </a:solidFill>
          <a:ln w="12700">
            <a:solidFill>
              <a:srgbClr val="D8E3EC"/>
            </a:solidFill>
            <a:prstDash val="solid"/>
          </a:ln>
        </p:spPr>
      </p:sp>
      <p:sp>
        <p:nvSpPr>
          <p:cNvPr id="20" name="Text 18"/>
          <p:cNvSpPr txBox="1"/>
          <p:nvPr/>
        </p:nvSpPr>
        <p:spPr>
          <a:xfrm>
            <a:off x="9883140" y="1536192"/>
            <a:ext cx="1729740" cy="59436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40</a:t>
            </a:r>
            <a:endParaRPr lang="en-US" sz="3000" dirty="0"/>
          </a:p>
        </p:txBody>
      </p:sp>
      <p:sp>
        <p:nvSpPr>
          <p:cNvPr id="21" name="Text 19"/>
          <p:cNvSpPr txBox="1"/>
          <p:nvPr/>
        </p:nvSpPr>
        <p:spPr>
          <a:xfrm>
            <a:off x="9883140" y="2139696"/>
            <a:ext cx="1729740" cy="548640"/>
          </a:xfrm>
          <a:prstGeom prst="rect">
            <a:avLst/>
          </a:prstGeom>
          <a:noFill/>
          <a:ln/>
        </p:spPr>
        <p:txBody>
          <a:bodyPr wrap="square" lIns="0" tIns="0" rIns="0" bIns="0" rtlCol="0" anchor="ctr"/>
          <a:lstStyle/>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QA screenshots</a:t>
            </a:r>
            <a:endParaRPr lang="en-US" sz="950" dirty="0"/>
          </a:p>
          <a:p>
            <a:pPr algn="ctr" indent="0" marL="0">
              <a:lnSpc>
                <a:spcPct val="105000"/>
              </a:lnSpc>
              <a:buNone/>
            </a:pPr>
            <a:r>
              <a:rPr lang="en-US" sz="950" dirty="0">
                <a:solidFill>
                  <a:srgbClr val="5A6B7C"/>
                </a:solidFill>
                <a:latin typeface="Calibri" pitchFamily="34" charset="0"/>
                <a:ea typeface="Calibri" pitchFamily="34" charset="-122"/>
                <a:cs typeface="Calibri" pitchFamily="34" charset="-120"/>
              </a:rPr>
              <a:t>of the walk</a:t>
            </a:r>
            <a:endParaRPr lang="en-US" sz="950" dirty="0"/>
          </a:p>
        </p:txBody>
      </p:sp>
      <p:sp>
        <p:nvSpPr>
          <p:cNvPr id="22" name="Text 20"/>
          <p:cNvSpPr txBox="1"/>
          <p:nvPr/>
        </p:nvSpPr>
        <p:spPr>
          <a:xfrm>
            <a:off x="548640" y="3035808"/>
            <a:ext cx="539496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Risks, and what already handles them</a:t>
            </a:r>
            <a:endParaRPr lang="en-US" sz="1400" dirty="0"/>
          </a:p>
        </p:txBody>
      </p:sp>
      <p:sp>
        <p:nvSpPr>
          <p:cNvPr id="23" name="Shape 21"/>
          <p:cNvSpPr/>
          <p:nvPr/>
        </p:nvSpPr>
        <p:spPr>
          <a:xfrm>
            <a:off x="548640" y="3410712"/>
            <a:ext cx="146304" cy="146304"/>
          </a:xfrm>
          <a:prstGeom prst="ellipse">
            <a:avLst/>
          </a:prstGeom>
          <a:solidFill>
            <a:srgbClr val="F28C28"/>
          </a:solidFill>
          <a:ln/>
        </p:spPr>
      </p:sp>
      <p:sp>
        <p:nvSpPr>
          <p:cNvPr id="24" name="Text 22"/>
          <p:cNvSpPr txBox="1"/>
          <p:nvPr/>
        </p:nvSpPr>
        <p:spPr>
          <a:xfrm>
            <a:off x="841248" y="3383280"/>
            <a:ext cx="5102352" cy="237744"/>
          </a:xfrm>
          <a:prstGeom prst="rect">
            <a:avLst/>
          </a:prstGeom>
          <a:noFill/>
          <a:ln/>
        </p:spPr>
        <p:txBody>
          <a:bodyPr wrap="square" lIns="0" tIns="0" rIns="0" bIns="0" rtlCol="0" anchor="ctr"/>
          <a:lstStyle/>
          <a:p>
            <a:pPr indent="0" marL="0">
              <a:buNone/>
            </a:pPr>
            <a:r>
              <a:rPr lang="en-US" sz="1150" b="1" dirty="0">
                <a:solidFill>
                  <a:srgbClr val="1A2433"/>
                </a:solidFill>
                <a:latin typeface="Calibri" pitchFamily="34" charset="0"/>
                <a:ea typeface="Calibri" pitchFamily="34" charset="-122"/>
                <a:cs typeface="Calibri" pitchFamily="34" charset="-120"/>
              </a:rPr>
              <a:t>IMD APIs answer 401 until a host is whitelisted</a:t>
            </a:r>
            <a:endParaRPr lang="en-US" sz="1150" dirty="0"/>
          </a:p>
        </p:txBody>
      </p:sp>
      <p:sp>
        <p:nvSpPr>
          <p:cNvPr id="25" name="Text 23"/>
          <p:cNvSpPr txBox="1"/>
          <p:nvPr/>
        </p:nvSpPr>
        <p:spPr>
          <a:xfrm>
            <a:off x="841248" y="3611880"/>
            <a:ext cx="5102352" cy="457200"/>
          </a:xfrm>
          <a:prstGeom prst="rect">
            <a:avLst/>
          </a:prstGeom>
          <a:noFill/>
          <a:ln/>
        </p:spPr>
        <p:txBody>
          <a:bodyPr wrap="square" lIns="0" tIns="0" rIns="0" bIns="0" rtlCol="0" anchor="ctr"/>
          <a:lstStyle/>
          <a:p>
            <a:pPr indent="0" marL="0">
              <a:lnSpc>
                <a:spcPct val="105000"/>
              </a:lnSpc>
              <a:buNone/>
            </a:pPr>
            <a:r>
              <a:rPr lang="en-US" sz="1000" dirty="0">
                <a:solidFill>
                  <a:srgbClr val="5A6B7C"/>
                </a:solidFill>
                <a:latin typeface="Calibri" pitchFamily="34" charset="0"/>
                <a:ea typeface="Calibri" pitchFamily="34" charset="-122"/>
                <a:cs typeface="Calibri" pitchFamily="34" charset="-120"/>
              </a:rPr>
              <a:t>providers/imd.py detects it, backs off 10 min and falls through to Open-Meteo. Whitelisting flips it on with no code change.</a:t>
            </a:r>
            <a:endParaRPr lang="en-US" sz="1000" dirty="0"/>
          </a:p>
        </p:txBody>
      </p:sp>
      <p:sp>
        <p:nvSpPr>
          <p:cNvPr id="26" name="Shape 24"/>
          <p:cNvSpPr/>
          <p:nvPr/>
        </p:nvSpPr>
        <p:spPr>
          <a:xfrm>
            <a:off x="548640" y="4169664"/>
            <a:ext cx="146304" cy="146304"/>
          </a:xfrm>
          <a:prstGeom prst="ellipse">
            <a:avLst/>
          </a:prstGeom>
          <a:solidFill>
            <a:srgbClr val="F28C28"/>
          </a:solidFill>
          <a:ln/>
        </p:spPr>
      </p:sp>
      <p:sp>
        <p:nvSpPr>
          <p:cNvPr id="27" name="Text 25"/>
          <p:cNvSpPr txBox="1"/>
          <p:nvPr/>
        </p:nvSpPr>
        <p:spPr>
          <a:xfrm>
            <a:off x="841248" y="4142232"/>
            <a:ext cx="5102352" cy="237744"/>
          </a:xfrm>
          <a:prstGeom prst="rect">
            <a:avLst/>
          </a:prstGeom>
          <a:noFill/>
          <a:ln/>
        </p:spPr>
        <p:txBody>
          <a:bodyPr wrap="square" lIns="0" tIns="0" rIns="0" bIns="0" rtlCol="0" anchor="ctr"/>
          <a:lstStyle/>
          <a:p>
            <a:pPr indent="0" marL="0">
              <a:buNone/>
            </a:pPr>
            <a:r>
              <a:rPr lang="en-US" sz="1150" b="1" dirty="0">
                <a:solidFill>
                  <a:srgbClr val="1A2433"/>
                </a:solidFill>
                <a:latin typeface="Calibri" pitchFamily="34" charset="0"/>
                <a:ea typeface="Calibri" pitchFamily="34" charset="-122"/>
                <a:cs typeface="Calibri" pitchFamily="34" charset="-120"/>
              </a:rPr>
              <a:t>A live demo depends on the network</a:t>
            </a:r>
            <a:endParaRPr lang="en-US" sz="1150" dirty="0"/>
          </a:p>
        </p:txBody>
      </p:sp>
      <p:sp>
        <p:nvSpPr>
          <p:cNvPr id="28" name="Text 26"/>
          <p:cNvSpPr txBox="1"/>
          <p:nvPr/>
        </p:nvSpPr>
        <p:spPr>
          <a:xfrm>
            <a:off x="841248" y="4370832"/>
            <a:ext cx="5102352" cy="457200"/>
          </a:xfrm>
          <a:prstGeom prst="rect">
            <a:avLst/>
          </a:prstGeom>
          <a:noFill/>
          <a:ln/>
        </p:spPr>
        <p:txBody>
          <a:bodyPr wrap="square" lIns="0" tIns="0" rIns="0" bIns="0" rtlCol="0" anchor="ctr"/>
          <a:lstStyle/>
          <a:p>
            <a:pPr indent="0" marL="0">
              <a:lnSpc>
                <a:spcPct val="105000"/>
              </a:lnSpc>
              <a:buNone/>
            </a:pPr>
            <a:r>
              <a:rPr lang="en-US" sz="1000" dirty="0">
                <a:solidFill>
                  <a:srgbClr val="5A6B7C"/>
                </a:solidFill>
                <a:latin typeface="Calibri" pitchFamily="34" charset="0"/>
                <a:ea typeface="Calibri" pitchFamily="34" charset="-122"/>
                <a:cs typeface="Calibri" pitchFamily="34" charset="-120"/>
              </a:rPr>
              <a:t>The offline path is on the demo script: cache first, then a bundled payload that labels itself “Sample data”.</a:t>
            </a:r>
            <a:endParaRPr lang="en-US" sz="1000" dirty="0"/>
          </a:p>
        </p:txBody>
      </p:sp>
      <p:sp>
        <p:nvSpPr>
          <p:cNvPr id="29" name="Shape 27"/>
          <p:cNvSpPr/>
          <p:nvPr/>
        </p:nvSpPr>
        <p:spPr>
          <a:xfrm>
            <a:off x="548640" y="4928616"/>
            <a:ext cx="146304" cy="146304"/>
          </a:xfrm>
          <a:prstGeom prst="ellipse">
            <a:avLst/>
          </a:prstGeom>
          <a:solidFill>
            <a:srgbClr val="F28C28"/>
          </a:solidFill>
          <a:ln/>
        </p:spPr>
      </p:sp>
      <p:sp>
        <p:nvSpPr>
          <p:cNvPr id="30" name="Text 28"/>
          <p:cNvSpPr txBox="1"/>
          <p:nvPr/>
        </p:nvSpPr>
        <p:spPr>
          <a:xfrm>
            <a:off x="841248" y="4901184"/>
            <a:ext cx="5102352" cy="237744"/>
          </a:xfrm>
          <a:prstGeom prst="rect">
            <a:avLst/>
          </a:prstGeom>
          <a:noFill/>
          <a:ln/>
        </p:spPr>
        <p:txBody>
          <a:bodyPr wrap="square" lIns="0" tIns="0" rIns="0" bIns="0" rtlCol="0" anchor="ctr"/>
          <a:lstStyle/>
          <a:p>
            <a:pPr indent="0" marL="0">
              <a:buNone/>
            </a:pPr>
            <a:r>
              <a:rPr lang="en-US" sz="1150" b="1" dirty="0">
                <a:solidFill>
                  <a:srgbClr val="1A2433"/>
                </a:solidFill>
                <a:latin typeface="Calibri" pitchFamily="34" charset="0"/>
                <a:ea typeface="Calibri" pitchFamily="34" charset="-122"/>
                <a:cs typeface="Calibri" pitchFamily="34" charset="-120"/>
              </a:rPr>
              <a:t>Modelled values could look like observations</a:t>
            </a:r>
            <a:endParaRPr lang="en-US" sz="1150" dirty="0"/>
          </a:p>
        </p:txBody>
      </p:sp>
      <p:sp>
        <p:nvSpPr>
          <p:cNvPr id="31" name="Text 29"/>
          <p:cNvSpPr txBox="1"/>
          <p:nvPr/>
        </p:nvSpPr>
        <p:spPr>
          <a:xfrm>
            <a:off x="841248" y="5129784"/>
            <a:ext cx="5102352" cy="457200"/>
          </a:xfrm>
          <a:prstGeom prst="rect">
            <a:avLst/>
          </a:prstGeom>
          <a:noFill/>
          <a:ln/>
        </p:spPr>
        <p:txBody>
          <a:bodyPr wrap="square" lIns="0" tIns="0" rIns="0" bIns="0" rtlCol="0" anchor="ctr"/>
          <a:lstStyle/>
          <a:p>
            <a:pPr indent="0" marL="0">
              <a:lnSpc>
                <a:spcPct val="105000"/>
              </a:lnSpc>
              <a:buNone/>
            </a:pPr>
            <a:r>
              <a:rPr lang="en-US" sz="1000" dirty="0">
                <a:solidFill>
                  <a:srgbClr val="5A6B7C"/>
                </a:solidFill>
                <a:latin typeface="Calibri" pitchFamily="34" charset="0"/>
                <a:ea typeface="Calibri" pitchFamily="34" charset="-122"/>
                <a:cs typeface="Calibri" pitchFamily="34" charset="-120"/>
              </a:rPr>
              <a:t>“source”: “estimated”, an Estimated chip, and an INCOIS / Survey of India disclaimer on tides.</a:t>
            </a:r>
            <a:endParaRPr lang="en-US" sz="1000" dirty="0"/>
          </a:p>
        </p:txBody>
      </p:sp>
      <p:sp>
        <p:nvSpPr>
          <p:cNvPr id="32" name="Shape 30"/>
          <p:cNvSpPr/>
          <p:nvPr/>
        </p:nvSpPr>
        <p:spPr>
          <a:xfrm>
            <a:off x="548640" y="5687568"/>
            <a:ext cx="146304" cy="146304"/>
          </a:xfrm>
          <a:prstGeom prst="ellipse">
            <a:avLst/>
          </a:prstGeom>
          <a:solidFill>
            <a:srgbClr val="F28C28"/>
          </a:solidFill>
          <a:ln/>
        </p:spPr>
      </p:sp>
      <p:sp>
        <p:nvSpPr>
          <p:cNvPr id="33" name="Text 31"/>
          <p:cNvSpPr txBox="1"/>
          <p:nvPr/>
        </p:nvSpPr>
        <p:spPr>
          <a:xfrm>
            <a:off x="841248" y="5660136"/>
            <a:ext cx="5102352" cy="237744"/>
          </a:xfrm>
          <a:prstGeom prst="rect">
            <a:avLst/>
          </a:prstGeom>
          <a:noFill/>
          <a:ln/>
        </p:spPr>
        <p:txBody>
          <a:bodyPr wrap="square" lIns="0" tIns="0" rIns="0" bIns="0" rtlCol="0" anchor="ctr"/>
          <a:lstStyle/>
          <a:p>
            <a:pPr indent="0" marL="0">
              <a:buNone/>
            </a:pPr>
            <a:r>
              <a:rPr lang="en-US" sz="1150" b="1" dirty="0">
                <a:solidFill>
                  <a:srgbClr val="1A2433"/>
                </a:solidFill>
                <a:latin typeface="Calibri" pitchFamily="34" charset="0"/>
                <a:ea typeface="Calibri" pitchFamily="34" charset="-122"/>
                <a:cs typeface="Calibri" pitchFamily="34" charset="-120"/>
              </a:rPr>
              <a:t>Learning could bury a safety-critical card</a:t>
            </a:r>
            <a:endParaRPr lang="en-US" sz="1150" dirty="0"/>
          </a:p>
        </p:txBody>
      </p:sp>
      <p:sp>
        <p:nvSpPr>
          <p:cNvPr id="34" name="Text 32"/>
          <p:cNvSpPr txBox="1"/>
          <p:nvPr/>
        </p:nvSpPr>
        <p:spPr>
          <a:xfrm>
            <a:off x="841248" y="5888736"/>
            <a:ext cx="5102352" cy="457200"/>
          </a:xfrm>
          <a:prstGeom prst="rect">
            <a:avLst/>
          </a:prstGeom>
          <a:noFill/>
          <a:ln/>
        </p:spPr>
        <p:txBody>
          <a:bodyPr wrap="square" lIns="0" tIns="0" rIns="0" bIns="0" rtlCol="0" anchor="ctr"/>
          <a:lstStyle/>
          <a:p>
            <a:pPr indent="0" marL="0">
              <a:lnSpc>
                <a:spcPct val="105000"/>
              </a:lnSpc>
              <a:buNone/>
            </a:pPr>
            <a:r>
              <a:rPr lang="en-US" sz="1000" dirty="0">
                <a:solidFill>
                  <a:srgbClr val="5A6B7C"/>
                </a:solidFill>
                <a:latin typeface="Calibri" pitchFamily="34" charset="0"/>
                <a:ea typeface="Calibri" pitchFamily="34" charset="-122"/>
                <a:cs typeface="Calibri" pitchFamily="34" charset="-120"/>
              </a:rPr>
              <a:t>The engagement term is bounded at ±0.25 and urgency ≥ 0.8 pins regardless. You cannot dismiss your way out of a red warning.</a:t>
            </a:r>
            <a:endParaRPr lang="en-US" sz="1000" dirty="0"/>
          </a:p>
        </p:txBody>
      </p:sp>
      <p:sp>
        <p:nvSpPr>
          <p:cNvPr id="35" name="Shape 33"/>
          <p:cNvSpPr/>
          <p:nvPr/>
        </p:nvSpPr>
        <p:spPr>
          <a:xfrm>
            <a:off x="6355080" y="2971800"/>
            <a:ext cx="5257800" cy="3246120"/>
          </a:xfrm>
          <a:prstGeom prst="roundRect">
            <a:avLst>
              <a:gd name="adj" fmla="val 1972"/>
            </a:avLst>
          </a:prstGeom>
          <a:solidFill>
            <a:srgbClr val="F2F6F9"/>
          </a:solidFill>
          <a:ln w="12700">
            <a:solidFill>
              <a:srgbClr val="D8E3EC"/>
            </a:solidFill>
            <a:prstDash val="solid"/>
          </a:ln>
        </p:spPr>
      </p:sp>
      <p:sp>
        <p:nvSpPr>
          <p:cNvPr id="36" name="Text 34"/>
          <p:cNvSpPr txBox="1"/>
          <p:nvPr/>
        </p:nvSpPr>
        <p:spPr>
          <a:xfrm>
            <a:off x="6583680" y="3127248"/>
            <a:ext cx="480060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What we do not claim</a:t>
            </a:r>
            <a:endParaRPr lang="en-US" sz="1400" dirty="0"/>
          </a:p>
        </p:txBody>
      </p:sp>
      <p:sp>
        <p:nvSpPr>
          <p:cNvPr id="37" name="Text 35"/>
          <p:cNvSpPr txBox="1"/>
          <p:nvPr/>
        </p:nvSpPr>
        <p:spPr>
          <a:xfrm>
            <a:off x="6583680" y="3520440"/>
            <a:ext cx="4846320" cy="2468880"/>
          </a:xfrm>
          <a:prstGeom prst="rect">
            <a:avLst/>
          </a:prstGeom>
          <a:noFill/>
          <a:ln/>
        </p:spPr>
        <p:txBody>
          <a:bodyPr wrap="square" lIns="0" tIns="0" rIns="0" bIns="0" rtlCol="0" anchor="t"/>
          <a:lstStyle/>
          <a:p>
            <a:pPr indent="0" marL="0">
              <a:lnSpc>
                <a:spcPct val="108000"/>
              </a:lnSpc>
              <a:spcAft>
                <a:spcPts val="1400"/>
              </a:spcAft>
              <a:buNone/>
            </a:pPr>
            <a:r>
              <a:rPr lang="en-US" sz="1150" dirty="0">
                <a:solidFill>
                  <a:srgbClr val="1A2433"/>
                </a:solidFill>
                <a:latin typeface="Calibri" pitchFamily="34" charset="0"/>
                <a:ea typeface="Calibri" pitchFamily="34" charset="-122"/>
                <a:cs typeface="Calibri" pitchFamily="34" charset="-120"/>
              </a:rPr>
              <a:t>·  The APK has never been installed on a handset. Everything was verified in the web build — which shares 100 % of the Dart code — plus a static APK check.</a:t>
            </a:r>
            <a:endParaRPr lang="en-US" sz="1150" dirty="0"/>
          </a:p>
          <a:p>
            <a:pPr indent="0" marL="0">
              <a:lnSpc>
                <a:spcPct val="108000"/>
              </a:lnSpc>
              <a:spcAft>
                <a:spcPts val="1400"/>
              </a:spcAft>
              <a:buNone/>
            </a:pPr>
            <a:r>
              <a:rPr lang="en-US" sz="1150" dirty="0">
                <a:solidFill>
                  <a:srgbClr val="1A2433"/>
                </a:solidFill>
                <a:latin typeface="Calibri" pitchFamily="34" charset="0"/>
                <a:ea typeface="Calibri" pitchFamily="34" charset="-122"/>
                <a:cs typeface="Calibri" pitchFamily="34" charset="-120"/>
              </a:rPr>
              <a:t>·  The release APK is debug-signed. It installs and runs; a Play-store build needs a real keystore.</a:t>
            </a:r>
            <a:endParaRPr lang="en-US" sz="1150" dirty="0"/>
          </a:p>
          <a:p>
            <a:pPr indent="0" marL="0">
              <a:lnSpc>
                <a:spcPct val="108000"/>
              </a:lnSpc>
              <a:spcAft>
                <a:spcPts val="1400"/>
              </a:spcAft>
              <a:buNone/>
            </a:pPr>
            <a:r>
              <a:rPr lang="en-US" sz="1150" dirty="0">
                <a:solidFill>
                  <a:srgbClr val="1A2433"/>
                </a:solidFill>
                <a:latin typeface="Calibri" pitchFamily="34" charset="0"/>
                <a:ea typeface="Calibri" pitchFamily="34" charset="-122"/>
                <a:cs typeface="Calibri" pitchFamily="34" charset="-120"/>
              </a:rPr>
              <a:t>·  Five languages are offered, two are complete. Marathi, Tamil and Bengali fall back to English per key.</a:t>
            </a:r>
            <a:endParaRPr lang="en-US" sz="1150" dirty="0"/>
          </a:p>
          <a:p>
            <a:pPr indent="0" marL="0">
              <a:lnSpc>
                <a:spcPct val="108000"/>
              </a:lnSpc>
              <a:spcAft>
                <a:spcPts val="1400"/>
              </a:spcAft>
              <a:buNone/>
            </a:pPr>
            <a:r>
              <a:rPr lang="en-US" sz="1150" dirty="0">
                <a:solidFill>
                  <a:srgbClr val="1A2433"/>
                </a:solidFill>
                <a:latin typeface="Calibri" pitchFamily="34" charset="0"/>
                <a:ea typeface="Calibri" pitchFamily="34" charset="-122"/>
                <a:cs typeface="Calibri" pitchFamily="34" charset="-120"/>
              </a:rPr>
              <a:t>·  Tides, pollen and traffic are modelled, never observed — and the screen says so.</a:t>
            </a:r>
            <a:endParaRPr lang="en-US" sz="1150" dirty="0"/>
          </a:p>
          <a:p>
            <a:pPr indent="0" marL="0">
              <a:lnSpc>
                <a:spcPct val="108000"/>
              </a:lnSpc>
              <a:spcAft>
                <a:spcPts val="1400"/>
              </a:spcAft>
              <a:buNone/>
            </a:pPr>
            <a:r>
              <a:rPr lang="en-US" sz="1150" dirty="0">
                <a:solidFill>
                  <a:srgbClr val="1A2433"/>
                </a:solidFill>
                <a:latin typeface="Calibri" pitchFamily="34" charset="0"/>
                <a:ea typeface="Calibri" pitchFamily="34" charset="-122"/>
                <a:cs typeface="Calibri" pitchFamily="34" charset="-120"/>
              </a:rPr>
              <a:t>·  Pins and hides survive a session but not a reinstall — the app does not read card preferences at start-up.</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686800" cy="548640"/>
          </a:xfrm>
          <a:prstGeom prst="rect">
            <a:avLst/>
          </a:prstGeom>
          <a:noFill/>
          <a:ln/>
        </p:spPr>
        <p:txBody>
          <a:bodyPr wrap="square" lIns="0" tIns="0" rIns="0" bIns="0" rtlCol="0" anchor="ctr"/>
          <a:lstStyle/>
          <a:p>
            <a:pPr indent="0" marL="0">
              <a:buNone/>
            </a:pPr>
            <a:r>
              <a:rPr lang="en-US" sz="3800" b="1" dirty="0">
                <a:solidFill>
                  <a:srgbClr val="21295C"/>
                </a:solidFill>
                <a:latin typeface="Cambria" pitchFamily="34" charset="0"/>
                <a:ea typeface="Cambria" pitchFamily="34" charset="-122"/>
                <a:cs typeface="Cambria" pitchFamily="34" charset="-120"/>
              </a:rPr>
              <a:t>Impact and benefits</a:t>
            </a:r>
            <a:endParaRPr lang="en-US" sz="3800" dirty="0"/>
          </a:p>
        </p:txBody>
      </p:sp>
      <p:sp>
        <p:nvSpPr>
          <p:cNvPr id="3" name="Text 1"/>
          <p:cNvSpPr txBox="1"/>
          <p:nvPr/>
        </p:nvSpPr>
        <p:spPr>
          <a:xfrm>
            <a:off x="548640" y="932688"/>
            <a:ext cx="11064240" cy="292608"/>
          </a:xfrm>
          <a:prstGeom prst="rect">
            <a:avLst/>
          </a:prstGeom>
          <a:noFill/>
          <a:ln/>
        </p:spPr>
        <p:txBody>
          <a:bodyPr wrap="square" lIns="0" tIns="0" rIns="0" bIns="0" rtlCol="0" anchor="ctr"/>
          <a:lstStyle/>
          <a:p>
            <a:pPr indent="0" marL="0">
              <a:buNone/>
            </a:pPr>
            <a:r>
              <a:rPr lang="en-US" sz="1350" dirty="0">
                <a:solidFill>
                  <a:srgbClr val="1C7293"/>
                </a:solidFill>
                <a:latin typeface="Calibri" pitchFamily="34" charset="0"/>
                <a:ea typeface="Calibri" pitchFamily="34" charset="-122"/>
                <a:cs typeface="Calibri" pitchFamily="34" charset="-120"/>
              </a:rPr>
              <a:t>Every signal the problem statement names has a card — and the mapping is machine-checked on every test run.</a:t>
            </a:r>
            <a:endParaRPr lang="en-US" sz="1350" dirty="0"/>
          </a:p>
        </p:txBody>
      </p:sp>
      <p:sp>
        <p:nvSpPr>
          <p:cNvPr id="4" name="Shape 2"/>
          <p:cNvSpPr/>
          <p:nvPr/>
        </p:nvSpPr>
        <p:spPr>
          <a:xfrm>
            <a:off x="548640" y="141732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5" name="Text 3"/>
          <p:cNvSpPr txBox="1"/>
          <p:nvPr/>
        </p:nvSpPr>
        <p:spPr>
          <a:xfrm>
            <a:off x="713232" y="154533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Health-conscious</a:t>
            </a:r>
            <a:endParaRPr lang="en-US" sz="1250" dirty="0"/>
          </a:p>
        </p:txBody>
      </p:sp>
      <p:sp>
        <p:nvSpPr>
          <p:cNvPr id="6" name="Text 4"/>
          <p:cNvSpPr txBox="1"/>
          <p:nvPr/>
        </p:nvSpPr>
        <p:spPr>
          <a:xfrm>
            <a:off x="713232" y="181965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“Air quality is Severe (463) — move your workout indoors”</a:t>
            </a:r>
            <a:endParaRPr lang="en-US" sz="1050" dirty="0"/>
          </a:p>
        </p:txBody>
      </p:sp>
      <p:sp>
        <p:nvSpPr>
          <p:cNvPr id="7" name="Text 5"/>
          <p:cNvSpPr txBox="1"/>
          <p:nvPr/>
        </p:nvSpPr>
        <p:spPr>
          <a:xfrm>
            <a:off x="713232" y="249631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aqi · pollen · uv_index · humidity · health_advisory</a:t>
            </a:r>
            <a:endParaRPr lang="en-US" sz="850" dirty="0"/>
          </a:p>
        </p:txBody>
      </p:sp>
      <p:sp>
        <p:nvSpPr>
          <p:cNvPr id="8" name="Shape 6"/>
          <p:cNvSpPr/>
          <p:nvPr/>
        </p:nvSpPr>
        <p:spPr>
          <a:xfrm>
            <a:off x="3355848" y="141732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9" name="Text 7"/>
          <p:cNvSpPr txBox="1"/>
          <p:nvPr/>
        </p:nvSpPr>
        <p:spPr>
          <a:xfrm>
            <a:off x="3520440" y="154533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Outdoor fitness</a:t>
            </a:r>
            <a:endParaRPr lang="en-US" sz="1250" dirty="0"/>
          </a:p>
        </p:txBody>
      </p:sp>
      <p:sp>
        <p:nvSpPr>
          <p:cNvPr id="10" name="Text 8"/>
          <p:cNvSpPr txBox="1"/>
          <p:nvPr/>
        </p:nvSpPr>
        <p:spPr>
          <a:xfrm>
            <a:off x="3520440" y="181965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“Best run 06:00–07:30”, with the AQI and heat index attached</a:t>
            </a:r>
            <a:endParaRPr lang="en-US" sz="1050" dirty="0"/>
          </a:p>
        </p:txBody>
      </p:sp>
      <p:sp>
        <p:nvSpPr>
          <p:cNvPr id="11" name="Text 9"/>
          <p:cNvSpPr txBox="1"/>
          <p:nvPr/>
        </p:nvSpPr>
        <p:spPr>
          <a:xfrm>
            <a:off x="3520440" y="249631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best_workout_window · sun_times · wind · heat_alert</a:t>
            </a:r>
            <a:endParaRPr lang="en-US" sz="850" dirty="0"/>
          </a:p>
        </p:txBody>
      </p:sp>
      <p:sp>
        <p:nvSpPr>
          <p:cNvPr id="12" name="Shape 10"/>
          <p:cNvSpPr/>
          <p:nvPr/>
        </p:nvSpPr>
        <p:spPr>
          <a:xfrm>
            <a:off x="6163056" y="141732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13" name="Text 11"/>
          <p:cNvSpPr txBox="1"/>
          <p:nvPr/>
        </p:nvSpPr>
        <p:spPr>
          <a:xfrm>
            <a:off x="6327648" y="154533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Beachgoers &amp; surfers</a:t>
            </a:r>
            <a:endParaRPr lang="en-US" sz="1250" dirty="0"/>
          </a:p>
        </p:txBody>
      </p:sp>
      <p:sp>
        <p:nvSpPr>
          <p:cNvPr id="14" name="Text 12"/>
          <p:cNvSpPr txBox="1"/>
          <p:nvPr/>
        </p:nvSpPr>
        <p:spPr>
          <a:xfrm>
            <a:off x="6327648" y="181965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“Sea is Very Rough — 4.5 m waves”, next tide window, water temp</a:t>
            </a:r>
            <a:endParaRPr lang="en-US" sz="1050" dirty="0"/>
          </a:p>
        </p:txBody>
      </p:sp>
      <p:sp>
        <p:nvSpPr>
          <p:cNvPr id="15" name="Text 13"/>
          <p:cNvSpPr txBox="1"/>
          <p:nvPr/>
        </p:nvSpPr>
        <p:spPr>
          <a:xfrm>
            <a:off x="6327648" y="249631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sea_conditions · tides (Estimated) · water_temp</a:t>
            </a:r>
            <a:endParaRPr lang="en-US" sz="850" dirty="0"/>
          </a:p>
        </p:txBody>
      </p:sp>
      <p:sp>
        <p:nvSpPr>
          <p:cNvPr id="16" name="Shape 14"/>
          <p:cNvSpPr/>
          <p:nvPr/>
        </p:nvSpPr>
        <p:spPr>
          <a:xfrm>
            <a:off x="8970264" y="141732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17" name="Text 15"/>
          <p:cNvSpPr txBox="1"/>
          <p:nvPr/>
        </p:nvSpPr>
        <p:spPr>
          <a:xfrm>
            <a:off x="9134856" y="154533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Travellers</a:t>
            </a:r>
            <a:endParaRPr lang="en-US" sz="1250" dirty="0"/>
          </a:p>
        </p:txBody>
      </p:sp>
      <p:sp>
        <p:nvSpPr>
          <p:cNvPr id="18" name="Text 16"/>
          <p:cNvSpPr txBox="1"/>
          <p:nvPr/>
        </p:nvSpPr>
        <p:spPr>
          <a:xfrm>
            <a:off x="9134856" y="181965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“London · Raincoat / umbrella · rain chance up to 53 % in 3 days”</a:t>
            </a:r>
            <a:endParaRPr lang="en-US" sz="1050" dirty="0"/>
          </a:p>
        </p:txBody>
      </p:sp>
      <p:sp>
        <p:nvSpPr>
          <p:cNvPr id="19" name="Text 17"/>
          <p:cNvSpPr txBox="1"/>
          <p:nvPr/>
        </p:nvSpPr>
        <p:spPr>
          <a:xfrm>
            <a:off x="9134856" y="249631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saved_places · travel_alerts · packing_suggestions</a:t>
            </a:r>
            <a:endParaRPr lang="en-US" sz="850" dirty="0"/>
          </a:p>
        </p:txBody>
      </p:sp>
      <p:sp>
        <p:nvSpPr>
          <p:cNvPr id="20" name="Shape 18"/>
          <p:cNvSpPr/>
          <p:nvPr/>
        </p:nvSpPr>
        <p:spPr>
          <a:xfrm>
            <a:off x="548640" y="315468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21" name="Text 19"/>
          <p:cNvSpPr txBox="1"/>
          <p:nvPr/>
        </p:nvSpPr>
        <p:spPr>
          <a:xfrm>
            <a:off x="713232" y="328269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Parents &amp; families</a:t>
            </a:r>
            <a:endParaRPr lang="en-US" sz="1250" dirty="0"/>
          </a:p>
        </p:txBody>
      </p:sp>
      <p:sp>
        <p:nvSpPr>
          <p:cNvPr id="22" name="Text 20"/>
          <p:cNvSpPr txBox="1"/>
          <p:nvPr/>
        </p:nvSpPr>
        <p:spPr>
          <a:xfrm>
            <a:off x="713232" y="355701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“School run 07:00–09:00 · Caution”, with reasons, before 07:30</a:t>
            </a:r>
            <a:endParaRPr lang="en-US" sz="1050" dirty="0"/>
          </a:p>
        </p:txBody>
      </p:sp>
      <p:sp>
        <p:nvSpPr>
          <p:cNvPr id="23" name="Text 21"/>
          <p:cNvSpPr txBox="1"/>
          <p:nvPr/>
        </p:nvSpPr>
        <p:spPr>
          <a:xfrm>
            <a:off x="713232" y="423367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school_commute · rain_alert · warnings</a:t>
            </a:r>
            <a:endParaRPr lang="en-US" sz="850" dirty="0"/>
          </a:p>
        </p:txBody>
      </p:sp>
      <p:sp>
        <p:nvSpPr>
          <p:cNvPr id="24" name="Shape 22"/>
          <p:cNvSpPr/>
          <p:nvPr/>
        </p:nvSpPr>
        <p:spPr>
          <a:xfrm>
            <a:off x="3355848" y="315468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25" name="Text 23"/>
          <p:cNvSpPr txBox="1"/>
          <p:nvPr/>
        </p:nvSpPr>
        <p:spPr>
          <a:xfrm>
            <a:off x="3520440" y="328269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Agriculture &amp; gardeners</a:t>
            </a:r>
            <a:endParaRPr lang="en-US" sz="1250" dirty="0"/>
          </a:p>
        </p:txBody>
      </p:sp>
      <p:sp>
        <p:nvSpPr>
          <p:cNvPr id="26" name="Text 24"/>
          <p:cNvSpPr txBox="1"/>
          <p:nvPr/>
        </p:nvSpPr>
        <p:spPr>
          <a:xfrm>
            <a:off x="3520440" y="355701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Soil moisture, rainfall outlook, tonight's frost risk, what to sow</a:t>
            </a:r>
            <a:endParaRPr lang="en-US" sz="1050" dirty="0"/>
          </a:p>
        </p:txBody>
      </p:sp>
      <p:sp>
        <p:nvSpPr>
          <p:cNvPr id="27" name="Text 25"/>
          <p:cNvSpPr txBox="1"/>
          <p:nvPr/>
        </p:nvSpPr>
        <p:spPr>
          <a:xfrm>
            <a:off x="3520440" y="423367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soil_moisture · rainfall_outlook · frost_alert · planting_guidance</a:t>
            </a:r>
            <a:endParaRPr lang="en-US" sz="850" dirty="0"/>
          </a:p>
        </p:txBody>
      </p:sp>
      <p:sp>
        <p:nvSpPr>
          <p:cNvPr id="28" name="Shape 26"/>
          <p:cNvSpPr/>
          <p:nvPr/>
        </p:nvSpPr>
        <p:spPr>
          <a:xfrm>
            <a:off x="6163056" y="315468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29" name="Text 27"/>
          <p:cNvSpPr txBox="1"/>
          <p:nvPr/>
        </p:nvSpPr>
        <p:spPr>
          <a:xfrm>
            <a:off x="6327648" y="328269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Commuters</a:t>
            </a:r>
            <a:endParaRPr lang="en-US" sz="1250" dirty="0"/>
          </a:p>
        </p:txBody>
      </p:sp>
      <p:sp>
        <p:nvSpPr>
          <p:cNvPr id="30" name="Text 28"/>
          <p:cNvSpPr txBox="1"/>
          <p:nvPr/>
        </p:nvSpPr>
        <p:spPr>
          <a:xfrm>
            <a:off x="6327648" y="355701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“Severe impact on your commute (+22 min)”, visibility 0.3 km</a:t>
            </a:r>
            <a:endParaRPr lang="en-US" sz="1050" dirty="0"/>
          </a:p>
        </p:txBody>
      </p:sp>
      <p:sp>
        <p:nvSpPr>
          <p:cNvPr id="31" name="Text 29"/>
          <p:cNvSpPr txBox="1"/>
          <p:nvPr/>
        </p:nvSpPr>
        <p:spPr>
          <a:xfrm>
            <a:off x="6327648" y="423367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commute_conditions · visibility · storm_fog_alert</a:t>
            </a:r>
            <a:endParaRPr lang="en-US" sz="850" dirty="0"/>
          </a:p>
        </p:txBody>
      </p:sp>
      <p:sp>
        <p:nvSpPr>
          <p:cNvPr id="32" name="Shape 30"/>
          <p:cNvSpPr/>
          <p:nvPr/>
        </p:nvSpPr>
        <p:spPr>
          <a:xfrm>
            <a:off x="8970264" y="3154680"/>
            <a:ext cx="2642616" cy="1572768"/>
          </a:xfrm>
          <a:prstGeom prst="roundRect">
            <a:avLst>
              <a:gd name="adj" fmla="val 4070"/>
            </a:avLst>
          </a:prstGeom>
          <a:solidFill>
            <a:srgbClr val="FFFFFF"/>
          </a:solidFill>
          <a:ln w="12700">
            <a:solidFill>
              <a:srgbClr val="D8E3EC"/>
            </a:solidFill>
            <a:prstDash val="solid"/>
          </a:ln>
          <a:effectLst>
            <a:outerShdw sx="100000" sy="100000" kx="0" ky="0" algn="bl" rotWithShape="0" blurRad="127000" dist="25400" dir="5400000">
              <a:srgbClr val="0B1B2B">
                <a:alpha val="12000"/>
              </a:srgbClr>
            </a:outerShdw>
          </a:effectLst>
        </p:spPr>
      </p:sp>
      <p:sp>
        <p:nvSpPr>
          <p:cNvPr id="33" name="Text 31"/>
          <p:cNvSpPr txBox="1"/>
          <p:nvPr/>
        </p:nvSpPr>
        <p:spPr>
          <a:xfrm>
            <a:off x="9134856" y="3282696"/>
            <a:ext cx="2313432" cy="23774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Event planners</a:t>
            </a:r>
            <a:endParaRPr lang="en-US" sz="1250" dirty="0"/>
          </a:p>
        </p:txBody>
      </p:sp>
      <p:sp>
        <p:nvSpPr>
          <p:cNvPr id="34" name="Text 32"/>
          <p:cNvSpPr txBox="1"/>
          <p:nvPr/>
        </p:nvSpPr>
        <p:spPr>
          <a:xfrm>
            <a:off x="9134856" y="3557016"/>
            <a:ext cx="2313432" cy="640080"/>
          </a:xfrm>
          <a:prstGeom prst="rect">
            <a:avLst/>
          </a:prstGeom>
          <a:noFill/>
          <a:ln/>
        </p:spPr>
        <p:txBody>
          <a:bodyPr wrap="square" lIns="0" tIns="0" rIns="0" bIns="0" rtlCol="0" anchor="ctr"/>
          <a:lstStyle/>
          <a:p>
            <a:pPr indent="0" marL="0">
              <a:lnSpc>
                <a:spcPct val="108000"/>
              </a:lnSpc>
              <a:buNone/>
            </a:pPr>
            <a:r>
              <a:rPr lang="en-US" sz="1050" dirty="0">
                <a:solidFill>
                  <a:srgbClr val="1A2433"/>
                </a:solidFill>
                <a:latin typeface="Calibri" pitchFamily="34" charset="0"/>
                <a:ea typeface="Calibri" pitchFamily="34" charset="-122"/>
                <a:cs typeface="Calibri" pitchFamily="34" charset="-120"/>
              </a:rPr>
              <a:t>14-day outlook, rain probability for the date, comfort index</a:t>
            </a:r>
            <a:endParaRPr lang="en-US" sz="1050" dirty="0"/>
          </a:p>
        </p:txBody>
      </p:sp>
      <p:sp>
        <p:nvSpPr>
          <p:cNvPr id="35" name="Text 33"/>
          <p:cNvSpPr txBox="1"/>
          <p:nvPr/>
        </p:nvSpPr>
        <p:spPr>
          <a:xfrm>
            <a:off x="9134856" y="4233672"/>
            <a:ext cx="2313432" cy="402336"/>
          </a:xfrm>
          <a:prstGeom prst="rect">
            <a:avLst/>
          </a:prstGeom>
          <a:noFill/>
          <a:ln/>
        </p:spPr>
        <p:txBody>
          <a:bodyPr wrap="square" lIns="0" tIns="0" rIns="0" bIns="0" rtlCol="0" anchor="ctr"/>
          <a:lstStyle/>
          <a:p>
            <a:pPr indent="0" marL="0">
              <a:lnSpc>
                <a:spcPct val="102000"/>
              </a:lnSpc>
              <a:buNone/>
            </a:pPr>
            <a:r>
              <a:rPr lang="en-US" sz="850" dirty="0">
                <a:solidFill>
                  <a:srgbClr val="5A6B7C"/>
                </a:solidFill>
                <a:latin typeface="Calibri" pitchFamily="34" charset="0"/>
                <a:ea typeface="Calibri" pitchFamily="34" charset="-122"/>
                <a:cs typeface="Calibri" pitchFamily="34" charset="-120"/>
              </a:rPr>
              <a:t>extended_forecast · rain_probability · comfort_index</a:t>
            </a:r>
            <a:endParaRPr lang="en-US" sz="850" dirty="0"/>
          </a:p>
        </p:txBody>
      </p:sp>
      <p:sp>
        <p:nvSpPr>
          <p:cNvPr id="36" name="Shape 34"/>
          <p:cNvSpPr/>
          <p:nvPr/>
        </p:nvSpPr>
        <p:spPr>
          <a:xfrm>
            <a:off x="548640" y="5029200"/>
            <a:ext cx="2103120" cy="1298448"/>
          </a:xfrm>
          <a:prstGeom prst="roundRect">
            <a:avLst>
              <a:gd name="adj" fmla="val 4930"/>
            </a:avLst>
          </a:prstGeom>
          <a:solidFill>
            <a:srgbClr val="21295C"/>
          </a:solidFill>
          <a:ln w="12700">
            <a:solidFill>
              <a:srgbClr val="21295C"/>
            </a:solidFill>
            <a:prstDash val="solid"/>
          </a:ln>
        </p:spPr>
      </p:sp>
      <p:sp>
        <p:nvSpPr>
          <p:cNvPr id="37" name="Text 35"/>
          <p:cNvSpPr txBox="1"/>
          <p:nvPr/>
        </p:nvSpPr>
        <p:spPr>
          <a:xfrm>
            <a:off x="694944" y="5138928"/>
            <a:ext cx="1810512" cy="256032"/>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Safety</a:t>
            </a:r>
            <a:endParaRPr lang="en-US" sz="1200" dirty="0"/>
          </a:p>
        </p:txBody>
      </p:sp>
      <p:sp>
        <p:nvSpPr>
          <p:cNvPr id="38" name="Text 36"/>
          <p:cNvSpPr txBox="1"/>
          <p:nvPr/>
        </p:nvSpPr>
        <p:spPr>
          <a:xfrm>
            <a:off x="694944" y="5413248"/>
            <a:ext cx="1810512" cy="822960"/>
          </a:xfrm>
          <a:prstGeom prst="rect">
            <a:avLst/>
          </a:prstGeom>
          <a:noFill/>
          <a:ln/>
        </p:spPr>
        <p:txBody>
          <a:bodyPr wrap="square" lIns="0" tIns="0" rIns="0" bIns="0" rtlCol="0" anchor="ctr"/>
          <a:lstStyle/>
          <a:p>
            <a:pPr indent="0" marL="0">
              <a:lnSpc>
                <a:spcPct val="108000"/>
              </a:lnSpc>
              <a:buNone/>
            </a:pPr>
            <a:r>
              <a:rPr lang="en-US" sz="950" dirty="0">
                <a:solidFill>
                  <a:srgbClr val="DCE7F5"/>
                </a:solidFill>
                <a:latin typeface="Calibri" pitchFamily="34" charset="0"/>
                <a:ea typeface="Calibri" pitchFamily="34" charset="-122"/>
                <a:cs typeface="Calibri" pitchFamily="34" charset="-120"/>
              </a:rPr>
              <a:t>Orange and above pins for every persona; /home served 17.7 ms on the request right after a live push.</a:t>
            </a:r>
            <a:endParaRPr lang="en-US" sz="950" dirty="0"/>
          </a:p>
        </p:txBody>
      </p:sp>
      <p:sp>
        <p:nvSpPr>
          <p:cNvPr id="39" name="Shape 37"/>
          <p:cNvSpPr/>
          <p:nvPr/>
        </p:nvSpPr>
        <p:spPr>
          <a:xfrm>
            <a:off x="2788920" y="5029200"/>
            <a:ext cx="2103120" cy="1298448"/>
          </a:xfrm>
          <a:prstGeom prst="roundRect">
            <a:avLst>
              <a:gd name="adj" fmla="val 4930"/>
            </a:avLst>
          </a:prstGeom>
          <a:solidFill>
            <a:srgbClr val="21295C"/>
          </a:solidFill>
          <a:ln w="12700">
            <a:solidFill>
              <a:srgbClr val="21295C"/>
            </a:solidFill>
            <a:prstDash val="solid"/>
          </a:ln>
        </p:spPr>
      </p:sp>
      <p:sp>
        <p:nvSpPr>
          <p:cNvPr id="40" name="Text 38"/>
          <p:cNvSpPr txBox="1"/>
          <p:nvPr/>
        </p:nvSpPr>
        <p:spPr>
          <a:xfrm>
            <a:off x="2935224" y="5138928"/>
            <a:ext cx="1810512" cy="256032"/>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Time</a:t>
            </a:r>
            <a:endParaRPr lang="en-US" sz="1200" dirty="0"/>
          </a:p>
        </p:txBody>
      </p:sp>
      <p:sp>
        <p:nvSpPr>
          <p:cNvPr id="41" name="Text 39"/>
          <p:cNvSpPr txBox="1"/>
          <p:nvPr/>
        </p:nvSpPr>
        <p:spPr>
          <a:xfrm>
            <a:off x="2935224" y="5413248"/>
            <a:ext cx="1810512" cy="822960"/>
          </a:xfrm>
          <a:prstGeom prst="rect">
            <a:avLst/>
          </a:prstGeom>
          <a:noFill/>
          <a:ln/>
        </p:spPr>
        <p:txBody>
          <a:bodyPr wrap="square" lIns="0" tIns="0" rIns="0" bIns="0" rtlCol="0" anchor="ctr"/>
          <a:lstStyle/>
          <a:p>
            <a:pPr indent="0" marL="0">
              <a:lnSpc>
                <a:spcPct val="108000"/>
              </a:lnSpc>
              <a:buNone/>
            </a:pPr>
            <a:r>
              <a:rPr lang="en-US" sz="950" dirty="0">
                <a:solidFill>
                  <a:srgbClr val="DCE7F5"/>
                </a:solidFill>
                <a:latin typeface="Calibri" pitchFamily="34" charset="0"/>
                <a:ea typeface="Calibri" pitchFamily="34" charset="-122"/>
                <a:cs typeface="Calibri" pitchFamily="34" charset="-120"/>
              </a:rPr>
              <a:t>The answer is on the first screen, not three taps into a table of numbers.</a:t>
            </a:r>
            <a:endParaRPr lang="en-US" sz="950" dirty="0"/>
          </a:p>
        </p:txBody>
      </p:sp>
      <p:sp>
        <p:nvSpPr>
          <p:cNvPr id="42" name="Shape 40"/>
          <p:cNvSpPr/>
          <p:nvPr/>
        </p:nvSpPr>
        <p:spPr>
          <a:xfrm>
            <a:off x="5029200" y="5029200"/>
            <a:ext cx="2103120" cy="1298448"/>
          </a:xfrm>
          <a:prstGeom prst="roundRect">
            <a:avLst>
              <a:gd name="adj" fmla="val 4930"/>
            </a:avLst>
          </a:prstGeom>
          <a:solidFill>
            <a:srgbClr val="21295C"/>
          </a:solidFill>
          <a:ln w="12700">
            <a:solidFill>
              <a:srgbClr val="21295C"/>
            </a:solidFill>
            <a:prstDash val="solid"/>
          </a:ln>
        </p:spPr>
      </p:sp>
      <p:sp>
        <p:nvSpPr>
          <p:cNvPr id="43" name="Text 41"/>
          <p:cNvSpPr txBox="1"/>
          <p:nvPr/>
        </p:nvSpPr>
        <p:spPr>
          <a:xfrm>
            <a:off x="5175504" y="5138928"/>
            <a:ext cx="1810512" cy="256032"/>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Trust</a:t>
            </a:r>
            <a:endParaRPr lang="en-US" sz="1200" dirty="0"/>
          </a:p>
        </p:txBody>
      </p:sp>
      <p:sp>
        <p:nvSpPr>
          <p:cNvPr id="44" name="Text 42"/>
          <p:cNvSpPr txBox="1"/>
          <p:nvPr/>
        </p:nvSpPr>
        <p:spPr>
          <a:xfrm>
            <a:off x="5175504" y="5413248"/>
            <a:ext cx="1810512" cy="822960"/>
          </a:xfrm>
          <a:prstGeom prst="rect">
            <a:avLst/>
          </a:prstGeom>
          <a:noFill/>
          <a:ln/>
        </p:spPr>
        <p:txBody>
          <a:bodyPr wrap="square" lIns="0" tIns="0" rIns="0" bIns="0" rtlCol="0" anchor="ctr"/>
          <a:lstStyle/>
          <a:p>
            <a:pPr indent="0" marL="0">
              <a:lnSpc>
                <a:spcPct val="108000"/>
              </a:lnSpc>
              <a:buNone/>
            </a:pPr>
            <a:r>
              <a:rPr lang="en-US" sz="950" dirty="0">
                <a:solidFill>
                  <a:srgbClr val="DCE7F5"/>
                </a:solidFill>
                <a:latin typeface="Calibri" pitchFamily="34" charset="0"/>
                <a:ea typeface="Calibri" pitchFamily="34" charset="-122"/>
                <a:cs typeface="Calibri" pitchFamily="34" charset="-120"/>
              </a:rPr>
              <a:t>Reasons on every card, provider status on /health, “Estimated” wherever a value is modelled.</a:t>
            </a:r>
            <a:endParaRPr lang="en-US" sz="950" dirty="0"/>
          </a:p>
        </p:txBody>
      </p:sp>
      <p:sp>
        <p:nvSpPr>
          <p:cNvPr id="45" name="Shape 43"/>
          <p:cNvSpPr/>
          <p:nvPr/>
        </p:nvSpPr>
        <p:spPr>
          <a:xfrm>
            <a:off x="7269480" y="5029200"/>
            <a:ext cx="2103120" cy="1298448"/>
          </a:xfrm>
          <a:prstGeom prst="roundRect">
            <a:avLst>
              <a:gd name="adj" fmla="val 4930"/>
            </a:avLst>
          </a:prstGeom>
          <a:solidFill>
            <a:srgbClr val="21295C"/>
          </a:solidFill>
          <a:ln w="12700">
            <a:solidFill>
              <a:srgbClr val="21295C"/>
            </a:solidFill>
            <a:prstDash val="solid"/>
          </a:ln>
        </p:spPr>
      </p:sp>
      <p:sp>
        <p:nvSpPr>
          <p:cNvPr id="46" name="Text 44"/>
          <p:cNvSpPr txBox="1"/>
          <p:nvPr/>
        </p:nvSpPr>
        <p:spPr>
          <a:xfrm>
            <a:off x="7415784" y="5138928"/>
            <a:ext cx="1810512" cy="256032"/>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Reach</a:t>
            </a:r>
            <a:endParaRPr lang="en-US" sz="1200" dirty="0"/>
          </a:p>
        </p:txBody>
      </p:sp>
      <p:sp>
        <p:nvSpPr>
          <p:cNvPr id="47" name="Text 45"/>
          <p:cNvSpPr txBox="1"/>
          <p:nvPr/>
        </p:nvSpPr>
        <p:spPr>
          <a:xfrm>
            <a:off x="7415784" y="5413248"/>
            <a:ext cx="1810512" cy="822960"/>
          </a:xfrm>
          <a:prstGeom prst="rect">
            <a:avLst/>
          </a:prstGeom>
          <a:noFill/>
          <a:ln/>
        </p:spPr>
        <p:txBody>
          <a:bodyPr wrap="square" lIns="0" tIns="0" rIns="0" bIns="0" rtlCol="0" anchor="ctr"/>
          <a:lstStyle/>
          <a:p>
            <a:pPr indent="0" marL="0">
              <a:lnSpc>
                <a:spcPct val="108000"/>
              </a:lnSpc>
              <a:buNone/>
            </a:pPr>
            <a:r>
              <a:rPr lang="en-US" sz="950" dirty="0">
                <a:solidFill>
                  <a:srgbClr val="DCE7F5"/>
                </a:solidFill>
                <a:latin typeface="Calibri" pitchFamily="34" charset="0"/>
                <a:ea typeface="Calibri" pitchFamily="34" charset="-122"/>
                <a:cs typeface="Calibri" pitchFamily="34" charset="-120"/>
              </a:rPr>
              <a:t>Hindi complete · 13.5 KB in low-bandwidth mode · offline cache · Android 7.0 · AA contrast.</a:t>
            </a:r>
            <a:endParaRPr lang="en-US" sz="950" dirty="0"/>
          </a:p>
        </p:txBody>
      </p:sp>
      <p:sp>
        <p:nvSpPr>
          <p:cNvPr id="48" name="Shape 46"/>
          <p:cNvSpPr/>
          <p:nvPr/>
        </p:nvSpPr>
        <p:spPr>
          <a:xfrm>
            <a:off x="9509760" y="5029200"/>
            <a:ext cx="2103120" cy="1298448"/>
          </a:xfrm>
          <a:prstGeom prst="roundRect">
            <a:avLst>
              <a:gd name="adj" fmla="val 4930"/>
            </a:avLst>
          </a:prstGeom>
          <a:solidFill>
            <a:srgbClr val="21295C"/>
          </a:solidFill>
          <a:ln w="12700">
            <a:solidFill>
              <a:srgbClr val="21295C"/>
            </a:solidFill>
            <a:prstDash val="solid"/>
          </a:ln>
        </p:spPr>
      </p:sp>
      <p:sp>
        <p:nvSpPr>
          <p:cNvPr id="49" name="Text 47"/>
          <p:cNvSpPr txBox="1"/>
          <p:nvPr/>
        </p:nvSpPr>
        <p:spPr>
          <a:xfrm>
            <a:off x="9656064" y="5138928"/>
            <a:ext cx="1810512" cy="256032"/>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Operability</a:t>
            </a:r>
            <a:endParaRPr lang="en-US" sz="1200" dirty="0"/>
          </a:p>
        </p:txBody>
      </p:sp>
      <p:sp>
        <p:nvSpPr>
          <p:cNvPr id="50" name="Text 48"/>
          <p:cNvSpPr txBox="1"/>
          <p:nvPr/>
        </p:nvSpPr>
        <p:spPr>
          <a:xfrm>
            <a:off x="9656064" y="5413248"/>
            <a:ext cx="1810512" cy="822960"/>
          </a:xfrm>
          <a:prstGeom prst="rect">
            <a:avLst/>
          </a:prstGeom>
          <a:noFill/>
          <a:ln/>
        </p:spPr>
        <p:txBody>
          <a:bodyPr wrap="square" lIns="0" tIns="0" rIns="0" bIns="0" rtlCol="0" anchor="ctr"/>
          <a:lstStyle/>
          <a:p>
            <a:pPr indent="0" marL="0">
              <a:lnSpc>
                <a:spcPct val="108000"/>
              </a:lnSpc>
              <a:buNone/>
            </a:pPr>
            <a:r>
              <a:rPr lang="en-US" sz="950" dirty="0">
                <a:solidFill>
                  <a:srgbClr val="DCE7F5"/>
                </a:solidFill>
                <a:latin typeface="Calibri" pitchFamily="34" charset="0"/>
                <a:ea typeface="Calibri" pitchFamily="34" charset="-122"/>
                <a:cs typeface="Calibri" pitchFamily="34" charset="-120"/>
              </a:rPr>
              <a:t>Server-driven cards: changing the homepage is a backend deploy, not an app-store release.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65760"/>
            <a:ext cx="868680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demo, and what comes next</a:t>
            </a:r>
            <a:endParaRPr lang="en-US" sz="3600" dirty="0"/>
          </a:p>
        </p:txBody>
      </p:sp>
      <p:sp>
        <p:nvSpPr>
          <p:cNvPr id="3" name="Text 1"/>
          <p:cNvSpPr txBox="1"/>
          <p:nvPr/>
        </p:nvSpPr>
        <p:spPr>
          <a:xfrm>
            <a:off x="548640" y="914400"/>
            <a:ext cx="8686800" cy="274320"/>
          </a:xfrm>
          <a:prstGeom prst="rect">
            <a:avLst/>
          </a:prstGeom>
          <a:noFill/>
          <a:ln/>
        </p:spPr>
        <p:txBody>
          <a:bodyPr wrap="square" lIns="0" tIns="0" rIns="0" bIns="0" rtlCol="0" anchor="ctr"/>
          <a:lstStyle/>
          <a:p>
            <a:pPr indent="0" marL="0">
              <a:buNone/>
            </a:pPr>
            <a:r>
              <a:rPr lang="en-US" sz="1300" dirty="0">
                <a:solidFill>
                  <a:srgbClr val="7FB3D5"/>
                </a:solidFill>
                <a:latin typeface="Calibri" pitchFamily="34" charset="0"/>
                <a:ea typeface="Calibri" pitchFamily="34" charset="-122"/>
                <a:cs typeface="Calibri" pitchFamily="34" charset="-120"/>
              </a:rPr>
              <a:t>Five minutes, one laptop, one phone or a Chrome tab. Every step below was walked and photographed.</a:t>
            </a:r>
            <a:endParaRPr lang="en-US" sz="1300" dirty="0"/>
          </a:p>
        </p:txBody>
      </p:sp>
      <p:sp>
        <p:nvSpPr>
          <p:cNvPr id="4" name="Shape 2"/>
          <p:cNvSpPr/>
          <p:nvPr/>
        </p:nvSpPr>
        <p:spPr>
          <a:xfrm>
            <a:off x="548640" y="1499616"/>
            <a:ext cx="310896" cy="310896"/>
          </a:xfrm>
          <a:prstGeom prst="ellipse">
            <a:avLst/>
          </a:prstGeom>
          <a:solidFill>
            <a:srgbClr val="2E3A72"/>
          </a:solidFill>
          <a:ln w="9525">
            <a:solidFill>
              <a:srgbClr val="44528F"/>
            </a:solidFill>
            <a:prstDash val="solid"/>
          </a:ln>
        </p:spPr>
      </p:sp>
      <p:sp>
        <p:nvSpPr>
          <p:cNvPr id="5" name="Text 3"/>
          <p:cNvSpPr txBox="1"/>
          <p:nvPr/>
        </p:nvSpPr>
        <p:spPr>
          <a:xfrm>
            <a:off x="548640" y="14996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0120" y="14813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Onboard — language, then Parent + Commuter, then Delhi.</a:t>
            </a:r>
            <a:endParaRPr lang="en-US" sz="1150" dirty="0"/>
          </a:p>
        </p:txBody>
      </p:sp>
      <p:sp>
        <p:nvSpPr>
          <p:cNvPr id="7" name="Shape 5"/>
          <p:cNvSpPr/>
          <p:nvPr/>
        </p:nvSpPr>
        <p:spPr>
          <a:xfrm>
            <a:off x="548640" y="1956816"/>
            <a:ext cx="310896" cy="310896"/>
          </a:xfrm>
          <a:prstGeom prst="ellipse">
            <a:avLst/>
          </a:prstGeom>
          <a:solidFill>
            <a:srgbClr val="2E3A72"/>
          </a:solidFill>
          <a:ln w="9525">
            <a:solidFill>
              <a:srgbClr val="44528F"/>
            </a:solidFill>
            <a:prstDash val="solid"/>
          </a:ln>
        </p:spPr>
      </p:sp>
      <p:sp>
        <p:nvSpPr>
          <p:cNvPr id="8" name="Text 6"/>
          <p:cNvSpPr txBox="1"/>
          <p:nvPr/>
        </p:nvSpPr>
        <p:spPr>
          <a:xfrm>
            <a:off x="548640" y="19568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0120" y="19385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Demo clock to 07:30 — School run and Commute conditions rank 1 and 2, each with its reasons.</a:t>
            </a:r>
            <a:endParaRPr lang="en-US" sz="1150" dirty="0"/>
          </a:p>
        </p:txBody>
      </p:sp>
      <p:sp>
        <p:nvSpPr>
          <p:cNvPr id="10" name="Shape 8"/>
          <p:cNvSpPr/>
          <p:nvPr/>
        </p:nvSpPr>
        <p:spPr>
          <a:xfrm>
            <a:off x="548640" y="2414016"/>
            <a:ext cx="310896" cy="310896"/>
          </a:xfrm>
          <a:prstGeom prst="ellipse">
            <a:avLst/>
          </a:prstGeom>
          <a:solidFill>
            <a:srgbClr val="2E3A72"/>
          </a:solidFill>
          <a:ln w="9525">
            <a:solidFill>
              <a:srgbClr val="44528F"/>
            </a:solidFill>
            <a:prstDash val="solid"/>
          </a:ln>
        </p:spPr>
      </p:sp>
      <p:sp>
        <p:nvSpPr>
          <p:cNvPr id="11" name="Text 9"/>
          <p:cNvSpPr txBox="1"/>
          <p:nvPr/>
        </p:nvSpPr>
        <p:spPr>
          <a:xfrm>
            <a:off x="548640" y="24140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60120" y="23957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Tap Fitness, then Health — the whole feed changes; same backend, same minute.</a:t>
            </a:r>
            <a:endParaRPr lang="en-US" sz="1150" dirty="0"/>
          </a:p>
        </p:txBody>
      </p:sp>
      <p:sp>
        <p:nvSpPr>
          <p:cNvPr id="13" name="Shape 11"/>
          <p:cNvSpPr/>
          <p:nvPr/>
        </p:nvSpPr>
        <p:spPr>
          <a:xfrm>
            <a:off x="548640" y="2871216"/>
            <a:ext cx="310896" cy="310896"/>
          </a:xfrm>
          <a:prstGeom prst="ellipse">
            <a:avLst/>
          </a:prstGeom>
          <a:solidFill>
            <a:srgbClr val="2E3A72"/>
          </a:solidFill>
          <a:ln w="9525">
            <a:solidFill>
              <a:srgbClr val="44528F"/>
            </a:solidFill>
            <a:prstDash val="solid"/>
          </a:ln>
        </p:spPr>
      </p:sp>
      <p:sp>
        <p:nvSpPr>
          <p:cNvPr id="14" name="Text 12"/>
          <p:cNvSpPr txBox="1"/>
          <p:nvPr/>
        </p:nvSpPr>
        <p:spPr>
          <a:xfrm>
            <a:off x="548640" y="28712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960120" y="28529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Move to Panaji — sea conditions, tides (Estimated) and water temperature appear, gated on the coast.</a:t>
            </a:r>
            <a:endParaRPr lang="en-US" sz="1150" dirty="0"/>
          </a:p>
        </p:txBody>
      </p:sp>
      <p:sp>
        <p:nvSpPr>
          <p:cNvPr id="16" name="Shape 14"/>
          <p:cNvSpPr/>
          <p:nvPr/>
        </p:nvSpPr>
        <p:spPr>
          <a:xfrm>
            <a:off x="548640" y="3328416"/>
            <a:ext cx="310896" cy="310896"/>
          </a:xfrm>
          <a:prstGeom prst="ellipse">
            <a:avLst/>
          </a:prstGeom>
          <a:solidFill>
            <a:srgbClr val="2E3A72"/>
          </a:solidFill>
          <a:ln w="9525">
            <a:solidFill>
              <a:srgbClr val="44528F"/>
            </a:solidFill>
            <a:prstDash val="solid"/>
          </a:ln>
        </p:spPr>
      </p:sp>
      <p:sp>
        <p:nvSpPr>
          <p:cNvPr id="17" name="Text 15"/>
          <p:cNvSpPr txBox="1"/>
          <p:nvPr/>
        </p:nvSpPr>
        <p:spPr>
          <a:xfrm>
            <a:off x="548640" y="33284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960120" y="33101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Push an orange thunderstorm from the admin console — banner, re-rank, warning to the top of the feed.</a:t>
            </a:r>
            <a:endParaRPr lang="en-US" sz="1150" dirty="0"/>
          </a:p>
        </p:txBody>
      </p:sp>
      <p:sp>
        <p:nvSpPr>
          <p:cNvPr id="19" name="Shape 17"/>
          <p:cNvSpPr/>
          <p:nvPr/>
        </p:nvSpPr>
        <p:spPr>
          <a:xfrm>
            <a:off x="548640" y="3785616"/>
            <a:ext cx="310896" cy="310896"/>
          </a:xfrm>
          <a:prstGeom prst="ellipse">
            <a:avLst/>
          </a:prstGeom>
          <a:solidFill>
            <a:srgbClr val="2E3A72"/>
          </a:solidFill>
          <a:ln w="9525">
            <a:solidFill>
              <a:srgbClr val="44528F"/>
            </a:solidFill>
            <a:prstDash val="solid"/>
          </a:ln>
        </p:spPr>
      </p:sp>
      <p:sp>
        <p:nvSpPr>
          <p:cNvPr id="20" name="Text 18"/>
          <p:cNvSpPr txBox="1"/>
          <p:nvPr/>
        </p:nvSpPr>
        <p:spPr>
          <a:xfrm>
            <a:off x="548640" y="3785616"/>
            <a:ext cx="310896" cy="310896"/>
          </a:xfrm>
          <a:prstGeom prst="rect">
            <a:avLst/>
          </a:prstGeom>
          <a:noFill/>
          <a:ln/>
        </p:spPr>
        <p:txBody>
          <a:bodyPr wrap="square" lIns="0" tIns="0" rIns="0" bIns="0"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960120" y="3767328"/>
            <a:ext cx="5715000" cy="402336"/>
          </a:xfrm>
          <a:prstGeom prst="rect">
            <a:avLst/>
          </a:prstGeom>
          <a:noFill/>
          <a:ln/>
        </p:spPr>
        <p:txBody>
          <a:bodyPr wrap="square" lIns="0" tIns="0" rIns="0" bIns="0" rtlCol="0" anchor="ctr"/>
          <a:lstStyle/>
          <a:p>
            <a:pPr indent="0" marL="0">
              <a:lnSpc>
                <a:spcPct val="105000"/>
              </a:lnSpc>
              <a:buNone/>
            </a:pPr>
            <a:r>
              <a:rPr lang="en-US" sz="1150" dirty="0">
                <a:solidFill>
                  <a:srgbClr val="E8EEF6"/>
                </a:solidFill>
                <a:latin typeface="Calibri" pitchFamily="34" charset="0"/>
                <a:ea typeface="Calibri" pitchFamily="34" charset="-122"/>
                <a:cs typeface="Calibri" pitchFamily="34" charset="-120"/>
              </a:rPr>
              <a:t>“Show less” ×3 demotes a card · kill the network and it still renders · switch to हिन्दी.</a:t>
            </a:r>
            <a:endParaRPr lang="en-US" sz="1150" dirty="0"/>
          </a:p>
        </p:txBody>
      </p:sp>
      <p:pic>
        <p:nvPicPr>
          <p:cNvPr id="22" name="Image 0" descr="Feed before the warning is pushed">    </p:cNvPr>
          <p:cNvPicPr>
            <a:picLocks noChangeAspect="1"/>
          </p:cNvPicPr>
          <p:nvPr/>
        </p:nvPicPr>
        <p:blipFill>
          <a:blip r:embed="rId1"/>
          <a:stretch>
            <a:fillRect/>
          </a:stretch>
        </p:blipFill>
        <p:spPr>
          <a:xfrm>
            <a:off x="7418984" y="1481328"/>
            <a:ext cx="1162202" cy="2514600"/>
          </a:xfrm>
          <a:prstGeom prst="rect">
            <a:avLst/>
          </a:prstGeom>
        </p:spPr>
      </p:pic>
      <p:sp>
        <p:nvSpPr>
          <p:cNvPr id="23" name="Text 20"/>
          <p:cNvSpPr txBox="1"/>
          <p:nvPr/>
        </p:nvSpPr>
        <p:spPr>
          <a:xfrm>
            <a:off x="7418984" y="4059936"/>
            <a:ext cx="1162202" cy="237744"/>
          </a:xfrm>
          <a:prstGeom prst="rect">
            <a:avLst/>
          </a:prstGeom>
          <a:noFill/>
          <a:ln/>
        </p:spPr>
        <p:txBody>
          <a:bodyPr wrap="square" lIns="0" tIns="0" rIns="0" bIns="0" rtlCol="0" anchor="ctr"/>
          <a:lstStyle/>
          <a:p>
            <a:pPr algn="ctr" indent="0" marL="0">
              <a:buNone/>
            </a:pPr>
            <a:r>
              <a:rPr lang="en-US" sz="950" dirty="0">
                <a:solidFill>
                  <a:srgbClr val="7FB3D5"/>
                </a:solidFill>
                <a:latin typeface="Calibri" pitchFamily="34" charset="0"/>
                <a:ea typeface="Calibri" pitchFamily="34" charset="-122"/>
                <a:cs typeface="Calibri" pitchFamily="34" charset="-120"/>
              </a:rPr>
              <a:t>Before the push</a:t>
            </a:r>
            <a:endParaRPr lang="en-US" sz="950" dirty="0"/>
          </a:p>
        </p:txBody>
      </p:sp>
      <p:pic>
        <p:nvPicPr>
          <p:cNvPr id="24" name="Image 1" descr="Feed after the warning, re-ranked">    </p:cNvPr>
          <p:cNvPicPr>
            <a:picLocks noChangeAspect="1"/>
          </p:cNvPicPr>
          <p:nvPr/>
        </p:nvPicPr>
        <p:blipFill>
          <a:blip r:embed="rId2"/>
          <a:stretch>
            <a:fillRect/>
          </a:stretch>
        </p:blipFill>
        <p:spPr>
          <a:xfrm>
            <a:off x="8745779" y="1481328"/>
            <a:ext cx="1162202" cy="2514600"/>
          </a:xfrm>
          <a:prstGeom prst="rect">
            <a:avLst/>
          </a:prstGeom>
        </p:spPr>
      </p:pic>
      <p:sp>
        <p:nvSpPr>
          <p:cNvPr id="25" name="Text 21"/>
          <p:cNvSpPr txBox="1"/>
          <p:nvPr/>
        </p:nvSpPr>
        <p:spPr>
          <a:xfrm>
            <a:off x="8745779" y="4059936"/>
            <a:ext cx="1162202" cy="237744"/>
          </a:xfrm>
          <a:prstGeom prst="rect">
            <a:avLst/>
          </a:prstGeom>
          <a:noFill/>
          <a:ln/>
        </p:spPr>
        <p:txBody>
          <a:bodyPr wrap="square" lIns="0" tIns="0" rIns="0" bIns="0" rtlCol="0" anchor="ctr"/>
          <a:lstStyle/>
          <a:p>
            <a:pPr algn="ctr" indent="0" marL="0">
              <a:buNone/>
            </a:pPr>
            <a:r>
              <a:rPr lang="en-US" sz="950" dirty="0">
                <a:solidFill>
                  <a:srgbClr val="7FB3D5"/>
                </a:solidFill>
                <a:latin typeface="Calibri" pitchFamily="34" charset="0"/>
                <a:ea typeface="Calibri" pitchFamily="34" charset="-122"/>
                <a:cs typeface="Calibri" pitchFamily="34" charset="-120"/>
              </a:rPr>
              <a:t>…seconds later</a:t>
            </a:r>
            <a:endParaRPr lang="en-US" sz="950" dirty="0"/>
          </a:p>
        </p:txBody>
      </p:sp>
      <p:pic>
        <p:nvPicPr>
          <p:cNvPr id="26" name="Image 2" descr="Home screen in Hindi">    </p:cNvPr>
          <p:cNvPicPr>
            <a:picLocks noChangeAspect="1"/>
          </p:cNvPicPr>
          <p:nvPr/>
        </p:nvPicPr>
        <p:blipFill>
          <a:blip r:embed="rId3"/>
          <a:stretch>
            <a:fillRect/>
          </a:stretch>
        </p:blipFill>
        <p:spPr>
          <a:xfrm>
            <a:off x="10072573" y="1481328"/>
            <a:ext cx="1162202" cy="2514600"/>
          </a:xfrm>
          <a:prstGeom prst="rect">
            <a:avLst/>
          </a:prstGeom>
        </p:spPr>
      </p:pic>
      <p:sp>
        <p:nvSpPr>
          <p:cNvPr id="27" name="Text 22"/>
          <p:cNvSpPr txBox="1"/>
          <p:nvPr/>
        </p:nvSpPr>
        <p:spPr>
          <a:xfrm>
            <a:off x="10072573" y="4059936"/>
            <a:ext cx="1162202" cy="237744"/>
          </a:xfrm>
          <a:prstGeom prst="rect">
            <a:avLst/>
          </a:prstGeom>
          <a:noFill/>
          <a:ln/>
        </p:spPr>
        <p:txBody>
          <a:bodyPr wrap="square" lIns="0" tIns="0" rIns="0" bIns="0" rtlCol="0" anchor="ctr"/>
          <a:lstStyle/>
          <a:p>
            <a:pPr algn="ctr" indent="0" marL="0">
              <a:buNone/>
            </a:pPr>
            <a:r>
              <a:rPr lang="en-US" sz="950" dirty="0">
                <a:solidFill>
                  <a:srgbClr val="7FB3D5"/>
                </a:solidFill>
                <a:latin typeface="Calibri" pitchFamily="34" charset="0"/>
                <a:ea typeface="Calibri" pitchFamily="34" charset="-122"/>
                <a:cs typeface="Calibri" pitchFamily="34" charset="-120"/>
              </a:rPr>
              <a:t>हिन्दी</a:t>
            </a:r>
            <a:endParaRPr lang="en-US" sz="950" dirty="0"/>
          </a:p>
        </p:txBody>
      </p:sp>
      <p:sp>
        <p:nvSpPr>
          <p:cNvPr id="28" name="Text 23"/>
          <p:cNvSpPr txBox="1"/>
          <p:nvPr/>
        </p:nvSpPr>
        <p:spPr>
          <a:xfrm>
            <a:off x="548640" y="4590288"/>
            <a:ext cx="4572000" cy="237744"/>
          </a:xfrm>
          <a:prstGeom prst="rect">
            <a:avLst/>
          </a:prstGeom>
          <a:noFill/>
          <a:ln/>
        </p:spPr>
        <p:txBody>
          <a:bodyPr wrap="square" lIns="0" tIns="0" rIns="0" bIns="0" rtlCol="0" anchor="ctr"/>
          <a:lstStyle/>
          <a:p>
            <a:pPr indent="0" marL="0">
              <a:buNone/>
            </a:pPr>
            <a:r>
              <a:rPr lang="en-US" sz="1050" b="1" spc="120" kern="0" dirty="0">
                <a:solidFill>
                  <a:srgbClr val="F28C28"/>
                </a:solidFill>
                <a:latin typeface="Calibri" pitchFamily="34" charset="0"/>
                <a:ea typeface="Calibri" pitchFamily="34" charset="-122"/>
                <a:cs typeface="Calibri" pitchFamily="34" charset="-120"/>
              </a:rPr>
              <a:t>WHAT COMES NEXT</a:t>
            </a:r>
            <a:endParaRPr lang="en-US" sz="1050" dirty="0"/>
          </a:p>
        </p:txBody>
      </p:sp>
      <p:sp>
        <p:nvSpPr>
          <p:cNvPr id="29" name="Shape 24"/>
          <p:cNvSpPr/>
          <p:nvPr/>
        </p:nvSpPr>
        <p:spPr>
          <a:xfrm>
            <a:off x="548640" y="4882896"/>
            <a:ext cx="2663190" cy="1243584"/>
          </a:xfrm>
          <a:prstGeom prst="roundRect">
            <a:avLst>
              <a:gd name="adj" fmla="val 5147"/>
            </a:avLst>
          </a:prstGeom>
          <a:solidFill>
            <a:srgbClr val="2B3568"/>
          </a:solidFill>
          <a:ln w="12700">
            <a:solidFill>
              <a:srgbClr val="44528F"/>
            </a:solidFill>
            <a:prstDash val="solid"/>
          </a:ln>
        </p:spPr>
      </p:sp>
      <p:sp>
        <p:nvSpPr>
          <p:cNvPr id="30" name="Text 25"/>
          <p:cNvSpPr txBox="1"/>
          <p:nvPr/>
        </p:nvSpPr>
        <p:spPr>
          <a:xfrm>
            <a:off x="694944" y="4983480"/>
            <a:ext cx="2370582"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S3  FCM push</a:t>
            </a:r>
            <a:endParaRPr lang="en-US" sz="1150" dirty="0"/>
          </a:p>
        </p:txBody>
      </p:sp>
      <p:sp>
        <p:nvSpPr>
          <p:cNvPr id="31" name="Text 26"/>
          <p:cNvSpPr txBox="1"/>
          <p:nvPr/>
        </p:nvSpPr>
        <p:spPr>
          <a:xfrm>
            <a:off x="694944" y="5239512"/>
            <a:ext cx="2370582" cy="804672"/>
          </a:xfrm>
          <a:prstGeom prst="rect">
            <a:avLst/>
          </a:prstGeom>
          <a:noFill/>
          <a:ln/>
        </p:spPr>
        <p:txBody>
          <a:bodyPr wrap="square" lIns="0" tIns="0" rIns="0" bIns="0" rtlCol="0" anchor="ctr"/>
          <a:lstStyle/>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The WebSocket proves the re-rank path but only reaches an open app. FCM delivers the same payload to a closed one — a transport swap at one broadcast point.</a:t>
            </a:r>
            <a:endParaRPr lang="en-US" sz="850" dirty="0"/>
          </a:p>
        </p:txBody>
      </p:sp>
      <p:sp>
        <p:nvSpPr>
          <p:cNvPr id="32" name="Shape 27"/>
          <p:cNvSpPr/>
          <p:nvPr/>
        </p:nvSpPr>
        <p:spPr>
          <a:xfrm>
            <a:off x="3348990" y="4882896"/>
            <a:ext cx="2663190" cy="1243584"/>
          </a:xfrm>
          <a:prstGeom prst="roundRect">
            <a:avLst>
              <a:gd name="adj" fmla="val 5147"/>
            </a:avLst>
          </a:prstGeom>
          <a:solidFill>
            <a:srgbClr val="2B3568"/>
          </a:solidFill>
          <a:ln w="12700">
            <a:solidFill>
              <a:srgbClr val="44528F"/>
            </a:solidFill>
            <a:prstDash val="solid"/>
          </a:ln>
        </p:spPr>
      </p:sp>
      <p:sp>
        <p:nvSpPr>
          <p:cNvPr id="33" name="Text 28"/>
          <p:cNvSpPr txBox="1"/>
          <p:nvPr/>
        </p:nvSpPr>
        <p:spPr>
          <a:xfrm>
            <a:off x="3495294" y="4983480"/>
            <a:ext cx="2370582"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S1  ML ranker v2</a:t>
            </a:r>
            <a:endParaRPr lang="en-US" sz="1150" dirty="0"/>
          </a:p>
        </p:txBody>
      </p:sp>
      <p:sp>
        <p:nvSpPr>
          <p:cNvPr id="34" name="Text 29"/>
          <p:cNvSpPr txBox="1"/>
          <p:nvPr/>
        </p:nvSpPr>
        <p:spPr>
          <a:xfrm>
            <a:off x="3495294" y="5239512"/>
            <a:ext cx="2370582" cy="804672"/>
          </a:xfrm>
          <a:prstGeom prst="rect">
            <a:avLst/>
          </a:prstGeom>
          <a:noFill/>
          <a:ln/>
        </p:spPr>
        <p:txBody>
          <a:bodyPr wrap="square" lIns="0" tIns="0" rIns="0" bIns="0" rtlCol="0" anchor="ctr"/>
          <a:lstStyle/>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Logistic regression over the events already logged, blended as score += 0.2·(p_tap − 0.5) behind a flag. v1 stays the floor, so the bound still holds.</a:t>
            </a:r>
            <a:endParaRPr lang="en-US" sz="850" dirty="0"/>
          </a:p>
        </p:txBody>
      </p:sp>
      <p:sp>
        <p:nvSpPr>
          <p:cNvPr id="35" name="Shape 30"/>
          <p:cNvSpPr/>
          <p:nvPr/>
        </p:nvSpPr>
        <p:spPr>
          <a:xfrm>
            <a:off x="6149340" y="4882896"/>
            <a:ext cx="2663190" cy="1243584"/>
          </a:xfrm>
          <a:prstGeom prst="roundRect">
            <a:avLst>
              <a:gd name="adj" fmla="val 5147"/>
            </a:avLst>
          </a:prstGeom>
          <a:solidFill>
            <a:srgbClr val="2B3568"/>
          </a:solidFill>
          <a:ln w="12700">
            <a:solidFill>
              <a:srgbClr val="44528F"/>
            </a:solidFill>
            <a:prstDash val="solid"/>
          </a:ln>
        </p:spPr>
      </p:sp>
      <p:sp>
        <p:nvSpPr>
          <p:cNvPr id="36" name="Text 31"/>
          <p:cNvSpPr txBox="1"/>
          <p:nvPr/>
        </p:nvSpPr>
        <p:spPr>
          <a:xfrm>
            <a:off x="6295644" y="4983480"/>
            <a:ext cx="2370582"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S4  More languages</a:t>
            </a:r>
            <a:endParaRPr lang="en-US" sz="1150" dirty="0"/>
          </a:p>
        </p:txBody>
      </p:sp>
      <p:sp>
        <p:nvSpPr>
          <p:cNvPr id="37" name="Text 32"/>
          <p:cNvSpPr txBox="1"/>
          <p:nvPr/>
        </p:nvSpPr>
        <p:spPr>
          <a:xfrm>
            <a:off x="6295644" y="5239512"/>
            <a:ext cx="2370582" cy="804672"/>
          </a:xfrm>
          <a:prstGeom prst="rect">
            <a:avLst/>
          </a:prstGeom>
          <a:noFill/>
          <a:ln/>
        </p:spPr>
        <p:txBody>
          <a:bodyPr wrap="square" lIns="0" tIns="0" rIns="0" bIns="0" rtlCol="0" anchor="ctr"/>
          <a:lstStyle/>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mr / ta / bn are started with per-key fallback; the pipeline and the parity test already exist. Translation work, not engineering.</a:t>
            </a:r>
            <a:endParaRPr lang="en-US" sz="850" dirty="0"/>
          </a:p>
        </p:txBody>
      </p:sp>
      <p:sp>
        <p:nvSpPr>
          <p:cNvPr id="38" name="Shape 33"/>
          <p:cNvSpPr/>
          <p:nvPr/>
        </p:nvSpPr>
        <p:spPr>
          <a:xfrm>
            <a:off x="8949690" y="4882896"/>
            <a:ext cx="2663190" cy="1243584"/>
          </a:xfrm>
          <a:prstGeom prst="roundRect">
            <a:avLst>
              <a:gd name="adj" fmla="val 5147"/>
            </a:avLst>
          </a:prstGeom>
          <a:solidFill>
            <a:srgbClr val="2B3568"/>
          </a:solidFill>
          <a:ln w="12700">
            <a:solidFill>
              <a:srgbClr val="44528F"/>
            </a:solidFill>
            <a:prstDash val="solid"/>
          </a:ln>
        </p:spPr>
      </p:sp>
      <p:sp>
        <p:nvSpPr>
          <p:cNvPr id="39" name="Text 34"/>
          <p:cNvSpPr txBox="1"/>
          <p:nvPr/>
        </p:nvSpPr>
        <p:spPr>
          <a:xfrm>
            <a:off x="9095994" y="4983480"/>
            <a:ext cx="2370582"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S2  Home-screen widget</a:t>
            </a:r>
            <a:endParaRPr lang="en-US" sz="1150" dirty="0"/>
          </a:p>
        </p:txBody>
      </p:sp>
      <p:sp>
        <p:nvSpPr>
          <p:cNvPr id="40" name="Text 35"/>
          <p:cNvSpPr txBox="1"/>
          <p:nvPr/>
        </p:nvSpPr>
        <p:spPr>
          <a:xfrm>
            <a:off x="9095994" y="5239512"/>
            <a:ext cx="2370582" cy="804672"/>
          </a:xfrm>
          <a:prstGeom prst="rect">
            <a:avLst/>
          </a:prstGeom>
          <a:noFill/>
          <a:ln/>
        </p:spPr>
        <p:txBody>
          <a:bodyPr wrap="square" lIns="0" tIns="0" rIns="0" bIns="0" rtlCol="0" anchor="ctr"/>
          <a:lstStyle/>
          <a:p>
            <a:pPr indent="0" marL="0">
              <a:lnSpc>
                <a:spcPct val="105000"/>
              </a:lnSpc>
              <a:buNone/>
            </a:pPr>
            <a:r>
              <a:rPr lang="en-US" sz="850" dirty="0">
                <a:solidFill>
                  <a:srgbClr val="CADCFC"/>
                </a:solidFill>
                <a:latin typeface="Calibri" pitchFamily="34" charset="0"/>
                <a:ea typeface="Calibri" pitchFamily="34" charset="-122"/>
                <a:cs typeface="Calibri" pitchFamily="34" charset="-120"/>
              </a:rPr>
              <a:t>The highest-visibility surface for a weather app — and the payload it needs is what /home already returns under lite=1.</a:t>
            </a:r>
            <a:endParaRPr lang="en-US" sz="850" dirty="0"/>
          </a:p>
        </p:txBody>
      </p:sp>
      <p:sp>
        <p:nvSpPr>
          <p:cNvPr id="41" name="Text 36"/>
          <p:cNvSpPr txBox="1"/>
          <p:nvPr/>
        </p:nvSpPr>
        <p:spPr>
          <a:xfrm>
            <a:off x="548640" y="6272784"/>
            <a:ext cx="11064240" cy="256032"/>
          </a:xfrm>
          <a:prstGeom prst="rect">
            <a:avLst/>
          </a:prstGeom>
          <a:noFill/>
          <a:ln/>
        </p:spPr>
        <p:txBody>
          <a:bodyPr wrap="square" lIns="0" tIns="0" rIns="0" bIns="0" rtlCol="0" anchor="ctr"/>
          <a:lstStyle/>
          <a:p>
            <a:pPr indent="0" marL="0">
              <a:buNone/>
            </a:pPr>
            <a:r>
              <a:rPr lang="en-US" sz="850" dirty="0">
                <a:solidFill>
                  <a:srgbClr val="8FA3BE"/>
                </a:solidFill>
                <a:latin typeface="Calibri" pitchFamily="34" charset="0"/>
                <a:ea typeface="Calibri" pitchFamily="34" charset="-122"/>
                <a:cs typeface="Calibri" pitchFamily="34" charset="-120"/>
              </a:rPr>
              <a:t>Team Mausam · SIH 2026 · PS 26076 (MoES / IMD) · Software · Smart Automation   |   github.com/Shreyansh303/team_mausam_sih_2026   |   Evidence: docs/QA_REPORT.md · Pitch: docs/07_PITCH.md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Team Mausam — SIH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Mausam Personalized — SIH 2026 · PS 26076</dc:title>
  <dc:subject>Mausam Personalized — SIH 2026 PS 26076</dc:subject>
  <dc:creator>Team Mausam</dc:creator>
  <cp:lastModifiedBy>Team Mausam</cp:lastModifiedBy>
  <cp:revision>1</cp:revision>
  <dcterms:created xsi:type="dcterms:W3CDTF">2026-09-09T12:39:50Z</dcterms:created>
  <dcterms:modified xsi:type="dcterms:W3CDTF">2026-09-09T12:39:50Z</dcterms:modified>
</cp:coreProperties>
</file>